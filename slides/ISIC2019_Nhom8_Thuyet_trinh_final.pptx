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2"/>
    <p:sldId id="279" r:id="rId3"/>
    <p:sldId id="258" r:id="rId4"/>
    <p:sldId id="259" r:id="rId5"/>
    <p:sldId id="271" r:id="rId6"/>
    <p:sldId id="263" r:id="rId7"/>
    <p:sldId id="261" r:id="rId8"/>
    <p:sldId id="262" r:id="rId9"/>
    <p:sldId id="260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80" r:id="rId18"/>
    <p:sldId id="273" r:id="rId19"/>
    <p:sldId id="274" r:id="rId20"/>
    <p:sldId id="275" r:id="rId21"/>
    <p:sldId id="277" r:id="rId2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787" autoAdjust="0"/>
  </p:normalViewPr>
  <p:slideViewPr>
    <p:cSldViewPr snapToGrid="0">
      <p:cViewPr varScale="1">
        <p:scale>
          <a:sx n="45" d="100"/>
          <a:sy n="45" d="100"/>
        </p:scale>
        <p:origin x="39" y="411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Macro-F1 (%)</c:v>
          </c:tx>
          <c:spPr>
            <a:solidFill>
              <a:srgbClr val="688575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A4544B"/>
              </a:solidFill>
            </c:spPr>
            <c:extLst>
              <c:ext xmlns:c16="http://schemas.microsoft.com/office/drawing/2014/chart" uri="{C3380CC4-5D6E-409C-BE32-E72D297353CC}">
                <c16:uniqueId val="{00000001-CD5A-4755-AA39-BA1005AECAC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24251F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Data'!$A$2:$A$12</c:f>
              <c:strCache>
                <c:ptCount val="11"/>
                <c:pt idx="0">
                  <c:v>T02B</c:v>
                </c:pt>
                <c:pt idx="1">
                  <c:v>P01</c:v>
                </c:pt>
                <c:pt idx="2">
                  <c:v>P02</c:v>
                </c:pt>
                <c:pt idx="3">
                  <c:v>P03</c:v>
                </c:pt>
                <c:pt idx="4">
                  <c:v>P04</c:v>
                </c:pt>
                <c:pt idx="5">
                  <c:v>P05</c:v>
                </c:pt>
                <c:pt idx="6">
                  <c:v>P06</c:v>
                </c:pt>
                <c:pt idx="7">
                  <c:v>P07</c:v>
                </c:pt>
                <c:pt idx="8">
                  <c:v>P08</c:v>
                </c:pt>
                <c:pt idx="9">
                  <c:v>P09</c:v>
                </c:pt>
                <c:pt idx="10">
                  <c:v>P10</c:v>
                </c:pt>
              </c:strCache>
            </c:strRef>
          </c:cat>
          <c:val>
            <c:numRef>
              <c:f>'Chart Data'!$B$2:$B$12</c:f>
              <c:numCache>
                <c:formatCode>General</c:formatCode>
                <c:ptCount val="11"/>
                <c:pt idx="0">
                  <c:v>60.300199999999997</c:v>
                </c:pt>
                <c:pt idx="1">
                  <c:v>55.302900000000001</c:v>
                </c:pt>
                <c:pt idx="2">
                  <c:v>58.896999999999998</c:v>
                </c:pt>
                <c:pt idx="3">
                  <c:v>57.391300000000001</c:v>
                </c:pt>
                <c:pt idx="4">
                  <c:v>58.5396</c:v>
                </c:pt>
                <c:pt idx="5">
                  <c:v>58.013500000000001</c:v>
                </c:pt>
                <c:pt idx="6">
                  <c:v>59.982700000000001</c:v>
                </c:pt>
                <c:pt idx="7">
                  <c:v>56.551900000000003</c:v>
                </c:pt>
                <c:pt idx="8">
                  <c:v>60.1282</c:v>
                </c:pt>
                <c:pt idx="9">
                  <c:v>59.7226</c:v>
                </c:pt>
                <c:pt idx="10">
                  <c:v>58.949100000000001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5A-4755-AA39-BA1005AECA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62635B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endParaRPr lang="vi-V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w="9525">
              <a:solidFill>
                <a:srgbClr val="D7D6C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endParaRPr lang="vi-VN"/>
          </a:p>
        </c:txPr>
        <c:crossAx val="48650112"/>
        <c:crosses val="autoZero"/>
        <c:crossBetween val="between"/>
      </c:valAx>
      <c:spPr>
        <a:solidFill>
          <a:srgbClr val="EDEBDD"/>
        </a:solidFill>
      </c:spPr>
    </c:plotArea>
    <c:plotVisOnly val="1"/>
    <c:dispBlanksAs val="zero"/>
    <c:showDLblsOverMax val="1"/>
  </c:chart>
  <c:spPr>
    <a:solidFill>
      <a:srgbClr val="EDEBDD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7035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5294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ED89E8-7889-4338-B139-66D5843F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D85BCFB-D894-472E-9D01-7DF92FCF0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31B687E-1A4F-418B-AAC1-0D6C293A6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AC9BAB5-54DA-414E-A2C4-D60983C0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2F3759A-F85A-46E4-9C5D-F7A81D32F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5F54F4-1DEF-4E1B-9EB3-D419A7BA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182C19C-07FA-479E-89E7-3F5DDF5B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9C87C1E-BD49-4BD4-8D8A-A659E1BB3C4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7914A74-3B06-4434-904A-3E3A2A7C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CF088D1-C209-4181-B859-EB420376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06D969-9842-43BF-AAC4-A2542E4643CE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41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pPr>
            <a:r>
              <a:rPr sz="41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Phân</a:t>
            </a:r>
            <a:r>
              <a:rPr sz="41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41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loại</a:t>
            </a:r>
            <a:r>
              <a:rPr sz="41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41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tổn</a:t>
            </a:r>
            <a:r>
              <a:rPr sz="41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41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thương</a:t>
            </a:r>
            <a:r>
              <a:rPr sz="41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da ISIC 2019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40716C-02DE-4CFD-82F9-9BB12BDDC292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840274-6CBC-4129-B155-D46E687005DF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 err="1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Đồ</a:t>
            </a:r>
            <a:r>
              <a:rPr sz="2100" b="0" dirty="0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án</a:t>
            </a:r>
            <a:r>
              <a:rPr sz="2100" b="0" dirty="0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môn</a:t>
            </a:r>
            <a:r>
              <a:rPr sz="2100" b="0" dirty="0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học</a:t>
            </a:r>
            <a:r>
              <a:rPr sz="2100" b="0" dirty="0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Khai</a:t>
            </a:r>
            <a:r>
              <a:rPr sz="2100" b="0" dirty="0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phá</a:t>
            </a:r>
            <a:r>
              <a:rPr sz="2100" b="0" dirty="0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dữ</a:t>
            </a:r>
            <a:r>
              <a:rPr sz="2100" b="0" dirty="0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chemeClr val="accent2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liệu</a:t>
            </a:r>
            <a:endParaRPr sz="2100" b="0" dirty="0">
              <a:solidFill>
                <a:schemeClr val="accent2">
                  <a:lumMod val="75000"/>
                </a:schemeClr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E18027-AEC2-4F88-8CF7-BDF903687048}"/>
              </a:ext>
            </a:extLst>
          </p:cNvPr>
          <p:cNvSpPr>
            <a:spLocks noGrp="1"/>
          </p:cNvSpPr>
          <p:nvPr/>
        </p:nvSpPr>
        <p:spPr>
          <a:xfrm>
            <a:off x="552450" y="2714625"/>
            <a:ext cx="10477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Nghiên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cứu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tiền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xử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lý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ảnh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và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chiến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lược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huấn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luyện</a:t>
            </a:r>
            <a:endParaRPr sz="2550" b="0" dirty="0">
              <a:solidFill>
                <a:schemeClr val="tx1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550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trong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quy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trình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đánh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giá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có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đối</a:t>
            </a:r>
            <a:r>
              <a:rPr sz="25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chứng</a:t>
            </a:r>
            <a:endParaRPr sz="2550" b="0" dirty="0">
              <a:solidFill>
                <a:schemeClr val="tx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0A2AFA-F614-4361-A78C-709216F4FC82}"/>
              </a:ext>
            </a:extLst>
          </p:cNvPr>
          <p:cNvSpPr>
            <a:spLocks noGrp="1"/>
          </p:cNvSpPr>
          <p:nvPr/>
        </p:nvSpPr>
        <p:spPr>
          <a:xfrm>
            <a:off x="552450" y="4953000"/>
            <a:ext cx="590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Nguyễn</a:t>
            </a:r>
            <a:r>
              <a:rPr sz="18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Tuấn</a:t>
            </a:r>
            <a:r>
              <a:rPr sz="18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Đức</a:t>
            </a:r>
            <a:endParaRPr sz="1875" b="0" dirty="0">
              <a:solidFill>
                <a:schemeClr val="tx1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875" b="0">
                <a:solidFill>
                  <a:srgbClr val="FAF8E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MSSV 2351067091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621DAB-6F34-4EA1-818D-1B81751E9C93}"/>
              </a:ext>
            </a:extLst>
          </p:cNvPr>
          <p:cNvSpPr>
            <a:spLocks noGrp="1"/>
          </p:cNvSpPr>
          <p:nvPr/>
        </p:nvSpPr>
        <p:spPr>
          <a:xfrm>
            <a:off x="7096125" y="4953000"/>
            <a:ext cx="4572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C9BCA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Giảng</a:t>
            </a:r>
            <a:r>
              <a:rPr sz="180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viên</a:t>
            </a:r>
            <a:r>
              <a:rPr sz="180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sz="180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ThS</a:t>
            </a:r>
            <a:r>
              <a:rPr sz="180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sz="180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Vũ</a:t>
            </a:r>
            <a:r>
              <a:rPr sz="180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Thị</a:t>
            </a:r>
            <a:r>
              <a:rPr sz="180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Hạnh</a:t>
            </a:r>
            <a:endParaRPr sz="1800" b="0" dirty="0">
              <a:solidFill>
                <a:schemeClr val="tx1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4881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0CAB36-9BBD-4CDA-A1C8-6EF93419129D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lang="en-US" sz="3200" dirty="0" err="1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khám</a:t>
            </a:r>
            <a:r>
              <a:rPr lang="en-US" sz="3200" dirty="0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24251F"/>
                </a:solidFill>
                <a:effectLst/>
                <a:latin typeface="DejaVu Serif"/>
                <a:ea typeface="Arial" panose="020B0604020202020204" pitchFamily="34" charset="0"/>
                <a:cs typeface="Times New Roman" panose="02020603050405020304" pitchFamily="18" charset="0"/>
              </a:rPr>
              <a:t>phá</a:t>
            </a:r>
            <a:br>
              <a:rPr lang="vi-VN"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</a:br>
            <a:r>
              <a:rPr sz="24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Dữ</a:t>
            </a:r>
            <a:r>
              <a:rPr sz="24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24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liệu</a:t>
            </a:r>
            <a:r>
              <a:rPr sz="24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24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ảnh</a:t>
            </a:r>
            <a:r>
              <a:rPr sz="24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24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và</a:t>
            </a:r>
            <a:r>
              <a:rPr sz="24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24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tám</a:t>
            </a:r>
            <a:r>
              <a:rPr sz="24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lang="vi-VN" sz="24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nhãn</a:t>
            </a:r>
            <a:endParaRPr sz="2400" b="1" dirty="0">
              <a:solidFill>
                <a:srgbClr val="24251F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8AEB29-513C-44D8-BEDB-326EF0B8B90A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A415E6-6212-472D-97E5-72E3DF36C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0424" y="1381125"/>
            <a:ext cx="7497402" cy="40957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7B98F5-A460-49AC-AA9E-8FFB268CE4A5}"/>
              </a:ext>
            </a:extLst>
          </p:cNvPr>
          <p:cNvSpPr>
            <a:spLocks noGrp="1"/>
          </p:cNvSpPr>
          <p:nvPr/>
        </p:nvSpPr>
        <p:spPr>
          <a:xfrm>
            <a:off x="8763000" y="1571625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 dirty="0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25.331 </a:t>
            </a:r>
            <a:r>
              <a:rPr sz="2550" b="1" dirty="0" err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ảnh</a:t>
            </a:r>
            <a:endParaRPr sz="2550" b="1" dirty="0">
              <a:solidFill>
                <a:srgbClr val="A4544B"/>
              </a:solidFill>
              <a:latin typeface="DejaVu Serif"/>
              <a:ea typeface="DejaVu Serif"/>
              <a:cs typeface="DejaVu Serif"/>
            </a:endParaRPr>
          </a:p>
          <a:p>
            <a: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 dirty="0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8 </a:t>
            </a:r>
            <a:r>
              <a:rPr sz="2550" b="1" dirty="0" err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nhóm</a:t>
            </a:r>
            <a:r>
              <a:rPr sz="2550" b="1" dirty="0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2550" b="1" dirty="0" err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nhãn</a:t>
            </a:r>
            <a:endParaRPr sz="2550" b="1" dirty="0">
              <a:solidFill>
                <a:srgbClr val="A4544B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01FE55-45E8-4DE4-A7E3-716EB4AF33D2}"/>
              </a:ext>
            </a:extLst>
          </p:cNvPr>
          <p:cNvSpPr>
            <a:spLocks noGrp="1"/>
          </p:cNvSpPr>
          <p:nvPr/>
        </p:nvSpPr>
        <p:spPr>
          <a:xfrm>
            <a:off x="8334374" y="3143250"/>
            <a:ext cx="3177201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lang="en-US" dirty="0"/>
              <a:t>Đ</a:t>
            </a:r>
            <a:r>
              <a:rPr lang="vi-VN" dirty="0" err="1"/>
              <a:t>ầu</a:t>
            </a:r>
            <a:r>
              <a:rPr lang="vi-VN" dirty="0"/>
              <a:t> </a:t>
            </a:r>
            <a:r>
              <a:rPr lang="vi-VN" dirty="0" err="1"/>
              <a:t>vào</a:t>
            </a:r>
            <a:r>
              <a:rPr lang="vi-VN"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vi-VN" dirty="0"/>
              <a:t>m</a:t>
            </a:r>
            <a:r>
              <a:rPr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ột</a:t>
            </a:r>
            <a:r>
              <a:rPr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ảnh</a:t>
            </a:r>
            <a:r>
              <a:rPr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vi-VN"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soi da</a:t>
            </a:r>
            <a:endParaRPr sz="2025" b="0" dirty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lang="vi-VN"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Đầu</a:t>
            </a:r>
            <a:r>
              <a:rPr lang="vi-VN"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ra </a:t>
            </a:r>
            <a:r>
              <a:rPr lang="vi-VN" dirty="0"/>
              <a:t>m</a:t>
            </a:r>
            <a:r>
              <a:rPr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ột</a:t>
            </a:r>
            <a:r>
              <a:rPr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vi-VN"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trong 8 </a:t>
            </a:r>
            <a:r>
              <a:rPr lang="vi-VN"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nhãn</a:t>
            </a:r>
            <a:r>
              <a:rPr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dự</a:t>
            </a:r>
            <a:r>
              <a:rPr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đo</a:t>
            </a:r>
            <a:r>
              <a:rPr lang="vi-VN"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n</a:t>
            </a:r>
            <a:r>
              <a:rPr lang="vi-VN"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vi-VN"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cùng</a:t>
            </a:r>
            <a:r>
              <a:rPr lang="vi-VN" dirty="0"/>
              <a:t> t</a:t>
            </a:r>
            <a:r>
              <a:rPr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ám</a:t>
            </a:r>
            <a:r>
              <a:rPr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điểm</a:t>
            </a:r>
            <a:r>
              <a:rPr sz="2025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softmax</a:t>
            </a:r>
            <a:endParaRPr sz="2025" b="0" dirty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C03F92-9945-47F4-AFA9-9BFA50D88550}"/>
              </a:ext>
            </a:extLst>
          </p:cNvPr>
          <p:cNvSpPr>
            <a:spLocks noGrp="1"/>
          </p:cNvSpPr>
          <p:nvPr/>
        </p:nvSpPr>
        <p:spPr>
          <a:xfrm>
            <a:off x="552450" y="5886450"/>
            <a:ext cx="10810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Ảnh train minh họa. Metadata phục vụ kiểm toán, không đưa vào mạng.</a:t>
            </a:r>
          </a:p>
        </p:txBody>
      </p:sp>
    </p:spTree>
    <p:extLst>
      <p:ext uri="{BB962C8B-B14F-4D97-AF65-F5344CB8AC3E}">
        <p14:creationId xmlns:p14="http://schemas.microsoft.com/office/powerpoint/2010/main" val="80783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860829-C06D-453C-969D-7A57A7F14870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lang="vi-VN"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Bài</a:t>
            </a:r>
            <a:r>
              <a:rPr lang="vi-VN"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lang="vi-VN"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toán</a:t>
            </a:r>
            <a:r>
              <a:rPr lang="vi-VN"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lang="vi-VN" dirty="0"/>
              <a:t>m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ất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cân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bằng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lớp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trong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tập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train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8AF1A7-F9CA-4C38-9614-D75E412D2A22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3B027D-0600-47D5-BD5C-A929D4291B90}"/>
              </a:ext>
            </a:extLst>
          </p:cNvPr>
          <p:cNvSpPr>
            <a:spLocks noGrp="1"/>
          </p:cNvSpPr>
          <p:nvPr/>
        </p:nvSpPr>
        <p:spPr>
          <a:xfrm>
            <a:off x="8905875" y="1619250"/>
            <a:ext cx="266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40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≈60 lần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5865E1-4B44-4172-A6D0-1E47450648C5}"/>
              </a:ext>
            </a:extLst>
          </p:cNvPr>
          <p:cNvSpPr>
            <a:spLocks noGrp="1"/>
          </p:cNvSpPr>
          <p:nvPr/>
        </p:nvSpPr>
        <p:spPr>
          <a:xfrm>
            <a:off x="8905875" y="2524125"/>
            <a:ext cx="266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NV so với VASC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8AC7DB-FAB4-4AC3-95B9-FB37A1A520C8}"/>
              </a:ext>
            </a:extLst>
          </p:cNvPr>
          <p:cNvSpPr>
            <a:spLocks noGrp="1"/>
          </p:cNvSpPr>
          <p:nvPr/>
        </p:nvSpPr>
        <p:spPr>
          <a:xfrm>
            <a:off x="8905875" y="3333750"/>
            <a:ext cx="2714625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NV chiếm 50,89% train.</a:t>
            </a:r>
          </a:p>
          <a:p>
            <a:endParaRPr sz="1875" b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Macro-F1 giúp đọc</a:t>
            </a:r>
          </a:p>
          <a:p>
            <a: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hiệu quả của cả lớp ít ảnh.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C18B75-25FB-4D12-B050-C2C6D0B760E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3537" y="1128712"/>
            <a:ext cx="8244987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7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21D75E-A84F-412E-B37B-9E5A94C5B688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Kiểm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lang="vi-VN"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tra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dữ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liệu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và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chia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tập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theo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nhóm</a:t>
            </a:r>
            <a:endParaRPr sz="3000" b="1" dirty="0">
              <a:solidFill>
                <a:srgbClr val="24251F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F9F231-EE29-4292-8806-3317C147385B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BA65C8-0B67-4A39-A613-E854672E32BC}"/>
              </a:ext>
            </a:extLst>
          </p:cNvPr>
          <p:cNvGraphicFramePr/>
          <p:nvPr/>
        </p:nvGraphicFramePr>
        <p:xfrm>
          <a:off x="523875" y="1476375"/>
          <a:ext cx="6953250" cy="3429000"/>
        </p:xfrm>
        <a:graphic>
          <a:graphicData uri="http://schemas.openxmlformats.org/drawingml/2006/table">
            <a:tbl>
              <a:tblPr/>
              <a:tblGrid>
                <a:gridCol w="4249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Kiểm toán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Kết quả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Ảnh gốc / giữ lại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25.331 / 25.327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Ảnh trùng dư / xung đột loại bỏ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 / 4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Định danh vượt split đã kiểm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Thiếu lesion_id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2.084 ảnh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2355789-00DC-4B6F-80A8-B3AF0702283E}"/>
              </a:ext>
            </a:extLst>
          </p:cNvPr>
          <p:cNvSpPr>
            <a:spLocks noGrp="1"/>
          </p:cNvSpPr>
          <p:nvPr/>
        </p:nvSpPr>
        <p:spPr>
          <a:xfrm>
            <a:off x="8001000" y="1571625"/>
            <a:ext cx="3524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Tập chia khóa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097F01-0695-4BB3-A3AD-A7404A70681E}"/>
              </a:ext>
            </a:extLst>
          </p:cNvPr>
          <p:cNvSpPr>
            <a:spLocks noGrp="1"/>
          </p:cNvSpPr>
          <p:nvPr/>
        </p:nvSpPr>
        <p:spPr>
          <a:xfrm>
            <a:off x="8000999" y="2190750"/>
            <a:ext cx="36671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Train 17.723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Validation 2.539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Test </a:t>
            </a: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nội</a:t>
            </a: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bộ</a:t>
            </a: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5.065</a:t>
            </a:r>
            <a:br>
              <a:rPr lang="vi-VN"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</a:br>
            <a:br>
              <a:rPr lang="vi-VN"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</a:br>
            <a:r>
              <a:rPr lang="vi-VN"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Train</a:t>
            </a:r>
            <a:r>
              <a:rPr lang="vi-VN"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lang="vi-VN"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Validation</a:t>
            </a:r>
            <a:r>
              <a:rPr lang="vi-VN"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/ </a:t>
            </a:r>
            <a:r>
              <a:rPr lang="vi-VN"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Test</a:t>
            </a:r>
            <a:r>
              <a:rPr lang="vi-VN"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70/10/20</a:t>
            </a:r>
            <a:endParaRPr sz="1950" b="0" dirty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16604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B9339E-B95D-4F33-A46E-C1FB4D248C55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Mười phương án tiền xử lý và rủi ro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1FB99C-5C96-44A5-BFB5-BA937AB5E804}"/>
              </a:ext>
            </a:extLst>
          </p:cNvPr>
          <p:cNvSpPr>
            <a:spLocks noGrp="1"/>
          </p:cNvSpPr>
          <p:nvPr/>
        </p:nvSpPr>
        <p:spPr>
          <a:xfrm>
            <a:off x="11345383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05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677D1F-E304-4B6C-9633-757096DC41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796698"/>
              </p:ext>
            </p:extLst>
          </p:nvPr>
        </p:nvGraphicFramePr>
        <p:xfrm>
          <a:off x="523875" y="1381125"/>
          <a:ext cx="11144249" cy="4238630"/>
        </p:xfrm>
        <a:graphic>
          <a:graphicData uri="http://schemas.openxmlformats.org/drawingml/2006/table">
            <a:tbl>
              <a:tblPr/>
              <a:tblGrid>
                <a:gridCol w="1347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8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8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3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Mã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Phương án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Rủi ro cần kiểm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Giữ tỷ lệ + padding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Giảm chi tiết hữu ích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P02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Cắt viền gần đen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Cắt tổn thương sát mép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P03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Khử lông + inpainting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Xóa nhầm mạng sắc tố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P04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Shades of Gray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Đổi màu / clipping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P05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CLAHE trên kênh L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Khuếch đại nhiễu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P06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Gamma trên kênh L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Đổi tương phản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P07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Bilateral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Mất cấu trúc nhỏ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P08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Xử lý phản sáng nhỏ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Nhầm cấu trúc trắng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P09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Hiệu chỉnh sáng cục bộ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Lẫn nền và tổn thương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3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P10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Crop 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Bỏ</a:t>
                      </a:r>
                      <a:r>
                        <a:rPr sz="165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sót</a:t>
                      </a:r>
                      <a:r>
                        <a:rPr sz="165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vùng</a:t>
                      </a:r>
                      <a:r>
                        <a:rPr sz="165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tổn</a:t>
                      </a:r>
                      <a:r>
                        <a:rPr sz="165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thương</a:t>
                      </a:r>
                      <a:endParaRPr sz="1650" b="0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13ABAD1-C82A-4A00-9F6F-D41790AA05EF}"/>
              </a:ext>
            </a:extLst>
          </p:cNvPr>
          <p:cNvSpPr>
            <a:spLocks noGrp="1"/>
          </p:cNvSpPr>
          <p:nvPr/>
        </p:nvSpPr>
        <p:spPr>
          <a:xfrm>
            <a:off x="943429" y="5895975"/>
            <a:ext cx="1099411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dirty="0" err="1">
                <a:solidFill>
                  <a:srgbClr val="24251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Ả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nh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nhìn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sạch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hơn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chưa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đủ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để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kết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luận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mô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hình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tốt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hơn</a:t>
            </a:r>
            <a:r>
              <a:rPr lang="en-US" sz="18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vi-VN" sz="1800" dirty="0">
              <a:solidFill>
                <a:srgbClr val="24251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endParaRPr sz="150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44335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717295-3384-49EE-9A3B-C94BC0B3CAAD}"/>
              </a:ext>
            </a:extLst>
          </p:cNvPr>
          <p:cNvSpPr>
            <a:spLocks noGrp="1"/>
          </p:cNvSpPr>
          <p:nvPr/>
        </p:nvSpPr>
        <p:spPr>
          <a:xfrm>
            <a:off x="523875" y="1070811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P01–P10 chưa vượt T02B ở lượt đã chạy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6D9E0-6BDE-4086-8EEF-F4A98B32D356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lang="vi-VN" dirty="0"/>
              <a:t>06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A7925C-991F-485E-A295-864BA10A0709}"/>
              </a:ext>
            </a:extLst>
          </p:cNvPr>
          <p:cNvSpPr>
            <a:spLocks noGrp="1"/>
          </p:cNvSpPr>
          <p:nvPr/>
        </p:nvSpPr>
        <p:spPr>
          <a:xfrm>
            <a:off x="552450" y="1928061"/>
            <a:ext cx="571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Validation macro-F1 (%)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8EE1C835-0755-45CF-8117-6370DA1756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6875350"/>
              </p:ext>
            </p:extLst>
          </p:nvPr>
        </p:nvGraphicFramePr>
        <p:xfrm>
          <a:off x="428625" y="2213811"/>
          <a:ext cx="112395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E150BF0-F3B5-4FA1-B5AB-1596105DB506}"/>
              </a:ext>
            </a:extLst>
          </p:cNvPr>
          <p:cNvSpPr>
            <a:spLocks noGrp="1"/>
          </p:cNvSpPr>
          <p:nvPr/>
        </p:nvSpPr>
        <p:spPr>
          <a:xfrm>
            <a:off x="552450" y="5785686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Gần nhất: P08 60,1282%     Đối chứng T02B 60,3002%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C3F441-0A5A-4BFF-824F-825D36B8093F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 marL="0" marR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4400" dirty="0" err="1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Kết</a:t>
            </a:r>
            <a:r>
              <a:rPr lang="en-US" sz="4400" dirty="0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quả</a:t>
            </a:r>
            <a:endParaRPr lang="vi-VN" sz="4400" dirty="0">
              <a:solidFill>
                <a:srgbClr val="24251F"/>
              </a:solidFill>
              <a:effectLst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65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48CCF4-7268-45FE-86EB-56AAABF41928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Pipeline </a:t>
            </a:r>
            <a:r>
              <a:rPr lang="vi-VN" dirty="0"/>
              <a:t>mô </a:t>
            </a:r>
            <a:r>
              <a:rPr lang="vi-VN" dirty="0" err="1"/>
              <a:t>hình</a:t>
            </a:r>
            <a:r>
              <a:rPr lang="vi-VN" dirty="0"/>
              <a:t> ResNet50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và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cường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hóa</a:t>
            </a:r>
            <a:r>
              <a:rPr lang="vi-VN"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lang="vi-VN"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dữ</a:t>
            </a:r>
            <a:r>
              <a:rPr lang="vi-VN"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lang="vi-VN"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liệu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lang="vi-VN" dirty="0"/>
              <a:t>4 </a:t>
            </a:r>
            <a:r>
              <a:rPr lang="vi-VN" dirty="0" err="1"/>
              <a:t>góc</a:t>
            </a:r>
            <a:r>
              <a:rPr lang="vi-VN" dirty="0"/>
              <a:t> quay x 2 </a:t>
            </a:r>
            <a:r>
              <a:rPr lang="vi-VN" dirty="0" err="1"/>
              <a:t>trạng</a:t>
            </a:r>
            <a:r>
              <a:rPr lang="vi-VN" dirty="0"/>
              <a:t> thai </a:t>
            </a:r>
            <a:r>
              <a:rPr lang="vi-VN" dirty="0" err="1"/>
              <a:t>lật</a:t>
            </a:r>
            <a:r>
              <a:rPr lang="vi-VN" dirty="0"/>
              <a:t> </a:t>
            </a:r>
            <a:endParaRPr sz="3000" b="1" dirty="0">
              <a:solidFill>
                <a:srgbClr val="24251F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0FB9A-5DF5-453D-8CD3-8C7D2372F6A1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7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3DE2AE-BB71-4707-8DC7-71272B062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483" y="1381125"/>
            <a:ext cx="6400284" cy="3238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30AF3D-1F1B-48AB-8CF3-B3AD2E7A6331}"/>
              </a:ext>
            </a:extLst>
          </p:cNvPr>
          <p:cNvSpPr>
            <a:spLocks noGrp="1"/>
          </p:cNvSpPr>
          <p:nvPr/>
        </p:nvSpPr>
        <p:spPr>
          <a:xfrm>
            <a:off x="8374743" y="1571625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lang="vi-VN" sz="2550" b="1" dirty="0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D4: </a:t>
            </a:r>
            <a:r>
              <a:rPr sz="2550" b="1" dirty="0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4 </a:t>
            </a:r>
            <a:r>
              <a:rPr sz="2550" b="1" dirty="0" err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góc</a:t>
            </a:r>
            <a:r>
              <a:rPr sz="2550" b="1" dirty="0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 quay</a:t>
            </a:r>
          </a:p>
          <a:p>
            <a:pPr>
              <a:defRPr sz="255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550" b="1" dirty="0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× 2 </a:t>
            </a:r>
            <a:r>
              <a:rPr sz="2550" b="1" dirty="0" err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trạng</a:t>
            </a:r>
            <a:r>
              <a:rPr sz="2550" b="1" dirty="0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2550" b="1" dirty="0" err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thái</a:t>
            </a:r>
            <a:r>
              <a:rPr sz="2550" b="1" dirty="0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2550" b="1" dirty="0" err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lật</a:t>
            </a:r>
            <a:endParaRPr sz="2550" b="1" dirty="0">
              <a:solidFill>
                <a:srgbClr val="A4544B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91698E-7EF4-40AF-B142-3ADE198071E7}"/>
              </a:ext>
            </a:extLst>
          </p:cNvPr>
          <p:cNvSpPr>
            <a:spLocks noGrp="1"/>
          </p:cNvSpPr>
          <p:nvPr/>
        </p:nvSpPr>
        <p:spPr>
          <a:xfrm>
            <a:off x="8382000" y="3143250"/>
            <a:ext cx="3238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Ngẫu nhiên khi train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Không dùng ở val/test</a:t>
            </a:r>
          </a:p>
          <a:p>
            <a:endParaRPr sz="1950" b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Không tăng số ảnh gốc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F03E6-2234-4B95-A3AB-4873BB3BAB54}"/>
              </a:ext>
            </a:extLst>
          </p:cNvPr>
          <p:cNvSpPr>
            <a:spLocks noGrp="1"/>
          </p:cNvSpPr>
          <p:nvPr/>
        </p:nvSpPr>
        <p:spPr>
          <a:xfrm>
            <a:off x="552450" y="5048250"/>
            <a:ext cx="1104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RGB → resize 224 → D4 </a:t>
            </a:r>
            <a:r>
              <a:rPr lang="vi-VN" sz="2025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khi</a:t>
            </a:r>
            <a:r>
              <a:rPr sz="2025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 train → tensor &amp; normalize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F61C0-36A0-4DF4-A5C2-7DD3EB5E3679}"/>
              </a:ext>
            </a:extLst>
          </p:cNvPr>
          <p:cNvSpPr>
            <a:spLocks noGrp="1"/>
          </p:cNvSpPr>
          <p:nvPr/>
        </p:nvSpPr>
        <p:spPr>
          <a:xfrm>
            <a:off x="552450" y="5524500"/>
            <a:ext cx="1104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→ ResNet50 → 8 logits → softmax khi suy luận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86BF9-8FC7-4B7C-BFA6-6669BB2CDDF6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10810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Train: CE → gradient → AdamW. Validation chọn checkpoint theo macro-F1.</a:t>
            </a:r>
          </a:p>
        </p:txBody>
      </p:sp>
    </p:spTree>
    <p:extLst>
      <p:ext uri="{BB962C8B-B14F-4D97-AF65-F5344CB8AC3E}">
        <p14:creationId xmlns:p14="http://schemas.microsoft.com/office/powerpoint/2010/main" val="124007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6E746A5-5E19-4242-A032-7864566721F6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Thiết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kế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thực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nghiệm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và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khả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năng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tái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lập</a:t>
            </a:r>
            <a:endParaRPr sz="3000" b="1" dirty="0">
              <a:solidFill>
                <a:srgbClr val="24251F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2C09C2-640F-486E-A38A-CB94A73FA4CC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8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C71B4F-36FB-4D9A-8468-FEA44ABD69C4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Train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22DD5-0EBC-482F-9917-F69A91A3438B}"/>
              </a:ext>
            </a:extLst>
          </p:cNvPr>
          <p:cNvSpPr>
            <a:spLocks noGrp="1"/>
          </p:cNvSpPr>
          <p:nvPr/>
        </p:nvSpPr>
        <p:spPr>
          <a:xfrm>
            <a:off x="523875" y="2333625"/>
            <a:ext cx="3333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Học</a:t>
            </a: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trọng</a:t>
            </a: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số</a:t>
            </a:r>
            <a:endParaRPr sz="1950" b="0" dirty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  <a:p>
            <a:endParaRPr sz="1950" b="0" dirty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Chỉ</a:t>
            </a: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thống</a:t>
            </a: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kê</a:t>
            </a: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train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để</a:t>
            </a: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tính</a:t>
            </a:r>
            <a:r>
              <a:rPr sz="195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class weights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012EA8-EE79-4840-8F80-D1B460158B0C}"/>
              </a:ext>
            </a:extLst>
          </p:cNvPr>
          <p:cNvSpPr>
            <a:spLocks noGrp="1"/>
          </p:cNvSpPr>
          <p:nvPr/>
        </p:nvSpPr>
        <p:spPr>
          <a:xfrm>
            <a:off x="4429125" y="171450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9176F-D766-4841-9FA1-2C280C71F676}"/>
              </a:ext>
            </a:extLst>
          </p:cNvPr>
          <p:cNvSpPr>
            <a:spLocks noGrp="1"/>
          </p:cNvSpPr>
          <p:nvPr/>
        </p:nvSpPr>
        <p:spPr>
          <a:xfrm>
            <a:off x="4429125" y="2333625"/>
            <a:ext cx="3333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Chọn checkpoint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và phương án</a:t>
            </a:r>
          </a:p>
          <a:p>
            <a:endParaRPr sz="1950" b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Macro-F1 là tiêu chí chính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A82A87-E3A9-436F-B8F0-9191E7F51211}"/>
              </a:ext>
            </a:extLst>
          </p:cNvPr>
          <p:cNvSpPr>
            <a:spLocks noGrp="1"/>
          </p:cNvSpPr>
          <p:nvPr/>
        </p:nvSpPr>
        <p:spPr>
          <a:xfrm>
            <a:off x="8334375" y="17145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Test nội bộ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ED7031-9C8E-4E36-A3E1-28B503A4EE1A}"/>
              </a:ext>
            </a:extLst>
          </p:cNvPr>
          <p:cNvSpPr>
            <a:spLocks noGrp="1"/>
          </p:cNvSpPr>
          <p:nvPr/>
        </p:nvSpPr>
        <p:spPr>
          <a:xfrm>
            <a:off x="8334375" y="2333625"/>
            <a:ext cx="3238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Đánh giá checkpoint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đã chốt</a:t>
            </a:r>
          </a:p>
          <a:p>
            <a:endParaRPr sz="1950" b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Không dùng để chỉnh tham số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CEECE-7FEB-45B5-AF90-CB73E2D29C29}"/>
              </a:ext>
            </a:extLst>
          </p:cNvPr>
          <p:cNvSpPr>
            <a:spLocks noGrp="1"/>
          </p:cNvSpPr>
          <p:nvPr/>
        </p:nvSpPr>
        <p:spPr>
          <a:xfrm>
            <a:off x="547687" y="4714875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 dirty="0" err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Khóa</a:t>
            </a:r>
            <a:r>
              <a:rPr sz="20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 split, </a:t>
            </a:r>
            <a:r>
              <a:rPr sz="2000" b="1" dirty="0" err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nhãn</a:t>
            </a:r>
            <a:r>
              <a:rPr sz="20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, seed · Batch 32 · </a:t>
            </a:r>
            <a:r>
              <a:rPr sz="2000" b="1" dirty="0" err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AdamW</a:t>
            </a:r>
            <a:r>
              <a:rPr sz="20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 10⁻⁴ · 16 epoch · Patience 4</a:t>
            </a:r>
            <a:br>
              <a:rPr lang="vi-VN" sz="20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</a:br>
            <a:endParaRPr lang="vi-VN" sz="2000" b="1" dirty="0">
              <a:solidFill>
                <a:srgbClr val="A4544B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Mỗi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phép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so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thay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một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yếu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tố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chinh</a:t>
            </a:r>
            <a:r>
              <a:rPr lang="vi-VN" sz="2000" dirty="0">
                <a:effectLst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để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biết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thay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đổi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đến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từ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đâu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có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hiệu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quả</a:t>
            </a:r>
            <a:r>
              <a:rPr lang="en-US" sz="2000" dirty="0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2425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không</a:t>
            </a:r>
            <a:endParaRPr lang="vi-VN" sz="2000" dirty="0">
              <a:solidFill>
                <a:srgbClr val="24251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defRPr sz="18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endParaRPr sz="1800" b="1" dirty="0">
              <a:solidFill>
                <a:srgbClr val="A4544B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91412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4ED12B-3537-488E-8A40-DAC9D131D0B9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lang="vi-VN" dirty="0"/>
              <a:t>So </a:t>
            </a:r>
            <a:r>
              <a:rPr lang="vi-VN" dirty="0" err="1"/>
              <a:t>sánh</a:t>
            </a:r>
            <a:r>
              <a:rPr lang="vi-VN" dirty="0"/>
              <a:t> ResNet50 khi không </a:t>
            </a:r>
            <a:r>
              <a:rPr lang="vi-VN" dirty="0" err="1"/>
              <a:t>dùng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khi </a:t>
            </a:r>
            <a:r>
              <a:rPr lang="vi-VN" dirty="0" err="1"/>
              <a:t>có</a:t>
            </a:r>
            <a:r>
              <a:rPr lang="vi-VN" dirty="0"/>
              <a:t> quay/</a:t>
            </a:r>
            <a:r>
              <a:rPr lang="vi-VN" dirty="0" err="1"/>
              <a:t>lật</a:t>
            </a:r>
            <a:r>
              <a:rPr lang="vi-VN" dirty="0"/>
              <a:t> D4 khi </a:t>
            </a:r>
            <a:r>
              <a:rPr lang="vi-VN" dirty="0" err="1"/>
              <a:t>train</a:t>
            </a:r>
            <a:r>
              <a:rPr lang="vi-VN" dirty="0"/>
              <a:t>.</a:t>
            </a:r>
            <a:endParaRPr sz="3000" b="1" dirty="0">
              <a:solidFill>
                <a:srgbClr val="24251F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D84751-3C95-47F1-A571-F67983A07BC6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9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4AFC52-E006-4A3E-8B6E-BF27B9AA0A8A}"/>
              </a:ext>
            </a:extLst>
          </p:cNvPr>
          <p:cNvGraphicFramePr/>
          <p:nvPr/>
        </p:nvGraphicFramePr>
        <p:xfrm>
          <a:off x="523875" y="1428750"/>
          <a:ext cx="11144251" cy="3333750"/>
        </p:xfrm>
        <a:graphic>
          <a:graphicData uri="http://schemas.openxmlformats.org/drawingml/2006/table">
            <a:tbl>
              <a:tblPr/>
              <a:tblGrid>
                <a:gridCol w="285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6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Thành phần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B00_R50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T02B_D4_R50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Mô hình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ResNet50 ImageNet V1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Giống B00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Ảnh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RGB, resize 224, normalize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Giống B00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Augmentation train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Không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D4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Loss / sampling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 </a:t>
                      </a:r>
                      <a:r>
                        <a:rPr sz="1800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thường</a:t>
                      </a:r>
                      <a:r>
                        <a:rPr sz="180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/ shuffle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Giống</a:t>
                      </a:r>
                      <a:r>
                        <a:rPr sz="180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B00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11C6CDC-74B5-488A-B896-A901599A3866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M01: EfficientNet-B0 là kiến trúc đối chiếu, giữ nền D4 + CE.</a:t>
            </a:r>
          </a:p>
        </p:txBody>
      </p:sp>
    </p:spTree>
    <p:extLst>
      <p:ext uri="{BB962C8B-B14F-4D97-AF65-F5344CB8AC3E}">
        <p14:creationId xmlns:p14="http://schemas.microsoft.com/office/powerpoint/2010/main" val="55696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3348BB-259C-4390-B0F2-A07023A3A497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lang="vi-VN" dirty="0" err="1"/>
              <a:t>Các</a:t>
            </a:r>
            <a:r>
              <a:rPr lang="vi-VN" dirty="0"/>
              <a:t> phương </a:t>
            </a:r>
            <a:r>
              <a:rPr lang="vi-VN" dirty="0" err="1"/>
              <a:t>án</a:t>
            </a:r>
            <a:r>
              <a:rPr lang="vi-VN" dirty="0"/>
              <a:t> </a:t>
            </a:r>
            <a:r>
              <a:rPr lang="vi-VN" dirty="0" err="1"/>
              <a:t>đã</a:t>
            </a:r>
            <a:r>
              <a:rPr lang="vi-VN" dirty="0"/>
              <a:t> </a:t>
            </a:r>
            <a:r>
              <a:rPr lang="vi-VN" dirty="0" err="1"/>
              <a:t>thử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cải</a:t>
            </a:r>
            <a:r>
              <a:rPr lang="vi-VN" dirty="0"/>
              <a:t> </a:t>
            </a:r>
            <a:r>
              <a:rPr lang="vi-VN" dirty="0" err="1"/>
              <a:t>thiện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r>
              <a:rPr lang="vi-VN" dirty="0"/>
              <a:t> phân </a:t>
            </a:r>
            <a:r>
              <a:rPr lang="vi-VN" dirty="0" err="1"/>
              <a:t>loại</a:t>
            </a:r>
            <a:endParaRPr sz="3000" b="1" dirty="0">
              <a:solidFill>
                <a:srgbClr val="24251F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B7E6D-935A-4A8A-9765-EC70FD18B557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lang="vi-VN" dirty="0"/>
              <a:t>10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6A1162-F78C-4D05-9A1A-40DD1067E7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887379"/>
              </p:ext>
            </p:extLst>
          </p:nvPr>
        </p:nvGraphicFramePr>
        <p:xfrm>
          <a:off x="523875" y="1428750"/>
          <a:ext cx="11144250" cy="4354288"/>
        </p:xfrm>
        <a:graphic>
          <a:graphicData uri="http://schemas.openxmlformats.org/drawingml/2006/table">
            <a:tbl>
              <a:tblPr/>
              <a:tblGrid>
                <a:gridCol w="1525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2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5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1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Run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Thay đổi chính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 macro-F1 %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Δ điểm %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vi-VN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B00</a:t>
                      </a:r>
                      <a:endParaRPr sz="1725" b="0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Không </a:t>
                      </a:r>
                      <a:r>
                        <a:rPr lang="vi-VN"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có</a:t>
                      </a:r>
                      <a:r>
                        <a:rPr lang="vi-VN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vi-VN"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augmentation</a:t>
                      </a:r>
                      <a:endParaRPr sz="1725" b="0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55.2115</a:t>
                      </a:r>
                      <a:endParaRPr sz="1725" b="0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-5.0887</a:t>
                      </a:r>
                      <a:endParaRPr sz="1725" b="0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350929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T02B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D4 + CE thường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60,3002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Mốc</a:t>
                      </a:r>
                      <a:endParaRPr sz="1725" b="0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T02A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Lật ngang / dọc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58,5276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−1,7725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 trọng số 1/√n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60,3251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+0,0249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Sampler </a:t>
                      </a:r>
                      <a:r>
                        <a:rPr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cân</a:t>
                      </a:r>
                      <a:r>
                        <a:rPr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bằng</a:t>
                      </a:r>
                      <a:r>
                        <a:rPr lang="en-US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(</a:t>
                      </a:r>
                      <a:r>
                        <a:rPr lang="en-US"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lấy</a:t>
                      </a:r>
                      <a:r>
                        <a:rPr lang="en-US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en-US"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mẫu</a:t>
                      </a:r>
                      <a:r>
                        <a:rPr lang="en-US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en-US"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có</a:t>
                      </a:r>
                      <a:r>
                        <a:rPr lang="en-US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en-US"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hoàn</a:t>
                      </a:r>
                      <a:r>
                        <a:rPr lang="en-US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en-US"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lại</a:t>
                      </a:r>
                      <a:r>
                        <a:rPr lang="en-US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)</a:t>
                      </a:r>
                      <a:endParaRPr sz="1725" b="0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58,4844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−1,8157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lang="vi-VN"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earninng</a:t>
                      </a:r>
                      <a:r>
                        <a:rPr lang="vi-VN"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vi-VN"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Rate</a:t>
                      </a:r>
                      <a:r>
                        <a:rPr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backbone / fc </a:t>
                      </a:r>
                      <a:r>
                        <a:rPr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khác</a:t>
                      </a:r>
                      <a:r>
                        <a:rPr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nhau</a:t>
                      </a:r>
                      <a:endParaRPr sz="1725" b="0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58,9639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−1,3362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EfficientNet-B0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58,4366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−1,8636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0745842-07CA-4B97-B8F1-4C61521EB40A}"/>
              </a:ext>
            </a:extLst>
          </p:cNvPr>
          <p:cNvSpPr>
            <a:spLocks noGrp="1"/>
          </p:cNvSpPr>
          <p:nvPr/>
        </p:nvSpPr>
        <p:spPr>
          <a:xfrm>
            <a:off x="552450" y="5886450"/>
            <a:ext cx="10810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L01: CI95 của Δ [−4,2142; +4,5948] điểm %. Chưa đủ bằng chứng thay T02B.</a:t>
            </a:r>
          </a:p>
        </p:txBody>
      </p:sp>
    </p:spTree>
    <p:extLst>
      <p:ext uri="{BB962C8B-B14F-4D97-AF65-F5344CB8AC3E}">
        <p14:creationId xmlns:p14="http://schemas.microsoft.com/office/powerpoint/2010/main" val="1948188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F8DD4F-5544-4EA7-A25D-EF273443E615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endParaRPr sz="3000" b="1" dirty="0">
              <a:solidFill>
                <a:srgbClr val="24251F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575A7B-CE6C-47C6-996C-2CD989F60C88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1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F436CD-905D-48E7-AC06-F65172AD52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4878813"/>
              </p:ext>
            </p:extLst>
          </p:nvPr>
        </p:nvGraphicFramePr>
        <p:xfrm>
          <a:off x="523875" y="1524000"/>
          <a:ext cx="11144250" cy="2438877"/>
        </p:xfrm>
        <a:graphic>
          <a:graphicData uri="http://schemas.openxmlformats.org/drawingml/2006/table">
            <a:tbl>
              <a:tblPr/>
              <a:tblGrid>
                <a:gridCol w="1827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8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1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7219">
                <a:tc>
                  <a:txBody>
                    <a:bodyPr/>
                    <a:lstStyle/>
                    <a:p>
                      <a:r>
                        <a:rPr lang="vi-VN" sz="1600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Lần</a:t>
                      </a:r>
                      <a:r>
                        <a:rPr lang="vi-VN" sz="1600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vi-VN" sz="1600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huấn</a:t>
                      </a:r>
                      <a:r>
                        <a:rPr lang="vi-VN" sz="1600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vi-VN" sz="1600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luyện</a:t>
                      </a:r>
                      <a:r>
                        <a:rPr lang="vi-VN" sz="1600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vi-VN" sz="1600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seed</a:t>
                      </a:r>
                      <a:endParaRPr sz="1600" b="1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 b="1" dirty="0">
                          <a:latin typeface="DejaVu Sans"/>
                        </a:rPr>
                        <a:t>Không quay/</a:t>
                      </a:r>
                      <a:r>
                        <a:rPr lang="vi-VN" sz="1600" b="1" dirty="0" err="1">
                          <a:latin typeface="DejaVu Sans"/>
                        </a:rPr>
                        <a:t>lật</a:t>
                      </a:r>
                      <a:r>
                        <a:rPr lang="vi-VN" sz="1600" b="1" dirty="0">
                          <a:latin typeface="DejaVu Sans"/>
                        </a:rPr>
                        <a:t>  Macro-F1 (%)</a:t>
                      </a:r>
                      <a:endParaRPr sz="1725" b="1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725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Có</a:t>
                      </a:r>
                      <a:r>
                        <a:rPr lang="vi-VN" sz="1725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quay/</a:t>
                      </a:r>
                      <a:r>
                        <a:rPr lang="en-US" sz="1725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lật</a:t>
                      </a:r>
                      <a:r>
                        <a:rPr lang="en-US" sz="1725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Macro-F1(%)</a:t>
                      </a:r>
                      <a:endParaRPr sz="1725" b="1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725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Mức</a:t>
                      </a:r>
                      <a:r>
                        <a:rPr lang="vi-VN" sz="1725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tăng</a:t>
                      </a:r>
                      <a:r>
                        <a:rPr sz="1725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725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điểm</a:t>
                      </a:r>
                      <a:r>
                        <a:rPr sz="1725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%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725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Khoảng</a:t>
                      </a:r>
                      <a:r>
                        <a:rPr lang="vi-VN" sz="1725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tin </a:t>
                      </a:r>
                      <a:r>
                        <a:rPr lang="vi-VN" sz="1725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cậy</a:t>
                      </a:r>
                      <a:r>
                        <a:rPr lang="en-US" sz="1725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95% </a:t>
                      </a:r>
                      <a:r>
                        <a:rPr lang="en-US" sz="1725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của</a:t>
                      </a:r>
                      <a:r>
                        <a:rPr lang="en-US" sz="1725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en-US" sz="1725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mức</a:t>
                      </a:r>
                      <a:r>
                        <a:rPr lang="en-US" sz="1725" b="1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en-US" sz="1725" b="1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tăng</a:t>
                      </a:r>
                      <a:endParaRPr sz="1725" b="1" dirty="0">
                        <a:solidFill>
                          <a:srgbClr val="24251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 thăm dò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55,2115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60,3002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+5,0887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[+0,1739; +9,3884]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 xác nhận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57,3231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57,7945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+0,4714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[−3,7990; +5,1088]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 xác nhận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56,0809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59,9743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+3,8934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[−0,8558; +8,6463]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698D393-092D-442D-950A-04568BD6E023}"/>
              </a:ext>
            </a:extLst>
          </p:cNvPr>
          <p:cNvSpPr>
            <a:spLocks noGrp="1"/>
          </p:cNvSpPr>
          <p:nvPr/>
        </p:nvSpPr>
        <p:spPr>
          <a:xfrm>
            <a:off x="552450" y="4476750"/>
            <a:ext cx="1104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lang="vi-VN" dirty="0" err="1"/>
              <a:t>Cả</a:t>
            </a:r>
            <a:r>
              <a:rPr lang="vi-VN" dirty="0"/>
              <a:t> ba </a:t>
            </a:r>
            <a:r>
              <a:rPr lang="vi-VN" dirty="0" err="1"/>
              <a:t>lần</a:t>
            </a:r>
            <a:r>
              <a:rPr lang="vi-VN" dirty="0"/>
              <a:t> </a:t>
            </a:r>
            <a:r>
              <a:rPr lang="vi-VN" dirty="0" err="1"/>
              <a:t>đều</a:t>
            </a:r>
            <a:r>
              <a:rPr lang="vi-VN" dirty="0"/>
              <a:t> tăng Macro-F1, nhưng </a:t>
            </a:r>
            <a:r>
              <a:rPr lang="vi-VN" dirty="0" err="1"/>
              <a:t>mức</a:t>
            </a:r>
            <a:r>
              <a:rPr lang="vi-VN" dirty="0"/>
              <a:t> tăng </a:t>
            </a:r>
            <a:r>
              <a:rPr lang="vi-VN" dirty="0" err="1"/>
              <a:t>khác</a:t>
            </a:r>
            <a:r>
              <a:rPr lang="vi-VN" dirty="0"/>
              <a:t> nhau. Chưa </a:t>
            </a:r>
            <a:r>
              <a:rPr lang="vi-VN" dirty="0" err="1"/>
              <a:t>đủ</a:t>
            </a:r>
            <a:r>
              <a:rPr lang="vi-VN" dirty="0"/>
              <a:t> </a:t>
            </a:r>
            <a:r>
              <a:rPr lang="vi-VN" dirty="0" err="1"/>
              <a:t>bằng</a:t>
            </a:r>
            <a:r>
              <a:rPr lang="vi-VN" dirty="0"/>
              <a:t> </a:t>
            </a:r>
            <a:r>
              <a:rPr lang="vi-VN" dirty="0" err="1"/>
              <a:t>chứng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khẳng</a:t>
            </a:r>
            <a:r>
              <a:rPr lang="vi-VN" dirty="0"/>
              <a:t> </a:t>
            </a:r>
            <a:r>
              <a:rPr lang="vi-VN" dirty="0" err="1"/>
              <a:t>định</a:t>
            </a:r>
            <a:r>
              <a:rPr lang="vi-VN" dirty="0"/>
              <a:t> quay/</a:t>
            </a:r>
            <a:r>
              <a:rPr lang="vi-VN" dirty="0" err="1"/>
              <a:t>lật</a:t>
            </a:r>
            <a:r>
              <a:rPr lang="vi-VN" dirty="0"/>
              <a:t> </a:t>
            </a:r>
            <a:r>
              <a:rPr lang="vi-VN" dirty="0" err="1"/>
              <a:t>ảnh</a:t>
            </a:r>
            <a:r>
              <a:rPr lang="vi-VN" dirty="0"/>
              <a:t> luôn </a:t>
            </a:r>
            <a:r>
              <a:rPr lang="vi-VN" dirty="0" err="1"/>
              <a:t>giúp</a:t>
            </a:r>
            <a:r>
              <a:rPr lang="vi-VN" dirty="0"/>
              <a:t> </a:t>
            </a:r>
            <a:r>
              <a:rPr lang="vi-VN" dirty="0" err="1"/>
              <a:t>cải</a:t>
            </a:r>
            <a:r>
              <a:rPr lang="vi-VN" dirty="0"/>
              <a:t> </a:t>
            </a:r>
            <a:r>
              <a:rPr lang="vi-VN" dirty="0" err="1"/>
              <a:t>thiện</a:t>
            </a:r>
            <a:r>
              <a:rPr lang="vi-VN" dirty="0"/>
              <a:t>.</a:t>
            </a:r>
            <a:br>
              <a:rPr lang="vi-VN" dirty="0"/>
            </a:br>
            <a:br>
              <a:rPr lang="vi-VN" dirty="0"/>
            </a:br>
            <a:r>
              <a:rPr lang="vi-VN" dirty="0" err="1"/>
              <a:t>Khoảng</a:t>
            </a:r>
            <a:r>
              <a:rPr lang="vi-VN" dirty="0"/>
              <a:t> tin </a:t>
            </a:r>
            <a:r>
              <a:rPr lang="vi-VN" dirty="0" err="1"/>
              <a:t>cậy</a:t>
            </a:r>
            <a:r>
              <a:rPr lang="vi-VN" dirty="0"/>
              <a:t> CI95 </a:t>
            </a:r>
            <a:r>
              <a:rPr lang="vi-VN" dirty="0" err="1"/>
              <a:t>chứa</a:t>
            </a:r>
            <a:r>
              <a:rPr lang="vi-VN" dirty="0"/>
              <a:t> 0 do </a:t>
            </a:r>
            <a:r>
              <a:rPr lang="vi-VN" dirty="0" err="1"/>
              <a:t>biến</a:t>
            </a:r>
            <a:r>
              <a:rPr lang="vi-VN" dirty="0"/>
              <a:t> thiên </a:t>
            </a:r>
            <a:r>
              <a:rPr lang="vi-VN" dirty="0" err="1"/>
              <a:t>lấy</a:t>
            </a:r>
            <a:r>
              <a:rPr lang="vi-VN" dirty="0"/>
              <a:t> </a:t>
            </a:r>
            <a:r>
              <a:rPr lang="vi-VN" dirty="0" err="1"/>
              <a:t>mẫu</a:t>
            </a:r>
            <a:r>
              <a:rPr lang="vi-VN" dirty="0"/>
              <a:t>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Validation</a:t>
            </a:r>
            <a:r>
              <a:rPr lang="vi-VN" dirty="0"/>
              <a:t>; </a:t>
            </a:r>
            <a:r>
              <a:rPr lang="vi-VN" dirty="0" err="1"/>
              <a:t>giữ</a:t>
            </a:r>
            <a:r>
              <a:rPr lang="vi-VN" dirty="0"/>
              <a:t> D4 </a:t>
            </a:r>
            <a:r>
              <a:rPr lang="vi-VN" dirty="0" err="1"/>
              <a:t>vì</a:t>
            </a:r>
            <a:r>
              <a:rPr lang="vi-VN" dirty="0"/>
              <a:t> xu </a:t>
            </a:r>
            <a:r>
              <a:rPr lang="vi-VN" dirty="0" err="1"/>
              <a:t>hướng</a:t>
            </a:r>
            <a:r>
              <a:rPr lang="vi-VN" dirty="0"/>
              <a:t> </a:t>
            </a:r>
            <a:r>
              <a:rPr lang="vi-VN" dirty="0" err="1"/>
              <a:t>cải</a:t>
            </a:r>
            <a:r>
              <a:rPr lang="vi-VN" dirty="0"/>
              <a:t> </a:t>
            </a:r>
            <a:r>
              <a:rPr lang="vi-VN" dirty="0" err="1"/>
              <a:t>thiện</a:t>
            </a:r>
            <a:r>
              <a:rPr lang="vi-VN" dirty="0"/>
              <a:t> </a:t>
            </a:r>
            <a:r>
              <a:rPr lang="vi-VN" dirty="0" err="1"/>
              <a:t>rõ</a:t>
            </a:r>
            <a:r>
              <a:rPr lang="vi-VN" dirty="0"/>
              <a:t> </a:t>
            </a:r>
            <a:r>
              <a:rPr lang="vi-VN" dirty="0" err="1"/>
              <a:t>rệt</a:t>
            </a:r>
            <a:r>
              <a:rPr lang="vi-VN" dirty="0"/>
              <a:t>, nhưng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luận</a:t>
            </a:r>
            <a:r>
              <a:rPr lang="vi-VN" dirty="0"/>
              <a:t> </a:t>
            </a:r>
            <a:r>
              <a:rPr lang="vi-VN" dirty="0" err="1"/>
              <a:t>thận</a:t>
            </a:r>
            <a:r>
              <a:rPr lang="vi-VN" dirty="0"/>
              <a:t> </a:t>
            </a:r>
            <a:r>
              <a:rPr lang="vi-VN" dirty="0" err="1"/>
              <a:t>trọng</a:t>
            </a:r>
            <a:r>
              <a:rPr lang="vi-VN" dirty="0"/>
              <a:t> </a:t>
            </a:r>
            <a:r>
              <a:rPr lang="vi-VN" dirty="0" err="1"/>
              <a:t>là</a:t>
            </a:r>
            <a:r>
              <a:rPr lang="vi-VN" dirty="0"/>
              <a:t> D4 không </a:t>
            </a:r>
            <a:r>
              <a:rPr lang="vi-VN" dirty="0" err="1"/>
              <a:t>phải</a:t>
            </a:r>
            <a:r>
              <a:rPr lang="vi-VN" dirty="0"/>
              <a:t> </a:t>
            </a:r>
            <a:r>
              <a:rPr lang="vi-VN" dirty="0" err="1"/>
              <a:t>lúc</a:t>
            </a:r>
            <a:r>
              <a:rPr lang="vi-VN" dirty="0"/>
              <a:t> </a:t>
            </a:r>
            <a:r>
              <a:rPr lang="vi-VN" dirty="0" err="1"/>
              <a:t>nào</a:t>
            </a:r>
            <a:r>
              <a:rPr lang="vi-VN" dirty="0"/>
              <a:t> </a:t>
            </a:r>
            <a:r>
              <a:rPr lang="vi-VN" dirty="0" err="1"/>
              <a:t>cũng</a:t>
            </a:r>
            <a:r>
              <a:rPr lang="vi-VN" dirty="0"/>
              <a:t> </a:t>
            </a:r>
            <a:r>
              <a:rPr lang="vi-VN" dirty="0" err="1"/>
              <a:t>vượt</a:t>
            </a:r>
            <a:r>
              <a:rPr lang="vi-VN" dirty="0"/>
              <a:t> </a:t>
            </a:r>
            <a:r>
              <a:rPr lang="vi-VN" dirty="0" err="1"/>
              <a:t>trội</a:t>
            </a:r>
            <a:r>
              <a:rPr lang="vi-VN" dirty="0"/>
              <a:t> </a:t>
            </a:r>
            <a:r>
              <a:rPr lang="vi-VN" dirty="0" err="1"/>
              <a:t>tuyệt</a:t>
            </a:r>
            <a:r>
              <a:rPr lang="vi-VN" dirty="0"/>
              <a:t> </a:t>
            </a:r>
            <a:r>
              <a:rPr lang="vi-VN" dirty="0" err="1"/>
              <a:t>đối</a:t>
            </a:r>
            <a:r>
              <a:rPr lang="vi-VN" dirty="0"/>
              <a:t> ở </a:t>
            </a:r>
            <a:r>
              <a:rPr lang="vi-VN" dirty="0" err="1"/>
              <a:t>mọi</a:t>
            </a:r>
            <a:r>
              <a:rPr lang="vi-VN" dirty="0"/>
              <a:t> </a:t>
            </a:r>
            <a:r>
              <a:rPr lang="vi-VN" dirty="0" err="1"/>
              <a:t>lần</a:t>
            </a:r>
            <a:r>
              <a:rPr lang="vi-VN" dirty="0"/>
              <a:t> </a:t>
            </a:r>
            <a:r>
              <a:rPr lang="vi-VN" dirty="0" err="1"/>
              <a:t>chạy</a:t>
            </a:r>
            <a:r>
              <a:rPr lang="vi-VN" dirty="0"/>
              <a:t>.</a:t>
            </a:r>
            <a:endParaRPr sz="1875" b="0" dirty="0">
              <a:solidFill>
                <a:srgbClr val="24251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A0D96CB-7855-4075-B278-B3FC0BA5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67" y="122813"/>
            <a:ext cx="1201186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Quay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lật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ảnh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giúp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mô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tốt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hơn qua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lần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vi-VN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kumimoji="0" lang="vi-VN" altLang="vi-V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308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540C7D2-213C-4FAB-AD69-286D8E431B61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Kết quả test của checkpoint đã chốt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A91BD7-B695-4C1D-8917-523CDFE3DFD5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2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8FCB9-9EF9-4DE1-8DCA-677B5579C62B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333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60,54%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9E5601-E0A3-48FF-ACC9-6ED64E542311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Macro-F1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658E9-D8CF-4502-9718-0748BEECFFEB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333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76,43%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E76855-0180-41D5-8FD4-183F09EC11EE}"/>
              </a:ext>
            </a:extLst>
          </p:cNvPr>
          <p:cNvSpPr>
            <a:spLocks noGrp="1"/>
          </p:cNvSpPr>
          <p:nvPr/>
        </p:nvSpPr>
        <p:spPr>
          <a:xfrm>
            <a:off x="4476750" y="304800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Accuracy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0E6107-0E65-4493-B253-49834D065200}"/>
              </a:ext>
            </a:extLst>
          </p:cNvPr>
          <p:cNvSpPr>
            <a:spLocks noGrp="1"/>
          </p:cNvSpPr>
          <p:nvPr/>
        </p:nvSpPr>
        <p:spPr>
          <a:xfrm>
            <a:off x="8382000" y="1952625"/>
            <a:ext cx="333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4500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58,85%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594457-85E0-4C96-A2ED-C31E27E778FA}"/>
              </a:ext>
            </a:extLst>
          </p:cNvPr>
          <p:cNvSpPr>
            <a:spLocks noGrp="1"/>
          </p:cNvSpPr>
          <p:nvPr/>
        </p:nvSpPr>
        <p:spPr>
          <a:xfrm>
            <a:off x="8382000" y="304800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Balanced accuracy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8E0427-F953-4D11-B121-9DE7BB784AD1}"/>
              </a:ext>
            </a:extLst>
          </p:cNvPr>
          <p:cNvSpPr>
            <a:spLocks noGrp="1"/>
          </p:cNvSpPr>
          <p:nvPr/>
        </p:nvSpPr>
        <p:spPr>
          <a:xfrm>
            <a:off x="552450" y="4429125"/>
            <a:ext cx="11049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5.065 ảnh test nội bộ: 3.871 đúng, 1.194 sai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6BD74B-19E7-46B3-A381-2600A5DBDD67}"/>
              </a:ext>
            </a:extLst>
          </p:cNvPr>
          <p:cNvSpPr>
            <a:spLocks noGrp="1"/>
          </p:cNvSpPr>
          <p:nvPr/>
        </p:nvSpPr>
        <p:spPr>
          <a:xfrm>
            <a:off x="523875" y="5253037"/>
            <a:ext cx="10810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T02B seed 42, checkpoint epoch 14</a:t>
            </a:r>
            <a:r>
              <a:rPr lang="vi-VN" sz="2000" b="1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.</a:t>
            </a:r>
            <a:endParaRPr sz="2000" b="1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63890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835635-88B7-4AD9-ABC6-8417500D6331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Checkpoint tốt nhất theo macro-F1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639C3-05F0-4A0D-B932-46FDA743650D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3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D83FCB-14D1-4057-B12C-9003A2697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528754"/>
            <a:ext cx="11144250" cy="32766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552716-95FD-4B73-BC6F-613CD4F5E4E1}"/>
              </a:ext>
            </a:extLst>
          </p:cNvPr>
          <p:cNvSpPr>
            <a:spLocks noGrp="1"/>
          </p:cNvSpPr>
          <p:nvPr/>
        </p:nvSpPr>
        <p:spPr>
          <a:xfrm>
            <a:off x="552450" y="5191125"/>
            <a:ext cx="1104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Val loss </a:t>
            </a:r>
            <a:r>
              <a:rPr sz="2100" b="1" dirty="0" err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thấp</a:t>
            </a:r>
            <a:r>
              <a:rPr sz="21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nhất</a:t>
            </a:r>
            <a:r>
              <a:rPr sz="21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: epoch 4     Checkpoint macro-F1: epoch 14</a:t>
            </a:r>
            <a:endParaRPr lang="vi-VN" sz="2100" b="1" dirty="0">
              <a:solidFill>
                <a:srgbClr val="A4544B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0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endParaRPr sz="2100" b="1" dirty="0">
              <a:solidFill>
                <a:srgbClr val="A4544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F8292-7AB6-4CD9-A2D8-55632A74ED9D}"/>
              </a:ext>
            </a:extLst>
          </p:cNvPr>
          <p:cNvSpPr>
            <a:spLocks noGrp="1"/>
          </p:cNvSpPr>
          <p:nvPr/>
        </p:nvSpPr>
        <p:spPr>
          <a:xfrm>
            <a:off x="590550" y="5662605"/>
            <a:ext cx="10810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Tối</a:t>
            </a:r>
            <a:r>
              <a:rPr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đa</a:t>
            </a:r>
            <a:r>
              <a:rPr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16 epoch. </a:t>
            </a:r>
            <a:r>
              <a:rPr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Dấu</a:t>
            </a:r>
            <a:r>
              <a:rPr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hiệu</a:t>
            </a:r>
            <a:r>
              <a:rPr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quá</a:t>
            </a:r>
            <a:r>
              <a:rPr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khớp</a:t>
            </a:r>
            <a:r>
              <a:rPr lang="vi-VN"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(</a:t>
            </a:r>
            <a:r>
              <a:rPr lang="vi-VN"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Overfitting</a:t>
            </a:r>
            <a:r>
              <a:rPr lang="vi-VN"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) </a:t>
            </a:r>
            <a:r>
              <a:rPr lang="vi-VN"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về</a:t>
            </a:r>
            <a:r>
              <a:rPr lang="vi-VN"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vi-VN"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mặt</a:t>
            </a:r>
            <a:r>
              <a:rPr lang="vi-VN"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vi-VN"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hàm</a:t>
            </a:r>
            <a:r>
              <a:rPr lang="vi-VN"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vi-VN"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mất</a:t>
            </a:r>
            <a:r>
              <a:rPr lang="vi-VN"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vi-VN" sz="2000" b="0" dirty="0" err="1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mát</a:t>
            </a:r>
            <a:r>
              <a:rPr lang="vi-VN" sz="200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lang="vi-VN" sz="2000" dirty="0"/>
              <a:t>Mô </a:t>
            </a:r>
            <a:r>
              <a:rPr lang="vi-VN" sz="2000" dirty="0" err="1"/>
              <a:t>hình</a:t>
            </a:r>
            <a:r>
              <a:rPr lang="vi-VN" sz="2000" dirty="0"/>
              <a:t> </a:t>
            </a:r>
            <a:r>
              <a:rPr lang="vi-VN" sz="2000" dirty="0" err="1"/>
              <a:t>học</a:t>
            </a:r>
            <a:r>
              <a:rPr lang="vi-VN" sz="2000" dirty="0"/>
              <a:t> </a:t>
            </a:r>
            <a:r>
              <a:rPr lang="vi-VN" sz="2000" dirty="0" err="1"/>
              <a:t>quá</a:t>
            </a:r>
            <a:r>
              <a:rPr lang="vi-VN" sz="2000" dirty="0"/>
              <a:t> </a:t>
            </a:r>
            <a:r>
              <a:rPr lang="vi-VN" sz="2000" dirty="0" err="1"/>
              <a:t>kỹ</a:t>
            </a:r>
            <a:r>
              <a:rPr lang="vi-VN" sz="2000" dirty="0"/>
              <a:t> </a:t>
            </a:r>
            <a:r>
              <a:rPr lang="vi-VN" sz="2000" dirty="0" err="1"/>
              <a:t>tập</a:t>
            </a:r>
            <a:r>
              <a:rPr lang="vi-VN" sz="2000" dirty="0"/>
              <a:t> </a:t>
            </a:r>
            <a:r>
              <a:rPr lang="vi-VN" sz="2000" dirty="0" err="1"/>
              <a:t>Train</a:t>
            </a:r>
            <a:r>
              <a:rPr lang="vi-VN" sz="2000" dirty="0"/>
              <a:t> </a:t>
            </a:r>
            <a:r>
              <a:rPr lang="vi-VN" sz="2000" dirty="0" err="1"/>
              <a:t>khiến</a:t>
            </a:r>
            <a:r>
              <a:rPr lang="vi-VN" sz="2000" dirty="0"/>
              <a:t> </a:t>
            </a:r>
            <a:r>
              <a:rPr lang="vi-VN" sz="2000" dirty="0" err="1"/>
              <a:t>độ</a:t>
            </a:r>
            <a:r>
              <a:rPr lang="vi-VN" sz="2000" dirty="0"/>
              <a:t> </a:t>
            </a:r>
            <a:r>
              <a:rPr lang="vi-VN" sz="2000" dirty="0" err="1"/>
              <a:t>lỗi</a:t>
            </a:r>
            <a:r>
              <a:rPr lang="vi-VN" sz="2000" dirty="0"/>
              <a:t> trên </a:t>
            </a:r>
            <a:r>
              <a:rPr lang="vi-VN" sz="2000" dirty="0" err="1"/>
              <a:t>tập</a:t>
            </a:r>
            <a:r>
              <a:rPr lang="vi-VN" sz="2000" dirty="0"/>
              <a:t> </a:t>
            </a:r>
            <a:r>
              <a:rPr lang="vi-VN" sz="2000" dirty="0" err="1"/>
              <a:t>Validation</a:t>
            </a:r>
            <a:r>
              <a:rPr lang="vi-VN" sz="2000" dirty="0"/>
              <a:t> </a:t>
            </a:r>
            <a:r>
              <a:rPr lang="vi-VN" sz="2000" dirty="0" err="1"/>
              <a:t>bắt</a:t>
            </a:r>
            <a:r>
              <a:rPr lang="vi-VN" sz="2000" dirty="0"/>
              <a:t> </a:t>
            </a:r>
            <a:r>
              <a:rPr lang="vi-VN" sz="2000" dirty="0" err="1"/>
              <a:t>đầu</a:t>
            </a:r>
            <a:r>
              <a:rPr lang="vi-VN" sz="2000" dirty="0"/>
              <a:t> tăng </a:t>
            </a:r>
            <a:r>
              <a:rPr lang="vi-VN" sz="2000" dirty="0" err="1"/>
              <a:t>ngược</a:t>
            </a:r>
            <a:r>
              <a:rPr lang="vi-VN" sz="2000" dirty="0"/>
              <a:t> </a:t>
            </a:r>
            <a:r>
              <a:rPr lang="vi-VN" sz="2000" dirty="0" err="1"/>
              <a:t>lại</a:t>
            </a:r>
            <a:r>
              <a:rPr lang="vi-VN" sz="2400" dirty="0"/>
              <a:t>.</a:t>
            </a:r>
            <a:endParaRPr sz="200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355191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351458-C4CA-45F2-8A0D-9C51FFC89350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lang="vi-VN" dirty="0"/>
              <a:t>Phân </a:t>
            </a:r>
            <a:r>
              <a:rPr lang="vi-VN" dirty="0" err="1"/>
              <a:t>tích</a:t>
            </a:r>
            <a:r>
              <a:rPr lang="vi-VN" dirty="0"/>
              <a:t> ma </a:t>
            </a:r>
            <a:r>
              <a:rPr lang="vi-VN" dirty="0" err="1"/>
              <a:t>trận</a:t>
            </a:r>
            <a:r>
              <a:rPr lang="vi-VN" dirty="0"/>
              <a:t> </a:t>
            </a:r>
            <a:r>
              <a:rPr lang="vi-VN" dirty="0" err="1"/>
              <a:t>nhầm</a:t>
            </a:r>
            <a:r>
              <a:rPr lang="vi-VN" dirty="0"/>
              <a:t> </a:t>
            </a:r>
            <a:r>
              <a:rPr lang="vi-VN" dirty="0" err="1"/>
              <a:t>lẫn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cụm</a:t>
            </a:r>
            <a:r>
              <a:rPr lang="vi-VN" dirty="0"/>
              <a:t> </a:t>
            </a:r>
            <a:r>
              <a:rPr lang="vi-VN" dirty="0" err="1"/>
              <a:t>lỗi</a:t>
            </a:r>
            <a:r>
              <a:rPr lang="vi-VN" dirty="0"/>
              <a:t>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nội</a:t>
            </a:r>
            <a:r>
              <a:rPr lang="vi-VN" dirty="0"/>
              <a:t> </a:t>
            </a:r>
            <a:r>
              <a:rPr lang="vi-VN" dirty="0" err="1"/>
              <a:t>bộ</a:t>
            </a:r>
            <a:endParaRPr sz="3000" b="1" dirty="0">
              <a:solidFill>
                <a:srgbClr val="24251F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862CC2-D012-4FF6-A47C-E8CD6FF82370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4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57DAF5-E2C9-47E1-8724-FAEC6CE0B986}"/>
              </a:ext>
            </a:extLst>
          </p:cNvPr>
          <p:cNvSpPr>
            <a:spLocks noGrp="1"/>
          </p:cNvSpPr>
          <p:nvPr/>
        </p:nvSpPr>
        <p:spPr>
          <a:xfrm>
            <a:off x="955608" y="1161047"/>
            <a:ext cx="590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lang="vi-VN" sz="180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Ma </a:t>
            </a:r>
            <a:r>
              <a:rPr lang="vi-VN" sz="1800" b="0" dirty="0" err="1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trận</a:t>
            </a:r>
            <a:r>
              <a:rPr lang="vi-VN" sz="1800" b="0" dirty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 thương quan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1D537C-632F-40B3-A35C-2C060C6B0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08" y="1528913"/>
            <a:ext cx="10025940" cy="4168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0F2156-1254-4C07-B228-DE0E5A16F896}"/>
              </a:ext>
            </a:extLst>
          </p:cNvPr>
          <p:cNvSpPr txBox="1"/>
          <p:nvPr/>
        </p:nvSpPr>
        <p:spPr>
          <a:xfrm>
            <a:off x="2535570" y="5696953"/>
            <a:ext cx="6657473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75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r>
              <a:rPr lang="vi-VN" sz="18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MEL </a:t>
            </a:r>
            <a:r>
              <a:rPr lang="vi-VN" sz="1800" b="1" dirty="0" err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thành</a:t>
            </a:r>
            <a:r>
              <a:rPr lang="vi-VN" sz="18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 NV: 281 </a:t>
            </a:r>
            <a:r>
              <a:rPr lang="vi-VN" sz="1800" b="1" dirty="0" err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ảnh</a:t>
            </a:r>
            <a:r>
              <a:rPr lang="vi-VN" dirty="0"/>
              <a:t>  </a:t>
            </a:r>
            <a:r>
              <a:rPr lang="vi-VN" sz="18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AK </a:t>
            </a:r>
            <a:r>
              <a:rPr lang="vi-VN" sz="1800" b="1" dirty="0" err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thành</a:t>
            </a:r>
            <a:r>
              <a:rPr lang="vi-VN" sz="1800" b="1" dirty="0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 BCC: 40 </a:t>
            </a:r>
            <a:r>
              <a:rPr lang="vi-VN" sz="1800" b="1" dirty="0" err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ảnh</a:t>
            </a:r>
            <a:endParaRPr lang="vi-VN" sz="1800" b="1" dirty="0">
              <a:solidFill>
                <a:srgbClr val="A4544B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54388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3FB903-F59C-418E-BBBD-03470349BA23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Demo một ảnh đúng và một ảnh sai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EB4A85-F141-4D3B-BC9C-57F08D804030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5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96B4E3-9E72-4C61-B9FA-4FB1A5AC9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914525"/>
            <a:ext cx="5429250" cy="2171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7F90E6-84C4-47A2-BB70-D987F69A3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38875" y="1914525"/>
            <a:ext cx="5429250" cy="2171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42B130-9C0D-416F-B51E-34D69E773113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88575"/>
                </a:solidFill>
                <a:latin typeface="DejaVu Sans"/>
                <a:ea typeface="DejaVu Sans"/>
                <a:cs typeface="DejaVu Sans"/>
              </a:rPr>
              <a:t>NV dự đoán NV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E21F28-8DB5-4AD0-AF48-33C19D4B2B6A}"/>
              </a:ext>
            </a:extLst>
          </p:cNvPr>
          <p:cNvSpPr>
            <a:spLocks noGrp="1"/>
          </p:cNvSpPr>
          <p:nvPr/>
        </p:nvSpPr>
        <p:spPr>
          <a:xfrm>
            <a:off x="6238875" y="4810125"/>
            <a:ext cx="5429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4544B"/>
                </a:solidFill>
                <a:latin typeface="DejaVu Sans"/>
                <a:ea typeface="DejaVu Sans"/>
                <a:cs typeface="DejaVu Sans"/>
              </a:rPr>
              <a:t>NV dự đoán BKL, softmax 95,06%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3B988B-B92F-4EED-92BE-3A2D1E8841D5}"/>
              </a:ext>
            </a:extLst>
          </p:cNvPr>
          <p:cNvSpPr>
            <a:spLocks noGrp="1"/>
          </p:cNvSpPr>
          <p:nvPr/>
        </p:nvSpPr>
        <p:spPr>
          <a:xfrm>
            <a:off x="552450" y="5886450"/>
            <a:ext cx="10810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Demo ảnh validation. Giữ train/test tắt. Softmax cao chưa bảo đảm dự đoán đúng.</a:t>
            </a:r>
          </a:p>
        </p:txBody>
      </p:sp>
    </p:spTree>
    <p:extLst>
      <p:ext uri="{BB962C8B-B14F-4D97-AF65-F5344CB8AC3E}">
        <p14:creationId xmlns:p14="http://schemas.microsoft.com/office/powerpoint/2010/main" val="57932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1AAB71-4CAA-4206-824F-1B947404D8AA}"/>
              </a:ext>
            </a:extLst>
          </p:cNvPr>
          <p:cNvSpPr>
            <a:spLocks noGrp="1"/>
          </p:cNvSpPr>
          <p:nvPr/>
        </p:nvSpPr>
        <p:spPr>
          <a:xfrm>
            <a:off x="552450" y="1872915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Giới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hạn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và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hướng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nghiên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cứu</a:t>
            </a:r>
            <a:r>
              <a:rPr sz="3000" b="1" dirty="0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000" b="1" dirty="0" err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tiếp</a:t>
            </a:r>
            <a:endParaRPr sz="3000" b="1" dirty="0">
              <a:solidFill>
                <a:srgbClr val="24251F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82FBC6-D146-4B91-BAA0-EA8E3A24086F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vi-VN" sz="1350" b="0" dirty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6</a:t>
            </a:r>
            <a:endParaRPr sz="1350" b="0" dirty="0">
              <a:solidFill>
                <a:srgbClr val="62635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9AA32F-D938-4797-AEAF-E084494E392A}"/>
              </a:ext>
            </a:extLst>
          </p:cNvPr>
          <p:cNvSpPr>
            <a:spLocks noGrp="1"/>
          </p:cNvSpPr>
          <p:nvPr/>
        </p:nvSpPr>
        <p:spPr>
          <a:xfrm>
            <a:off x="552450" y="320641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Dữ liệu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D8E721-344F-43C4-8581-C74D250F851D}"/>
              </a:ext>
            </a:extLst>
          </p:cNvPr>
          <p:cNvSpPr>
            <a:spLocks noGrp="1"/>
          </p:cNvSpPr>
          <p:nvPr/>
        </p:nvSpPr>
        <p:spPr>
          <a:xfrm>
            <a:off x="552450" y="3825540"/>
            <a:ext cx="3333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Thiếu định danh bệnh nhân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Thiếu một phần lesion_id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Ảnh gần trùng chưa loại hết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5A6FE5-44DD-4947-B301-4073CB2A5680}"/>
              </a:ext>
            </a:extLst>
          </p:cNvPr>
          <p:cNvSpPr>
            <a:spLocks noGrp="1"/>
          </p:cNvSpPr>
          <p:nvPr/>
        </p:nvSpPr>
        <p:spPr>
          <a:xfrm>
            <a:off x="4457700" y="320641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Thực nghiệm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809321-CB8D-44C6-A399-CDD0F7729609}"/>
              </a:ext>
            </a:extLst>
          </p:cNvPr>
          <p:cNvSpPr>
            <a:spLocks noGrp="1"/>
          </p:cNvSpPr>
          <p:nvPr/>
        </p:nvSpPr>
        <p:spPr>
          <a:xfrm>
            <a:off x="4457700" y="3825540"/>
            <a:ext cx="3333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Phần lớn một seed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Ngân sách tối đa 16 epoch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Tái dùng validation nhiều lần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29EBD-5649-41FB-B38F-330A2979527B}"/>
              </a:ext>
            </a:extLst>
          </p:cNvPr>
          <p:cNvSpPr>
            <a:spLocks noGrp="1"/>
          </p:cNvSpPr>
          <p:nvPr/>
        </p:nvSpPr>
        <p:spPr>
          <a:xfrm>
            <a:off x="8362950" y="3206415"/>
            <a:ext cx="3286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defRPr>
            </a:pPr>
            <a:r>
              <a:rPr sz="2175" b="1">
                <a:solidFill>
                  <a:srgbClr val="A4544B"/>
                </a:solidFill>
                <a:latin typeface="DejaVu Serif"/>
                <a:ea typeface="DejaVu Serif"/>
                <a:cs typeface="DejaVu Serif"/>
              </a:rPr>
              <a:t>Phạm vi sử dụng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3A90C1-D047-497C-A578-CB54B5CFBBFF}"/>
              </a:ext>
            </a:extLst>
          </p:cNvPr>
          <p:cNvSpPr>
            <a:spLocks noGrp="1"/>
          </p:cNvSpPr>
          <p:nvPr/>
        </p:nvSpPr>
        <p:spPr>
          <a:xfrm>
            <a:off x="8362950" y="3825540"/>
            <a:ext cx="32861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Test đã được xem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Softmax chưa hiệu chuẩn</a:t>
            </a:r>
          </a:p>
          <a:p>
            <a:pPr>
              <a:def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251F"/>
                </a:solidFill>
                <a:latin typeface="DejaVu Sans"/>
                <a:ea typeface="DejaVu Sans"/>
                <a:cs typeface="DejaVu Sans"/>
              </a:rPr>
              <a:t>Chưa kiểm chứng lâm sàng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3E2247-81D2-4FD6-8E46-241670FB60E1}"/>
              </a:ext>
            </a:extLst>
          </p:cNvPr>
          <p:cNvSpPr>
            <a:spLocks noGrp="1"/>
          </p:cNvSpPr>
          <p:nvPr/>
        </p:nvSpPr>
        <p:spPr>
          <a:xfrm>
            <a:off x="547687" y="666248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 marL="0" marR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4400" dirty="0" err="1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Kết</a:t>
            </a:r>
            <a:r>
              <a:rPr lang="en-US" sz="4400" dirty="0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luận</a:t>
            </a:r>
            <a:r>
              <a:rPr lang="en-US" sz="4400" dirty="0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và</a:t>
            </a:r>
            <a:r>
              <a:rPr lang="en-US" sz="4400" dirty="0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hướng</a:t>
            </a:r>
            <a:r>
              <a:rPr lang="en-US" sz="4400" dirty="0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phát</a:t>
            </a:r>
            <a:r>
              <a:rPr lang="en-US" sz="4400" dirty="0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rgbClr val="24251F"/>
                </a:solidFill>
                <a:effectLst/>
                <a:ea typeface="Arial" panose="020B0604020202020204" pitchFamily="34" charset="0"/>
              </a:rPr>
              <a:t>triển</a:t>
            </a:r>
            <a:endParaRPr lang="vi-VN" sz="4400" dirty="0">
              <a:solidFill>
                <a:srgbClr val="24251F"/>
              </a:solidFill>
              <a:effectLst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805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DE5F01F-6371-456C-B8AB-DC59F057E246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pPr>
            <a:r>
              <a:rPr sz="3200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Kết</a:t>
            </a:r>
            <a:r>
              <a:rPr sz="3200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200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luận</a:t>
            </a:r>
            <a:r>
              <a:rPr sz="3200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: </a:t>
            </a:r>
            <a:r>
              <a:rPr sz="3200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giữ</a:t>
            </a:r>
            <a:r>
              <a:rPr sz="3200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T02B </a:t>
            </a:r>
            <a:r>
              <a:rPr sz="3200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theo</a:t>
            </a:r>
            <a:r>
              <a:rPr sz="3200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200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bằng</a:t>
            </a:r>
            <a:r>
              <a:rPr sz="3200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200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chứng</a:t>
            </a:r>
            <a:r>
              <a:rPr sz="3200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200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hiện</a:t>
            </a:r>
            <a:r>
              <a:rPr sz="3200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200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có</a:t>
            </a:r>
            <a:endParaRPr sz="3200" b="1" dirty="0">
              <a:solidFill>
                <a:schemeClr val="tx1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488FE-A866-4F1A-9B54-A73BA3CE6688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BAA78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vi-VN" sz="1350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7</a:t>
            </a:r>
            <a:endParaRPr sz="1350" b="0" dirty="0">
              <a:solidFill>
                <a:schemeClr val="tx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E21959-8D0E-41A8-AD3E-AF41EF63CDE4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11717522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225" b="1">
                <a:solidFill>
                  <a:srgbClr val="FAF8EF"/>
                </a:solidFill>
                <a:latin typeface="DejaVu Serif"/>
                <a:ea typeface="DejaVu Serif"/>
                <a:cs typeface="DejaVu Serif"/>
              </a:defRPr>
            </a:pPr>
            <a:r>
              <a:rPr sz="32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Giữ</a:t>
            </a:r>
            <a:r>
              <a:rPr sz="32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T02B</a:t>
            </a:r>
            <a:r>
              <a:rPr lang="vi-VN" sz="32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: </a:t>
            </a:r>
            <a:r>
              <a:rPr lang="vi-VN" dirty="0">
                <a:solidFill>
                  <a:schemeClr val="tx1"/>
                </a:solidFill>
              </a:rPr>
              <a:t>ResNet50 + Tăng </a:t>
            </a:r>
            <a:r>
              <a:rPr lang="vi-VN" dirty="0" err="1">
                <a:solidFill>
                  <a:schemeClr val="tx1"/>
                </a:solidFill>
              </a:rPr>
              <a:t>cường</a:t>
            </a:r>
            <a:r>
              <a:rPr lang="vi-VN" dirty="0">
                <a:solidFill>
                  <a:schemeClr val="tx1"/>
                </a:solidFill>
              </a:rPr>
              <a:t> </a:t>
            </a:r>
            <a:r>
              <a:rPr lang="vi-VN" dirty="0" err="1">
                <a:solidFill>
                  <a:schemeClr val="tx1"/>
                </a:solidFill>
              </a:rPr>
              <a:t>ảnh</a:t>
            </a:r>
            <a:r>
              <a:rPr lang="vi-VN" dirty="0">
                <a:solidFill>
                  <a:schemeClr val="tx1"/>
                </a:solidFill>
              </a:rPr>
              <a:t> D4 + </a:t>
            </a:r>
            <a:r>
              <a:rPr lang="vi-VN" dirty="0" err="1">
                <a:solidFill>
                  <a:schemeClr val="tx1"/>
                </a:solidFill>
              </a:rPr>
              <a:t>Cross-Entropy</a:t>
            </a:r>
            <a:r>
              <a:rPr lang="vi-VN" dirty="0">
                <a:solidFill>
                  <a:schemeClr val="tx1"/>
                </a:solidFill>
              </a:rPr>
              <a:t> </a:t>
            </a:r>
            <a:r>
              <a:rPr lang="vi-VN" dirty="0" err="1">
                <a:solidFill>
                  <a:schemeClr val="tx1"/>
                </a:solidFill>
              </a:rPr>
              <a:t>thường</a:t>
            </a:r>
            <a:r>
              <a:rPr sz="32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br>
              <a:rPr lang="vi-VN" sz="32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</a:br>
            <a:r>
              <a:rPr sz="32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trong</a:t>
            </a:r>
            <a:r>
              <a:rPr sz="32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2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phạm</a:t>
            </a:r>
            <a:r>
              <a:rPr sz="32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vi </a:t>
            </a:r>
            <a:r>
              <a:rPr sz="32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bằng</a:t>
            </a:r>
            <a:r>
              <a:rPr sz="32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2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chứng</a:t>
            </a:r>
            <a:r>
              <a:rPr sz="32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2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hiện</a:t>
            </a:r>
            <a:r>
              <a:rPr sz="3225" b="1" dirty="0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 </a:t>
            </a:r>
            <a:r>
              <a:rPr sz="3225" b="1" dirty="0" err="1">
                <a:solidFill>
                  <a:schemeClr val="tx1"/>
                </a:solidFill>
                <a:latin typeface="DejaVu Serif"/>
                <a:ea typeface="DejaVu Serif"/>
                <a:cs typeface="DejaVu Serif"/>
              </a:rPr>
              <a:t>có</a:t>
            </a:r>
            <a:endParaRPr sz="3225" b="1" dirty="0">
              <a:solidFill>
                <a:schemeClr val="tx1"/>
              </a:solidFill>
              <a:latin typeface="DejaVu Serif"/>
              <a:ea typeface="DejaVu Serif"/>
              <a:cs typeface="DejaVu Serif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32F674-1AC8-430A-97EA-1869B3AE2FB2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10953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Đã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kiểm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dữ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liệu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và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lập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đối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chứng</a:t>
            </a:r>
            <a:endParaRPr sz="2175" b="0" dirty="0">
              <a:solidFill>
                <a:schemeClr val="tx1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Đã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thử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tiền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xử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lý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, loss, sampling, </a:t>
            </a:r>
            <a:r>
              <a:rPr lang="vi-VN" dirty="0" err="1">
                <a:solidFill>
                  <a:schemeClr val="tx1"/>
                </a:solidFill>
              </a:rPr>
              <a:t>Learning</a:t>
            </a:r>
            <a:r>
              <a:rPr lang="vi-VN" dirty="0">
                <a:solidFill>
                  <a:schemeClr val="tx1"/>
                </a:solidFill>
              </a:rPr>
              <a:t> </a:t>
            </a:r>
            <a:r>
              <a:rPr lang="vi-VN" dirty="0" err="1">
                <a:solidFill>
                  <a:schemeClr val="tx1"/>
                </a:solidFill>
              </a:rPr>
              <a:t>Rate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và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backbone</a:t>
            </a:r>
          </a:p>
          <a:p>
            <a:pPr>
              <a:defRPr sz="2175" b="0">
                <a:solidFill>
                  <a:srgbClr val="D9D7C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Đã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xác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nhận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D4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bằng</a:t>
            </a:r>
            <a:r>
              <a:rPr sz="217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 seed </a:t>
            </a:r>
            <a:r>
              <a:rPr sz="2175" b="0" dirty="0" err="1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mới</a:t>
            </a:r>
            <a:endParaRPr sz="2175" b="0" dirty="0">
              <a:solidFill>
                <a:schemeClr val="tx1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073612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60C46A-4D6D-436F-BC79-33F7D13B8879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Phụ lục A · Khảo sát ResNet18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FDC2E8-497D-4EFD-BB4C-78ED8B291214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B94E67-7A13-410F-8B56-F6A40B280A2A}"/>
              </a:ext>
            </a:extLst>
          </p:cNvPr>
          <p:cNvGraphicFramePr/>
          <p:nvPr/>
        </p:nvGraphicFramePr>
        <p:xfrm>
          <a:off x="523875" y="1381125"/>
          <a:ext cx="11144250" cy="4238628"/>
        </p:xfrm>
        <a:graphic>
          <a:graphicData uri="http://schemas.openxmlformats.org/drawingml/2006/table">
            <a:tbl>
              <a:tblPr/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5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5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5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21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Mã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Phương án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F1 %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ΔF1 pp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B00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Resize chuẩn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60,28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Giữ tỷ lệ và padding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59,05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-1,22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P02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Cắt viền gần đen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58,28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-2,00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P03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Khử lông bằng inpainting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P04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Shades of Gray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60,54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+0,27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P05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CLAHE trên Lab L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59,11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-1,17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P06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Gamma 0,9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60,11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-0,17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P07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Bilateral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58,35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-1,93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P08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Xử lý điểm phản sáng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59,48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-0,80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P09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Hiệu chỉnh sáng Gaussian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60,62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+0,34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32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P10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Crop </a:t>
                      </a:r>
                      <a:r>
                        <a:rPr sz="1500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theo</a:t>
                      </a:r>
                      <a:r>
                        <a:rPr sz="150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vùng</a:t>
                      </a:r>
                      <a:r>
                        <a:rPr sz="150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Otsu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652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0F9806-0C80-4E98-B6C0-62A11C623842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Phụ lục B · Cấu hình và phép so sánh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54C4B6-9AD6-4BC2-8D12-0E4F55FAEA9A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56F30D-4BCE-4D55-BA5C-AD53F2FC8103}"/>
              </a:ext>
            </a:extLst>
          </p:cNvPr>
          <p:cNvGraphicFramePr/>
          <p:nvPr/>
        </p:nvGraphicFramePr>
        <p:xfrm>
          <a:off x="523875" y="1381125"/>
          <a:ext cx="11144250" cy="4000504"/>
        </p:xfrm>
        <a:graphic>
          <a:graphicData uri="http://schemas.openxmlformats.org/drawingml/2006/table">
            <a:tbl>
              <a:tblPr/>
              <a:tblGrid>
                <a:gridCol w="272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Thành phần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T02B và thay đổi riêng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T02B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ResNet50, D4, CE thường, shuffle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AdamW / cosine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LR = WD = 10⁻⁴, T_max = 16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Dừng / checkpoint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Patience 4, macro-F1 &gt; best + 10⁻⁵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 theo 1/√n_train, validation CE thường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Lấy mẫu có hoàn lại, xác suất theo 1/n_train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LR backbone 10⁻⁵, fc 10⁻⁴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M01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EfficientNet-B0, một LR 10⁻⁴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516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FFA703-1200-4C4B-947D-6C9D5E254C7C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Phụ lục C · Bằng chứng thực nghiệm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E0117D-0EB4-4AF1-BABB-4596DC2C84CC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37C417-3DA5-4BF8-AB06-7B03FF2A3300}"/>
              </a:ext>
            </a:extLst>
          </p:cNvPr>
          <p:cNvGraphicFramePr/>
          <p:nvPr/>
        </p:nvGraphicFramePr>
        <p:xfrm>
          <a:off x="523875" y="1476375"/>
          <a:ext cx="11144250" cy="3476628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Công việc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Bằng chứng để mở khi cô hỏi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EDA và chống leakage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Manifest, phân bố lớp, audit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E01 / E02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Phân tích metadata, bảng quan sát 52 ảnh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P01–P10 và chiến lược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Cấu hình, history, predictions, bảng so sánh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R02 xác nhận D4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B00/T02B ở seed 43 và 44, bootstrap theo group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 checkpoint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Ảnh đúng/sai, bảng softmax, prediction.json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45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313F2E-7B71-4AFE-8413-E7C5FFAB49B3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096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defPPr>
            <a:lvl1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1pPr>
            <a:lvl2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2pPr>
            <a:lvl3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3pPr>
            <a:lvl4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4pPr>
            <a:lvl5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5pPr>
            <a:lvl6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6pPr>
            <a:lvl7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7pPr>
            <a:lvl8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8pPr>
            <a:lvl9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lvl9pPr>
          </a:lstStyle>
          <a:p>
            <a:pPr>
              <a:def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defRPr>
            </a:pPr>
            <a:r>
              <a:rPr sz="3000" b="1">
                <a:solidFill>
                  <a:srgbClr val="24251F"/>
                </a:solidFill>
                <a:latin typeface="DejaVu Serif"/>
                <a:ea typeface="DejaVu Serif"/>
                <a:cs typeface="DejaVu Serif"/>
              </a:rPr>
              <a:t>Phụ lục · Kiểm tra kỹ thuật trước huấn luyện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EAF6BB-BB9E-40A2-98D5-2BE9E59B9423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2ED79C-ABBA-4D00-A4BA-37F2EC9C89F7}"/>
              </a:ext>
            </a:extLst>
          </p:cNvPr>
          <p:cNvGraphicFramePr/>
          <p:nvPr/>
        </p:nvGraphicFramePr>
        <p:xfrm>
          <a:off x="523875" y="1476375"/>
          <a:ext cx="11144251" cy="3673160"/>
        </p:xfrm>
        <a:graphic>
          <a:graphicData uri="http://schemas.openxmlformats.org/drawingml/2006/table">
            <a:tbl>
              <a:tblPr/>
              <a:tblGrid>
                <a:gridCol w="278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Kiểm tra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Ý nghĩa và giới hạn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>
                      <a:solidFill>
                        <a:srgbClr val="D1D0C5"/>
                      </a:solidFill>
                      <a:prstDash val="soli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D6D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Preflight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Kiểm đúng nguồn, hình dạng và giá trị hữu hạn; chưa chứng minh cải thiện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Fallback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Giữ ảnh theo quy tắc; không xóa ảnh khỏi tập so sánh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SoG lệch 1–2 ULP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Không đổi pixel/mask ở 12 ảnh đã kiểm; không suy cho toàn train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Hash và predictions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Hash đúng không chứng minh nhãn đúng; metrics cần tính từ dự đoán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E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Notebook gọn</a:t>
                      </a:r>
                    </a:p>
                  </a:txBody>
                  <a:tcPr anchor="ctr">
                    <a:lnL w="5715">
                      <a:solidFill>
                        <a:srgbClr val="D1D0C5"/>
                      </a:solidFill>
                      <a:prstDash val="soli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51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Đã chạy báo cáo/demo; nhánh train chưa chạy trong phiên báo cáo</a:t>
                      </a:r>
                    </a:p>
                  </a:txBody>
                  <a:tcPr anchor="ctr">
                    <a:lnL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1D0C5"/>
                      </a:solidFill>
                      <a:prstDash val="solid"/>
                    </a:lnR>
                    <a:lnT w="5715" cap="flat" cmpd="sng" algn="ctr">
                      <a:solidFill>
                        <a:srgbClr val="D1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1D0C5"/>
                      </a:solidFill>
                      <a:prstDash val="solid"/>
                    </a:lnB>
                    <a:solidFill>
                      <a:srgbClr val="FAF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CD3FD01-A63D-49F3-8331-BB8C6F334B2A}"/>
              </a:ext>
            </a:extLst>
          </p:cNvPr>
          <p:cNvSpPr>
            <a:spLocks noGrp="1"/>
          </p:cNvSpPr>
          <p:nvPr/>
        </p:nvSpPr>
        <p:spPr>
          <a:xfrm>
            <a:off x="552450" y="5886450"/>
            <a:ext cx="10810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2635B"/>
                </a:solidFill>
                <a:latin typeface="DejaVu Sans"/>
                <a:ea typeface="DejaVu Sans"/>
                <a:cs typeface="DejaVu Sans"/>
              </a:rPr>
              <a:t>Nguồn: báo cáo Nhóm 8, mục 4.5, 5.5–5.6. Không quy giảm F1 cho clipping.</a:t>
            </a:r>
          </a:p>
        </p:txBody>
      </p:sp>
    </p:spTree>
    <p:extLst>
      <p:ext uri="{BB962C8B-B14F-4D97-AF65-F5344CB8AC3E}">
        <p14:creationId xmlns:p14="http://schemas.microsoft.com/office/powerpoint/2010/main" val="3277802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1564</Words>
  <Application>Microsoft Office PowerPoint</Application>
  <DocSecurity>0</DocSecurity>
  <PresentationFormat>Widescreen</PresentationFormat>
  <Paragraphs>327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DejaVu Sans</vt:lpstr>
      <vt:lpstr>DejaVu Serif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Nguyen TuanDuc</cp:lastModifiedBy>
  <cp:revision>13</cp:revision>
  <dcterms:created xsi:type="dcterms:W3CDTF">2026-10-27T16:42:15Z</dcterms:created>
  <dcterms:modified xsi:type="dcterms:W3CDTF">2026-10-28T09:13:11Z</dcterms:modified>
</cp:coreProperties>
</file>