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63" r:id="rId10"/>
    <p:sldId id="264" r:id="rId11"/>
    <p:sldId id="275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28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824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8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94807" y="580946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8B1E1E"/>
                </a:solidFill>
              </a:defRPr>
            </a:pPr>
            <a:r>
              <a:t>PHÂN HIỆU TRƯỜNG ĐẠI HỌC THỦY LỢI - BỘ MÔN CÔNG NGHỆ THÔNG TIN</a:t>
            </a:r>
          </a:p>
          <a:p>
            <a:pPr>
              <a:defRPr sz="1100" b="1">
                <a:solidFill>
                  <a:srgbClr val="5A5A5A"/>
                </a:solidFill>
              </a:defRPr>
            </a:pPr>
            <a:r>
              <a:t>BÁO CÁO BẢO VỆ ĐỒ ÁN MÔN HỌC: KHAI PHÁ DỮ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45775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1E1E"/>
                </a:solidFill>
                <a:latin typeface="Segoe UI"/>
              </a:defRPr>
            </a:pPr>
            <a:r>
              <a:t>PHÂN LOẠI TÁM NHÓM TỔN THƯƠNG DA</a:t>
            </a:r>
            <a:br/>
            <a:r>
              <a:t>TRÊN BỘ DỮ LIỆU ISIC 2019</a:t>
            </a:r>
          </a:p>
          <a:p>
            <a:pPr>
              <a:defRPr sz="1400" i="1">
                <a:solidFill>
                  <a:srgbClr val="222222"/>
                </a:solidFill>
                <a:latin typeface="Segoe UI"/>
              </a:defRPr>
            </a:pPr>
            <a:r>
              <a:t>Nghiên cứu tiền xử lý ảnh và chiến lược huấn luyện trong quy trình đánh giá có đối chứng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89120"/>
            <a:ext cx="10545775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4958164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2222"/>
                </a:solidFill>
              </a:defRPr>
            </a:pPr>
            <a:r>
              <a:rPr sz="1400" dirty="0"/>
              <a:t> </a:t>
            </a:r>
            <a:r>
              <a:rPr sz="1400" dirty="0" err="1"/>
              <a:t>Sinh</a:t>
            </a:r>
            <a:r>
              <a:rPr sz="1400" dirty="0"/>
              <a:t> </a:t>
            </a:r>
            <a:r>
              <a:rPr sz="1400" dirty="0" err="1"/>
              <a:t>viên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hiện</a:t>
            </a:r>
            <a:r>
              <a:rPr sz="1400" dirty="0"/>
              <a:t>:  </a:t>
            </a:r>
            <a:r>
              <a:rPr sz="1400" dirty="0" err="1"/>
              <a:t>Nguyễn</a:t>
            </a:r>
            <a:r>
              <a:rPr sz="1400" dirty="0"/>
              <a:t> </a:t>
            </a:r>
            <a:r>
              <a:rPr sz="1400" dirty="0" err="1"/>
              <a:t>Tuấn</a:t>
            </a:r>
            <a:r>
              <a:rPr sz="1400" dirty="0"/>
              <a:t> </a:t>
            </a:r>
            <a:r>
              <a:rPr sz="1400" dirty="0" err="1"/>
              <a:t>Đức</a:t>
            </a:r>
            <a:r>
              <a:rPr sz="1400" dirty="0"/>
              <a:t>    |    </a:t>
            </a:r>
            <a:r>
              <a:rPr sz="1400" dirty="0" err="1"/>
              <a:t>Mã</a:t>
            </a:r>
            <a:r>
              <a:rPr sz="1400" dirty="0"/>
              <a:t> </a:t>
            </a:r>
            <a:r>
              <a:rPr sz="1400" dirty="0" err="1"/>
              <a:t>số</a:t>
            </a:r>
            <a:r>
              <a:rPr sz="1400" dirty="0"/>
              <a:t> </a:t>
            </a:r>
            <a:r>
              <a:rPr sz="1400" dirty="0" err="1"/>
              <a:t>sinh</a:t>
            </a:r>
            <a:r>
              <a:rPr sz="1400" dirty="0"/>
              <a:t> </a:t>
            </a:r>
            <a:r>
              <a:rPr sz="1400" dirty="0" err="1"/>
              <a:t>viên</a:t>
            </a:r>
            <a:r>
              <a:rPr sz="1400" dirty="0"/>
              <a:t>: 2351067091    |    </a:t>
            </a:r>
            <a:r>
              <a:rPr sz="1400" dirty="0" err="1"/>
              <a:t>Lớp</a:t>
            </a:r>
            <a:r>
              <a:rPr sz="1400" dirty="0"/>
              <a:t>: S26-65CNTT </a:t>
            </a:r>
          </a:p>
          <a:p>
            <a:pPr>
              <a:defRPr sz="1300" b="1">
                <a:solidFill>
                  <a:srgbClr val="8B1E1E"/>
                </a:solidFill>
              </a:defRPr>
            </a:pPr>
            <a:r>
              <a:rPr sz="1400" dirty="0"/>
              <a:t> </a:t>
            </a:r>
            <a:r>
              <a:rPr sz="1600" dirty="0" err="1"/>
              <a:t>Giảng</a:t>
            </a:r>
            <a:r>
              <a:rPr sz="1600" dirty="0"/>
              <a:t> </a:t>
            </a:r>
            <a:r>
              <a:rPr sz="1600" dirty="0" err="1"/>
              <a:t>viên</a:t>
            </a:r>
            <a:r>
              <a:rPr sz="1600" dirty="0"/>
              <a:t> </a:t>
            </a:r>
            <a:r>
              <a:rPr sz="1600" dirty="0" err="1"/>
              <a:t>hướng</a:t>
            </a:r>
            <a:r>
              <a:rPr sz="1600" dirty="0"/>
              <a:t> </a:t>
            </a:r>
            <a:r>
              <a:rPr sz="1600" dirty="0" err="1"/>
              <a:t>dẫn</a:t>
            </a:r>
            <a:r>
              <a:rPr sz="1600" dirty="0"/>
              <a:t>: </a:t>
            </a:r>
            <a:r>
              <a:rPr sz="1600" dirty="0" err="1"/>
              <a:t>ThS</a:t>
            </a:r>
            <a:r>
              <a:rPr sz="1600" dirty="0"/>
              <a:t>. </a:t>
            </a:r>
            <a:r>
              <a:rPr sz="1600" dirty="0" err="1"/>
              <a:t>Vũ</a:t>
            </a:r>
            <a:r>
              <a:rPr sz="1600" dirty="0"/>
              <a:t> </a:t>
            </a:r>
            <a:r>
              <a:rPr sz="1600" dirty="0" err="1"/>
              <a:t>Thị</a:t>
            </a:r>
            <a:r>
              <a:rPr sz="1600" dirty="0"/>
              <a:t> </a:t>
            </a:r>
            <a:r>
              <a:rPr sz="1600" dirty="0" err="1"/>
              <a:t>Hạnh</a:t>
            </a:r>
            <a:endParaRPr sz="1600" dirty="0"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1/18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D17E8A-3FC3-4944-A469-D8E427F06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40" y="430530"/>
            <a:ext cx="895350" cy="1123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1: GIỚI THIỆU 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Phân Loại Tổn Thương Da &amp; Động Lực Y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 err="1"/>
              <a:t>Thông</a:t>
            </a:r>
            <a:r>
              <a:rPr dirty="0"/>
              <a:t> </a:t>
            </a:r>
            <a:r>
              <a:rPr dirty="0" err="1"/>
              <a:t>điệp</a:t>
            </a:r>
            <a:r>
              <a:rPr dirty="0"/>
              <a:t>: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thị</a:t>
            </a:r>
            <a:r>
              <a:rPr dirty="0"/>
              <a:t> </a:t>
            </a:r>
            <a:r>
              <a:rPr dirty="0" err="1"/>
              <a:t>giác</a:t>
            </a:r>
            <a:r>
              <a:rPr dirty="0"/>
              <a:t> </a:t>
            </a:r>
            <a:r>
              <a:rPr dirty="0" err="1"/>
              <a:t>máy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sàng</a:t>
            </a:r>
            <a:r>
              <a:rPr dirty="0"/>
              <a:t> </a:t>
            </a:r>
            <a:r>
              <a:rPr dirty="0" err="1"/>
              <a:t>lọc</a:t>
            </a:r>
            <a:r>
              <a:rPr dirty="0"/>
              <a:t> </a:t>
            </a:r>
            <a:r>
              <a:rPr dirty="0" err="1"/>
              <a:t>sớm</a:t>
            </a:r>
            <a:r>
              <a:rPr dirty="0"/>
              <a:t> </a:t>
            </a:r>
            <a:r>
              <a:rPr dirty="0" err="1"/>
              <a:t>tổn</a:t>
            </a:r>
            <a:r>
              <a:rPr dirty="0"/>
              <a:t> </a:t>
            </a:r>
            <a:r>
              <a:rPr dirty="0" err="1"/>
              <a:t>thương</a:t>
            </a:r>
            <a:r>
              <a:rPr dirty="0"/>
              <a:t> da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soi da </a:t>
            </a:r>
            <a:r>
              <a:rPr dirty="0" err="1"/>
              <a:t>dermoscopy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Y </a:t>
            </a:r>
            <a:r>
              <a:rPr dirty="0" err="1"/>
              <a:t>Tế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00600" cy="2416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Đầu</a:t>
            </a:r>
            <a:r>
              <a:rPr sz="1400" dirty="0"/>
              <a:t> </a:t>
            </a:r>
            <a:r>
              <a:rPr sz="1400" dirty="0" err="1"/>
              <a:t>vào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màu</a:t>
            </a:r>
            <a:r>
              <a:rPr sz="1400" b="0" dirty="0">
                <a:solidFill>
                  <a:srgbClr val="5A5A5A"/>
                </a:solidFill>
              </a:rPr>
              <a:t> soi da (</a:t>
            </a:r>
            <a:r>
              <a:rPr sz="1400" b="0" dirty="0" err="1">
                <a:solidFill>
                  <a:srgbClr val="5A5A5A"/>
                </a:solidFill>
              </a:rPr>
              <a:t>dermoscopy</a:t>
            </a:r>
            <a:r>
              <a:rPr sz="1400" b="0" dirty="0">
                <a:solidFill>
                  <a:srgbClr val="5A5A5A"/>
                </a:solidFill>
              </a:rPr>
              <a:t>)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phóng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quang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giúp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thấy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cấu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trúc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dưới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sừng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da.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Đầu</a:t>
            </a:r>
            <a:r>
              <a:rPr sz="1400" dirty="0"/>
              <a:t> ra: </a:t>
            </a:r>
            <a:r>
              <a:rPr sz="1400" b="0" dirty="0" err="1">
                <a:solidFill>
                  <a:srgbClr val="5A5A5A"/>
                </a:solidFill>
              </a:rPr>
              <a:t>Dự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đoán</a:t>
            </a:r>
            <a:r>
              <a:rPr sz="1400" b="0" dirty="0">
                <a:solidFill>
                  <a:srgbClr val="5A5A5A"/>
                </a:solidFill>
              </a:rPr>
              <a:t> 1 </a:t>
            </a:r>
            <a:r>
              <a:rPr sz="1400" b="0" dirty="0" err="1">
                <a:solidFill>
                  <a:srgbClr val="5A5A5A"/>
                </a:solidFill>
              </a:rPr>
              <a:t>trong</a:t>
            </a:r>
            <a:r>
              <a:rPr sz="1400" b="0" dirty="0">
                <a:solidFill>
                  <a:srgbClr val="5A5A5A"/>
                </a:solidFill>
              </a:rPr>
              <a:t> 8 </a:t>
            </a:r>
            <a:r>
              <a:rPr sz="1400" b="0" dirty="0" err="1">
                <a:solidFill>
                  <a:srgbClr val="5A5A5A"/>
                </a:solidFill>
              </a:rPr>
              <a:t>nhóm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lý</a:t>
            </a:r>
            <a:r>
              <a:rPr sz="1400" b="0" dirty="0">
                <a:solidFill>
                  <a:srgbClr val="5A5A5A"/>
                </a:solidFill>
              </a:rPr>
              <a:t> (Melanoma </a:t>
            </a:r>
            <a:r>
              <a:rPr sz="1400" b="0" dirty="0" err="1">
                <a:solidFill>
                  <a:srgbClr val="5A5A5A"/>
                </a:solidFill>
              </a:rPr>
              <a:t>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, Ung </a:t>
            </a:r>
            <a:r>
              <a:rPr sz="1400" b="0" dirty="0" err="1">
                <a:solidFill>
                  <a:srgbClr val="5A5A5A"/>
                </a:solidFill>
              </a:rPr>
              <a:t>thư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tế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đáy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Dày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sừng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...).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Vai</a:t>
            </a:r>
            <a:r>
              <a:rPr sz="1400" dirty="0"/>
              <a:t> </a:t>
            </a:r>
            <a:r>
              <a:rPr sz="1400" dirty="0" err="1"/>
              <a:t>trò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tế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Hỗ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sàng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lọc</a:t>
            </a:r>
            <a:r>
              <a:rPr sz="1400" b="0" dirty="0">
                <a:solidFill>
                  <a:srgbClr val="5A5A5A"/>
                </a:solidFill>
              </a:rPr>
              <a:t> ban </a:t>
            </a:r>
            <a:r>
              <a:rPr sz="1400" b="0" dirty="0" err="1">
                <a:solidFill>
                  <a:srgbClr val="5A5A5A"/>
                </a:solidFill>
              </a:rPr>
              <a:t>đầu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cảnh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báo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nguy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sớm</a:t>
            </a:r>
            <a:r>
              <a:rPr sz="1400" b="0" dirty="0">
                <a:solidFill>
                  <a:srgbClr val="5A5A5A"/>
                </a:solidFill>
              </a:rPr>
              <a:t>;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cả</a:t>
            </a:r>
            <a:r>
              <a:rPr sz="1400" b="0" dirty="0">
                <a:solidFill>
                  <a:srgbClr val="5A5A5A"/>
                </a:solidFill>
              </a:rPr>
              <a:t> 8 </a:t>
            </a:r>
            <a:r>
              <a:rPr sz="1400" b="0" dirty="0" err="1">
                <a:solidFill>
                  <a:srgbClr val="5A5A5A"/>
                </a:solidFill>
              </a:rPr>
              <a:t>nhóm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đều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Ranh</a:t>
            </a:r>
            <a:r>
              <a:rPr sz="1400" dirty="0"/>
              <a:t> </a:t>
            </a:r>
            <a:r>
              <a:rPr sz="1400" dirty="0" err="1"/>
              <a:t>giới</a:t>
            </a:r>
            <a:r>
              <a:rPr sz="1400" dirty="0"/>
              <a:t> </a:t>
            </a:r>
            <a:r>
              <a:rPr sz="1400" dirty="0" err="1"/>
              <a:t>chẩn</a:t>
            </a:r>
            <a:r>
              <a:rPr sz="1400" dirty="0"/>
              <a:t> </a:t>
            </a:r>
            <a:r>
              <a:rPr sz="1400" dirty="0" err="1"/>
              <a:t>đoán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AI </a:t>
            </a:r>
            <a:r>
              <a:rPr sz="1400" b="0" dirty="0" err="1">
                <a:solidFill>
                  <a:srgbClr val="5A5A5A"/>
                </a:solidFill>
              </a:rPr>
              <a:t>hỗ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sàng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chứ</a:t>
            </a:r>
            <a:r>
              <a:rPr sz="1400" b="0" dirty="0">
                <a:solidFill>
                  <a:srgbClr val="5A5A5A"/>
                </a:solidFill>
              </a:rPr>
              <a:t> KHÔNG </a:t>
            </a:r>
            <a:r>
              <a:rPr sz="1400" b="0" dirty="0" err="1">
                <a:solidFill>
                  <a:srgbClr val="5A5A5A"/>
                </a:solidFill>
              </a:rPr>
              <a:t>thay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thế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sinh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thiết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hay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sĩ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chuyên</a:t>
            </a:r>
            <a:r>
              <a:rPr sz="1400" b="0" dirty="0">
                <a:solidFill>
                  <a:srgbClr val="5A5A5A"/>
                </a:solidFill>
              </a:rPr>
              <a:t> khoa da </a:t>
            </a:r>
            <a:r>
              <a:rPr sz="1400" b="0" dirty="0" err="1">
                <a:solidFill>
                  <a:srgbClr val="5A5A5A"/>
                </a:solidFill>
              </a:rPr>
              <a:t>liễu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Thách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Thị</a:t>
            </a:r>
            <a:r>
              <a:rPr dirty="0"/>
              <a:t> </a:t>
            </a:r>
            <a:r>
              <a:rPr dirty="0" err="1"/>
              <a:t>Giác</a:t>
            </a:r>
            <a:r>
              <a:rPr dirty="0"/>
              <a:t> </a:t>
            </a:r>
            <a:r>
              <a:rPr dirty="0" err="1"/>
              <a:t>Cốt</a:t>
            </a:r>
            <a:r>
              <a:rPr dirty="0"/>
              <a:t> </a:t>
            </a:r>
            <a:r>
              <a:rPr dirty="0" err="1"/>
              <a:t>Lõi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Biến</a:t>
            </a:r>
            <a:r>
              <a:rPr sz="1400" dirty="0"/>
              <a:t> </a:t>
            </a:r>
            <a:r>
              <a:rPr sz="1400" dirty="0" err="1"/>
              <a:t>thiên</a:t>
            </a:r>
            <a:r>
              <a:rPr sz="1400" dirty="0"/>
              <a:t> </a:t>
            </a:r>
            <a:r>
              <a:rPr sz="1400" dirty="0" err="1"/>
              <a:t>nội</a:t>
            </a:r>
            <a:r>
              <a:rPr sz="1400" dirty="0"/>
              <a:t> </a:t>
            </a:r>
            <a:r>
              <a:rPr sz="1400" dirty="0" err="1"/>
              <a:t>lớp</a:t>
            </a:r>
            <a:r>
              <a:rPr sz="1400" dirty="0"/>
              <a:t> </a:t>
            </a:r>
            <a:r>
              <a:rPr sz="1400" dirty="0" err="1"/>
              <a:t>rất</a:t>
            </a:r>
            <a:r>
              <a:rPr sz="1400" dirty="0"/>
              <a:t> </a:t>
            </a:r>
            <a:r>
              <a:rPr sz="1400" dirty="0" err="1"/>
              <a:t>lớn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một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loại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(</a:t>
            </a:r>
            <a:r>
              <a:rPr sz="1400" b="0" dirty="0" err="1">
                <a:solidFill>
                  <a:srgbClr val="5A5A5A"/>
                </a:solidFill>
              </a:rPr>
              <a:t>ví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dụ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 NV) </a:t>
            </a:r>
            <a:r>
              <a:rPr sz="1400" b="0" dirty="0" err="1">
                <a:solidFill>
                  <a:srgbClr val="5A5A5A"/>
                </a:solidFill>
              </a:rPr>
              <a:t>nhưng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phẳng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gồ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ghề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màu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đen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hoặc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sẫm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tùy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địa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Tương</a:t>
            </a:r>
            <a:r>
              <a:rPr sz="1400" dirty="0"/>
              <a:t> </a:t>
            </a:r>
            <a:r>
              <a:rPr sz="1400" dirty="0" err="1"/>
              <a:t>đồng</a:t>
            </a:r>
            <a:r>
              <a:rPr sz="1400" dirty="0"/>
              <a:t> </a:t>
            </a:r>
            <a:r>
              <a:rPr sz="1400" dirty="0" err="1"/>
              <a:t>liên</a:t>
            </a:r>
            <a:r>
              <a:rPr sz="1400" dirty="0"/>
              <a:t> </a:t>
            </a:r>
            <a:r>
              <a:rPr sz="1400" dirty="0" err="1"/>
              <a:t>lớp</a:t>
            </a:r>
            <a:r>
              <a:rPr sz="1400" dirty="0"/>
              <a:t> </a:t>
            </a:r>
            <a:r>
              <a:rPr sz="1400" dirty="0" err="1"/>
              <a:t>rất</a:t>
            </a:r>
            <a:r>
              <a:rPr sz="1400" dirty="0"/>
              <a:t> </a:t>
            </a:r>
            <a:r>
              <a:rPr sz="1400" dirty="0" err="1"/>
              <a:t>cao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U </a:t>
            </a:r>
            <a:r>
              <a:rPr sz="1400" b="0" dirty="0" err="1">
                <a:solidFill>
                  <a:srgbClr val="5A5A5A"/>
                </a:solidFill>
              </a:rPr>
              <a:t>hắc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 (MEL) ở </a:t>
            </a:r>
            <a:r>
              <a:rPr sz="1400" b="0" dirty="0" err="1">
                <a:solidFill>
                  <a:srgbClr val="5A5A5A"/>
                </a:solidFill>
              </a:rPr>
              <a:t>giai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sớm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giống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 (NV) </a:t>
            </a:r>
            <a:r>
              <a:rPr sz="1400" b="0" dirty="0" err="1">
                <a:solidFill>
                  <a:srgbClr val="5A5A5A"/>
                </a:solidFill>
              </a:rPr>
              <a:t>hoặc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dày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sừng</a:t>
            </a:r>
            <a:r>
              <a:rPr sz="1400" b="0" dirty="0">
                <a:solidFill>
                  <a:srgbClr val="5A5A5A"/>
                </a:solidFill>
              </a:rPr>
              <a:t> (BKL).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Nhiễu</a:t>
            </a:r>
            <a:r>
              <a:rPr sz="1400" dirty="0"/>
              <a:t> </a:t>
            </a:r>
            <a:r>
              <a:rPr sz="1400" dirty="0" err="1"/>
              <a:t>thị</a:t>
            </a:r>
            <a:r>
              <a:rPr sz="1400" dirty="0"/>
              <a:t> </a:t>
            </a:r>
            <a:r>
              <a:rPr sz="1400" dirty="0" err="1"/>
              <a:t>giác</a:t>
            </a:r>
            <a:r>
              <a:rPr sz="1400" dirty="0"/>
              <a:t> </a:t>
            </a:r>
            <a:r>
              <a:rPr sz="1400" dirty="0" err="1"/>
              <a:t>phức</a:t>
            </a:r>
            <a:r>
              <a:rPr sz="1400" dirty="0"/>
              <a:t> </a:t>
            </a:r>
            <a:r>
              <a:rPr sz="1400" dirty="0" err="1"/>
              <a:t>tạp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chụp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lâm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sàng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bị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che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phủ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bởi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rậm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vết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dấu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thước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bọt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đen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tròn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ống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kính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Mất</a:t>
            </a:r>
            <a:r>
              <a:rPr sz="1400" dirty="0"/>
              <a:t> </a:t>
            </a:r>
            <a:r>
              <a:rPr sz="1400" dirty="0" err="1"/>
              <a:t>cân</a:t>
            </a:r>
            <a:r>
              <a:rPr sz="1400" dirty="0"/>
              <a:t> </a:t>
            </a:r>
            <a:r>
              <a:rPr sz="1400" dirty="0" err="1"/>
              <a:t>bằng</a:t>
            </a:r>
            <a:r>
              <a:rPr sz="1400" dirty="0"/>
              <a:t> </a:t>
            </a:r>
            <a:r>
              <a:rPr sz="1400" dirty="0" err="1"/>
              <a:t>mẫu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gặp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nhiều</a:t>
            </a:r>
            <a:r>
              <a:rPr sz="1400" b="0" dirty="0">
                <a:solidFill>
                  <a:srgbClr val="5A5A5A"/>
                </a:solidFill>
              </a:rPr>
              <a:t> (NV &gt; 50%),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hiếm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gặp</a:t>
            </a:r>
            <a:r>
              <a:rPr sz="1400" b="0" dirty="0">
                <a:solidFill>
                  <a:srgbClr val="5A5A5A"/>
                </a:solidFill>
              </a:rPr>
              <a:t> (VASC, DF &lt; 1%), </a:t>
            </a:r>
            <a:r>
              <a:rPr sz="1400" b="0" dirty="0" err="1">
                <a:solidFill>
                  <a:srgbClr val="5A5A5A"/>
                </a:solidFill>
              </a:rPr>
              <a:t>gây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lệch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chẩn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đoán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1: GIỚI THIỆU 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Mục Tiêu &amp; Ba Câu Hỏi Nghiên Cứu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 khoa </a:t>
            </a:r>
            <a:r>
              <a:rPr dirty="0" err="1"/>
              <a:t>học</a:t>
            </a:r>
            <a:r>
              <a:rPr dirty="0"/>
              <a:t>, </a:t>
            </a:r>
            <a:r>
              <a:rPr dirty="0" err="1"/>
              <a:t>kiên</a:t>
            </a:r>
            <a:r>
              <a:rPr dirty="0"/>
              <a:t> </a:t>
            </a:r>
            <a:r>
              <a:rPr dirty="0" err="1"/>
              <a:t>quyết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đua</a:t>
            </a:r>
            <a:r>
              <a:rPr dirty="0"/>
              <a:t>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ảo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6499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299923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1: Augmentation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90672" cy="1728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Phương</a:t>
            </a:r>
            <a:r>
              <a:rPr sz="1400" dirty="0"/>
              <a:t> </a:t>
            </a:r>
            <a:r>
              <a:rPr sz="1400" dirty="0" err="1"/>
              <a:t>án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So </a:t>
            </a:r>
            <a:r>
              <a:rPr sz="1400" b="0" dirty="0" err="1">
                <a:solidFill>
                  <a:srgbClr val="5A5A5A"/>
                </a:solidFill>
              </a:rPr>
              <a:t>sánh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chứng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bằng</a:t>
            </a:r>
            <a:r>
              <a:rPr sz="1400" b="0" dirty="0">
                <a:solidFill>
                  <a:srgbClr val="5A5A5A"/>
                </a:solidFill>
              </a:rPr>
              <a:t>: B00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xoay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lật</a:t>
            </a:r>
            <a:r>
              <a:rPr sz="1400" b="0" dirty="0">
                <a:solidFill>
                  <a:srgbClr val="5A5A5A"/>
                </a:solidFill>
              </a:rPr>
              <a:t> vs T02B </a:t>
            </a:r>
            <a:r>
              <a:rPr sz="1400" b="0" dirty="0" err="1">
                <a:solidFill>
                  <a:srgbClr val="5A5A5A"/>
                </a:solidFill>
              </a:rPr>
              <a:t>nhóm</a:t>
            </a:r>
            <a:r>
              <a:rPr sz="1400" b="0" dirty="0">
                <a:solidFill>
                  <a:srgbClr val="5A5A5A"/>
                </a:solidFill>
              </a:rPr>
              <a:t> D4 - 8 </a:t>
            </a:r>
            <a:r>
              <a:rPr sz="1400" b="0" dirty="0" err="1">
                <a:solidFill>
                  <a:srgbClr val="5A5A5A"/>
                </a:solidFill>
              </a:rPr>
              <a:t>phép</a:t>
            </a:r>
            <a:r>
              <a:rPr sz="1400" b="0" dirty="0">
                <a:solidFill>
                  <a:srgbClr val="5A5A5A"/>
                </a:solidFill>
              </a:rPr>
              <a:t> quay/</a:t>
            </a:r>
            <a:r>
              <a:rPr sz="1400" b="0" dirty="0" err="1">
                <a:solidFill>
                  <a:srgbClr val="5A5A5A"/>
                </a:solidFill>
              </a:rPr>
              <a:t>lật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ResNet50.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Kỳ</a:t>
            </a:r>
            <a:r>
              <a:rPr sz="1400" dirty="0"/>
              <a:t> </a:t>
            </a:r>
            <a:r>
              <a:rPr sz="1400" dirty="0" err="1"/>
              <a:t>vọng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Nâng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cao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hóa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phụ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thuộc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hướng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chụp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máy</a:t>
            </a:r>
            <a:r>
              <a:rPr sz="1400" b="0" dirty="0">
                <a:solidFill>
                  <a:srgbClr val="5A5A5A"/>
                </a:solidFill>
              </a:rPr>
              <a:t> soi 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37360"/>
            <a:ext cx="336499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0288" y="1874520"/>
            <a:ext cx="299923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2: </a:t>
            </a:r>
            <a:r>
              <a:rPr dirty="0" err="1"/>
              <a:t>Tiền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544568" y="2331720"/>
            <a:ext cx="3090672" cy="151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Phương</a:t>
            </a:r>
            <a:r>
              <a:rPr sz="1400" dirty="0"/>
              <a:t> </a:t>
            </a:r>
            <a:r>
              <a:rPr sz="1400" dirty="0" err="1"/>
              <a:t>án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Khảo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lập</a:t>
            </a:r>
            <a:r>
              <a:rPr sz="1400" b="0" dirty="0">
                <a:solidFill>
                  <a:srgbClr val="5A5A5A"/>
                </a:solidFill>
              </a:rPr>
              <a:t> 10 </a:t>
            </a:r>
            <a:r>
              <a:rPr sz="1400" b="0" dirty="0" err="1">
                <a:solidFill>
                  <a:srgbClr val="5A5A5A"/>
                </a:solidFill>
              </a:rPr>
              <a:t>phương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lý</a:t>
            </a:r>
            <a:r>
              <a:rPr sz="1400" b="0" dirty="0">
                <a:solidFill>
                  <a:srgbClr val="5A5A5A"/>
                </a:solidFill>
              </a:rPr>
              <a:t> P01 </a:t>
            </a:r>
            <a:r>
              <a:rPr sz="1400" b="0" dirty="0" err="1">
                <a:solidFill>
                  <a:srgbClr val="5A5A5A"/>
                </a:solidFill>
              </a:rPr>
              <a:t>đến</a:t>
            </a:r>
            <a:r>
              <a:rPr sz="1400" b="0" dirty="0">
                <a:solidFill>
                  <a:srgbClr val="5A5A5A"/>
                </a:solidFill>
              </a:rPr>
              <a:t> P10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T02B </a:t>
            </a:r>
            <a:r>
              <a:rPr sz="1400" b="0" dirty="0" err="1">
                <a:solidFill>
                  <a:srgbClr val="5A5A5A"/>
                </a:solidFill>
              </a:rPr>
              <a:t>đã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khóa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Kỳ</a:t>
            </a:r>
            <a:r>
              <a:rPr sz="1400" dirty="0"/>
              <a:t> </a:t>
            </a:r>
            <a:r>
              <a:rPr sz="1400" dirty="0" err="1"/>
              <a:t>vọng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Xác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định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xem</a:t>
            </a:r>
            <a:r>
              <a:rPr sz="1400" b="0" dirty="0">
                <a:solidFill>
                  <a:srgbClr val="5A5A5A"/>
                </a:solidFill>
              </a:rPr>
              <a:t> '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sạch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hơn</a:t>
            </a:r>
            <a:r>
              <a:rPr sz="1400" b="0" dirty="0">
                <a:solidFill>
                  <a:srgbClr val="5A5A5A"/>
                </a:solidFill>
              </a:rPr>
              <a:t>'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đồng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nghĩa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việc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nơ-ron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hơn</a:t>
            </a:r>
            <a:r>
              <a:rPr sz="1400" b="0" dirty="0">
                <a:solidFill>
                  <a:srgbClr val="5A5A5A"/>
                </a:solidFill>
              </a:rPr>
              <a:t> hay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737360"/>
            <a:ext cx="336499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66176" y="1874520"/>
            <a:ext cx="299923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3: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Bền</a:t>
            </a:r>
            <a:r>
              <a:rPr dirty="0"/>
              <a:t> </a:t>
            </a:r>
            <a:r>
              <a:rPr dirty="0" err="1"/>
              <a:t>Vững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8220456" y="2331720"/>
            <a:ext cx="3090672" cy="151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Phương</a:t>
            </a:r>
            <a:r>
              <a:rPr sz="1400" dirty="0"/>
              <a:t> </a:t>
            </a:r>
            <a:r>
              <a:rPr sz="1400" dirty="0" err="1"/>
              <a:t>án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Huấn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luyện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Seed 43, Seed 44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khoảng</a:t>
            </a:r>
            <a:r>
              <a:rPr sz="1400" b="0" dirty="0">
                <a:solidFill>
                  <a:srgbClr val="5A5A5A"/>
                </a:solidFill>
              </a:rPr>
              <a:t> tin </a:t>
            </a:r>
            <a:r>
              <a:rPr sz="1400" b="0" dirty="0" err="1">
                <a:solidFill>
                  <a:srgbClr val="5A5A5A"/>
                </a:solidFill>
              </a:rPr>
              <a:t>cậy</a:t>
            </a:r>
            <a:r>
              <a:rPr sz="1400" b="0" dirty="0">
                <a:solidFill>
                  <a:srgbClr val="5A5A5A"/>
                </a:solidFill>
              </a:rPr>
              <a:t> Bootstrap 95% </a:t>
            </a:r>
            <a:r>
              <a:rPr sz="1400" b="0" dirty="0" err="1">
                <a:solidFill>
                  <a:srgbClr val="5A5A5A"/>
                </a:solidFill>
              </a:rPr>
              <a:t>theo</a:t>
            </a:r>
            <a:r>
              <a:rPr sz="1400" b="0" dirty="0">
                <a:solidFill>
                  <a:srgbClr val="5A5A5A"/>
                </a:solidFill>
              </a:rPr>
              <a:t> group.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Kỳ</a:t>
            </a:r>
            <a:r>
              <a:rPr sz="1400" dirty="0"/>
              <a:t> </a:t>
            </a:r>
            <a:r>
              <a:rPr sz="1400" dirty="0" err="1"/>
              <a:t>vọng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Ngăn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chặn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vội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lang="vi-VN" sz="1400" b="0" dirty="0">
                <a:solidFill>
                  <a:srgbClr val="5A5A5A"/>
                </a:solidFill>
              </a:rPr>
              <a:t> </a:t>
            </a:r>
            <a:r>
              <a:rPr lang="vi-VN" sz="1250" b="0" dirty="0" err="1">
                <a:solidFill>
                  <a:srgbClr val="5A5A5A"/>
                </a:solidFill>
              </a:rPr>
              <a:t>kết</a:t>
            </a:r>
            <a:r>
              <a:rPr lang="vi-VN" sz="1250" b="0" dirty="0">
                <a:solidFill>
                  <a:srgbClr val="5A5A5A"/>
                </a:solidFill>
              </a:rPr>
              <a:t> </a:t>
            </a:r>
            <a:r>
              <a:rPr lang="vi-VN" sz="1250" b="0" dirty="0" err="1">
                <a:solidFill>
                  <a:srgbClr val="5A5A5A"/>
                </a:solidFill>
              </a:rPr>
              <a:t>quả</a:t>
            </a:r>
            <a:r>
              <a:rPr lang="vi-VN" sz="1250" b="0" dirty="0">
                <a:solidFill>
                  <a:srgbClr val="5A5A5A"/>
                </a:solidFill>
              </a:rPr>
              <a:t> </a:t>
            </a:r>
            <a:r>
              <a:rPr lang="vi-VN" sz="1250" b="0" dirty="0" err="1">
                <a:solidFill>
                  <a:srgbClr val="5A5A5A"/>
                </a:solidFill>
              </a:rPr>
              <a:t>ngẫu</a:t>
            </a:r>
            <a:r>
              <a:rPr lang="vi-VN" sz="1250" b="0" dirty="0">
                <a:solidFill>
                  <a:srgbClr val="5A5A5A"/>
                </a:solidFill>
              </a:rPr>
              <a:t> nhiên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một</a:t>
            </a:r>
            <a:r>
              <a:rPr sz="1400" b="0" dirty="0">
                <a:solidFill>
                  <a:srgbClr val="5A5A5A"/>
                </a:solidFill>
              </a:rPr>
              <a:t> seed </a:t>
            </a:r>
            <a:r>
              <a:rPr sz="1400" b="0" dirty="0" err="1">
                <a:solidFill>
                  <a:srgbClr val="5A5A5A"/>
                </a:solidFill>
              </a:rPr>
              <a:t>khởi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tạo</a:t>
            </a:r>
            <a:r>
              <a:rPr sz="1400" b="0" dirty="0">
                <a:solidFill>
                  <a:srgbClr val="5A5A5A"/>
                </a:solidFill>
              </a:rPr>
              <a:t>.</a:t>
            </a:r>
            <a:r>
              <a:rPr lang="vi-VN" sz="1400" dirty="0">
                <a:solidFill>
                  <a:srgbClr val="5A5A5A"/>
                </a:solidFill>
              </a:rPr>
              <a:t> </a:t>
            </a:r>
            <a:endParaRPr sz="1400" b="0" dirty="0">
              <a:solidFill>
                <a:srgbClr val="5A5A5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19" y="411480"/>
            <a:ext cx="4087223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2: DỮ LIỆU VÀ PHÂN TÍCH KHÁM PHÁ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Kiểm Toán Dữ Liệu &amp; Làm Sạch Trước Khi Khóa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 err="1"/>
              <a:t>Làm</a:t>
            </a:r>
            <a:r>
              <a:rPr dirty="0"/>
              <a:t> </a:t>
            </a:r>
            <a:r>
              <a:rPr dirty="0" err="1"/>
              <a:t>sạch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vẹn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ngăn</a:t>
            </a:r>
            <a:r>
              <a:rPr dirty="0"/>
              <a:t> </a:t>
            </a:r>
            <a:r>
              <a:rPr dirty="0" err="1"/>
              <a:t>chặn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(leakage)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480060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Tổng</a:t>
            </a:r>
            <a:r>
              <a:rPr sz="1400" dirty="0"/>
              <a:t> </a:t>
            </a:r>
            <a:r>
              <a:rPr sz="1400" dirty="0" err="1"/>
              <a:t>ảnh</a:t>
            </a:r>
            <a:r>
              <a:rPr sz="1400" dirty="0"/>
              <a:t> ban </a:t>
            </a:r>
            <a:r>
              <a:rPr sz="1400" dirty="0" err="1"/>
              <a:t>đầu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25.331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cấp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sz="1400" b="0" dirty="0">
                <a:solidFill>
                  <a:srgbClr val="5A5A5A"/>
                </a:solidFill>
              </a:rPr>
              <a:t> ISIC 2019 (</a:t>
            </a:r>
            <a:r>
              <a:rPr sz="1400" b="0" dirty="0" err="1">
                <a:solidFill>
                  <a:srgbClr val="5A5A5A"/>
                </a:solidFill>
              </a:rPr>
              <a:t>tổng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hợp</a:t>
            </a:r>
            <a:r>
              <a:rPr sz="1400" b="0" dirty="0">
                <a:solidFill>
                  <a:srgbClr val="5A5A5A"/>
                </a:solidFill>
              </a:rPr>
              <a:t> HAM10000, BCN20000, MSK).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48 </a:t>
            </a:r>
            <a:r>
              <a:rPr sz="1400" dirty="0" err="1"/>
              <a:t>Ảnh</a:t>
            </a:r>
            <a:r>
              <a:rPr sz="1400" dirty="0"/>
              <a:t> </a:t>
            </a:r>
            <a:r>
              <a:rPr sz="1400" dirty="0" err="1"/>
              <a:t>trùng</a:t>
            </a:r>
            <a:r>
              <a:rPr sz="1400" dirty="0"/>
              <a:t> </a:t>
            </a:r>
            <a:r>
              <a:rPr sz="1400" dirty="0" err="1"/>
              <a:t>dư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Trùng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lặp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chính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nội</a:t>
            </a:r>
            <a:r>
              <a:rPr sz="1400" b="0" dirty="0">
                <a:solidFill>
                  <a:srgbClr val="5A5A5A"/>
                </a:solidFill>
              </a:rPr>
              <a:t> dung byte (exact duplicate) -&gt; </a:t>
            </a:r>
            <a:r>
              <a:rPr sz="1400" b="0" dirty="0" err="1">
                <a:solidFill>
                  <a:srgbClr val="5A5A5A"/>
                </a:solidFill>
              </a:rPr>
              <a:t>Phải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gom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1 </a:t>
            </a:r>
            <a:r>
              <a:rPr sz="1400" b="0" dirty="0" err="1">
                <a:solidFill>
                  <a:srgbClr val="5A5A5A"/>
                </a:solidFill>
              </a:rPr>
              <a:t>nhóm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4 </a:t>
            </a:r>
            <a:r>
              <a:rPr sz="1400" dirty="0" err="1"/>
              <a:t>Ảnh</a:t>
            </a:r>
            <a:r>
              <a:rPr sz="1400" dirty="0"/>
              <a:t> </a:t>
            </a:r>
            <a:r>
              <a:rPr sz="1400" dirty="0" err="1"/>
              <a:t>xung</a:t>
            </a:r>
            <a:r>
              <a:rPr sz="1400" dirty="0"/>
              <a:t> </a:t>
            </a:r>
            <a:r>
              <a:rPr sz="1400" dirty="0" err="1"/>
              <a:t>đột</a:t>
            </a:r>
            <a:r>
              <a:rPr sz="1400" dirty="0"/>
              <a:t> </a:t>
            </a:r>
            <a:r>
              <a:rPr sz="1400" dirty="0" err="1"/>
              <a:t>nhãn</a:t>
            </a:r>
            <a:r>
              <a:rPr sz="1400" dirty="0"/>
              <a:t> (</a:t>
            </a:r>
            <a:r>
              <a:rPr sz="1400" dirty="0" err="1"/>
              <a:t>Bị</a:t>
            </a:r>
            <a:r>
              <a:rPr sz="1400" dirty="0"/>
              <a:t> </a:t>
            </a:r>
            <a:r>
              <a:rPr sz="1400" dirty="0" err="1"/>
              <a:t>loại</a:t>
            </a:r>
            <a:r>
              <a:rPr sz="1400" dirty="0"/>
              <a:t>):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một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nội</a:t>
            </a:r>
            <a:r>
              <a:rPr sz="1400" b="0" dirty="0">
                <a:solidFill>
                  <a:srgbClr val="5A5A5A"/>
                </a:solidFill>
              </a:rPr>
              <a:t> dung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nhưng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gán</a:t>
            </a:r>
            <a:r>
              <a:rPr sz="1400" b="0" dirty="0">
                <a:solidFill>
                  <a:srgbClr val="5A5A5A"/>
                </a:solidFill>
              </a:rPr>
              <a:t> 2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nhau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Loại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bỏ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sai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hiệu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25.327 </a:t>
            </a:r>
            <a:r>
              <a:rPr sz="1400" dirty="0" err="1"/>
              <a:t>Ảnh</a:t>
            </a:r>
            <a:r>
              <a:rPr sz="1400" dirty="0"/>
              <a:t> </a:t>
            </a:r>
            <a:r>
              <a:rPr sz="1400" dirty="0" err="1"/>
              <a:t>chốt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Manifest </a:t>
            </a:r>
            <a:r>
              <a:rPr sz="1400" b="0" dirty="0" err="1">
                <a:solidFill>
                  <a:srgbClr val="5A5A5A"/>
                </a:solidFill>
              </a:rPr>
              <a:t>chuẩn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khóa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cứng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đối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chiếu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bằng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băm</a:t>
            </a:r>
            <a:r>
              <a:rPr sz="1400" b="0" dirty="0">
                <a:solidFill>
                  <a:srgbClr val="5A5A5A"/>
                </a:solidFill>
              </a:rPr>
              <a:t> SHA-256 </a:t>
            </a:r>
            <a:r>
              <a:rPr sz="1400" b="0" dirty="0" err="1">
                <a:solidFill>
                  <a:srgbClr val="5A5A5A"/>
                </a:solidFill>
              </a:rPr>
              <a:t>từng</a:t>
            </a:r>
            <a:r>
              <a:rPr sz="1400" b="0" dirty="0">
                <a:solidFill>
                  <a:srgbClr val="5A5A5A"/>
                </a:solidFill>
              </a:rPr>
              <a:t> file.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Kiểm</a:t>
            </a:r>
            <a:r>
              <a:rPr sz="1400" dirty="0"/>
              <a:t> </a:t>
            </a:r>
            <a:r>
              <a:rPr sz="1400" dirty="0" err="1"/>
              <a:t>tra</a:t>
            </a:r>
            <a:r>
              <a:rPr sz="1400" dirty="0"/>
              <a:t> </a:t>
            </a:r>
            <a:r>
              <a:rPr sz="1400" dirty="0" err="1"/>
              <a:t>rò</a:t>
            </a:r>
            <a:r>
              <a:rPr sz="1400" dirty="0"/>
              <a:t> </a:t>
            </a:r>
            <a:r>
              <a:rPr sz="1400" dirty="0" err="1"/>
              <a:t>rỉ</a:t>
            </a:r>
            <a:r>
              <a:rPr sz="1400" dirty="0"/>
              <a:t> (Crossing = 0): </a:t>
            </a:r>
            <a:r>
              <a:rPr sz="1400" b="0" dirty="0" err="1">
                <a:solidFill>
                  <a:srgbClr val="5A5A5A"/>
                </a:solidFill>
              </a:rPr>
              <a:t>Đảm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bảo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định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danh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thương</a:t>
            </a:r>
            <a:r>
              <a:rPr sz="1400" b="0" dirty="0">
                <a:solidFill>
                  <a:srgbClr val="5A5A5A"/>
                </a:solidFill>
              </a:rPr>
              <a:t> hay </a:t>
            </a:r>
            <a:r>
              <a:rPr sz="1400" b="0" dirty="0" err="1">
                <a:solidFill>
                  <a:srgbClr val="5A5A5A"/>
                </a:solidFill>
              </a:rPr>
              <a:t>mã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băm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xuất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đồng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thời</a:t>
            </a:r>
            <a:r>
              <a:rPr sz="1400" b="0" dirty="0">
                <a:solidFill>
                  <a:srgbClr val="5A5A5A"/>
                </a:solidFill>
              </a:rPr>
              <a:t> ở 2 </a:t>
            </a:r>
            <a:r>
              <a:rPr sz="1400" b="0" dirty="0" err="1">
                <a:solidFill>
                  <a:srgbClr val="5A5A5A"/>
                </a:solidFill>
              </a:rPr>
              <a:t>tập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Tám</a:t>
            </a:r>
            <a:r>
              <a:rPr dirty="0"/>
              <a:t> </a:t>
            </a: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</a:t>
            </a:r>
            <a:r>
              <a:rPr dirty="0" err="1"/>
              <a:t>Học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0" y="2291542"/>
            <a:ext cx="4846320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MEL: </a:t>
            </a:r>
            <a:r>
              <a:rPr sz="1400" b="1" dirty="0">
                <a:solidFill>
                  <a:srgbClr val="222222"/>
                </a:solidFill>
              </a:rPr>
              <a:t>Melanoma — </a:t>
            </a:r>
            <a:r>
              <a:rPr sz="1400" b="0" dirty="0">
                <a:solidFill>
                  <a:srgbClr val="5A5A5A"/>
                </a:solidFill>
              </a:rPr>
              <a:t>U </a:t>
            </a:r>
            <a:r>
              <a:rPr sz="1400" b="0" dirty="0" err="1">
                <a:solidFill>
                  <a:srgbClr val="5A5A5A"/>
                </a:solidFill>
              </a:rPr>
              <a:t>hắc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 (</a:t>
            </a:r>
            <a:r>
              <a:rPr sz="1400" b="0" dirty="0" err="1">
                <a:solidFill>
                  <a:srgbClr val="5A5A5A"/>
                </a:solidFill>
              </a:rPr>
              <a:t>nguy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hiểm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)</a:t>
            </a: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NV: </a:t>
            </a:r>
            <a:r>
              <a:rPr sz="1400" b="1" dirty="0">
                <a:solidFill>
                  <a:srgbClr val="222222"/>
                </a:solidFill>
              </a:rPr>
              <a:t>Melanocytic nevus —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tế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hắc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endParaRPr sz="1400" b="0" dirty="0">
              <a:solidFill>
                <a:srgbClr val="5A5A5A"/>
              </a:solidFill>
            </a:endParaRP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BCC: </a:t>
            </a:r>
            <a:r>
              <a:rPr sz="1400" b="1" dirty="0">
                <a:solidFill>
                  <a:srgbClr val="222222"/>
                </a:solidFill>
              </a:rPr>
              <a:t>Basal cell carcinoma — </a:t>
            </a:r>
            <a:r>
              <a:rPr sz="1400" b="0" dirty="0">
                <a:solidFill>
                  <a:srgbClr val="5A5A5A"/>
                </a:solidFill>
              </a:rPr>
              <a:t>Ung </a:t>
            </a:r>
            <a:r>
              <a:rPr sz="1400" b="0" dirty="0" err="1">
                <a:solidFill>
                  <a:srgbClr val="5A5A5A"/>
                </a:solidFill>
              </a:rPr>
              <a:t>thư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biểu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tế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đáy</a:t>
            </a:r>
            <a:endParaRPr sz="1400" b="0" dirty="0">
              <a:solidFill>
                <a:srgbClr val="5A5A5A"/>
              </a:solidFill>
            </a:endParaRP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AK: </a:t>
            </a:r>
            <a:r>
              <a:rPr sz="1400" b="1" dirty="0">
                <a:solidFill>
                  <a:srgbClr val="222222"/>
                </a:solidFill>
              </a:rPr>
              <a:t>Actinic keratosis — </a:t>
            </a:r>
            <a:r>
              <a:rPr sz="1400" b="0" dirty="0" err="1">
                <a:solidFill>
                  <a:srgbClr val="5A5A5A"/>
                </a:solidFill>
              </a:rPr>
              <a:t>Dày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sừng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quang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hóa</a:t>
            </a:r>
            <a:r>
              <a:rPr sz="1400" b="0" dirty="0">
                <a:solidFill>
                  <a:srgbClr val="5A5A5A"/>
                </a:solidFill>
              </a:rPr>
              <a:t> (</a:t>
            </a:r>
            <a:r>
              <a:rPr sz="1400" b="0" dirty="0" err="1">
                <a:solidFill>
                  <a:srgbClr val="5A5A5A"/>
                </a:solidFill>
              </a:rPr>
              <a:t>tiền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</a:t>
            </a:r>
            <a:r>
              <a:rPr sz="1400" b="0" dirty="0">
                <a:solidFill>
                  <a:srgbClr val="5A5A5A"/>
                </a:solidFill>
              </a:rPr>
              <a:t>)</a:t>
            </a: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BKL: </a:t>
            </a:r>
            <a:r>
              <a:rPr sz="1400" b="1" dirty="0">
                <a:solidFill>
                  <a:srgbClr val="222222"/>
                </a:solidFill>
              </a:rPr>
              <a:t>Benign keratosis — </a:t>
            </a:r>
            <a:r>
              <a:rPr sz="1400" b="0" dirty="0" err="1">
                <a:solidFill>
                  <a:srgbClr val="5A5A5A"/>
                </a:solidFill>
              </a:rPr>
              <a:t>Nhóm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dày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sừng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endParaRPr sz="1400" b="0" dirty="0">
              <a:solidFill>
                <a:srgbClr val="5A5A5A"/>
              </a:solidFill>
            </a:endParaRP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DF: </a:t>
            </a:r>
            <a:r>
              <a:rPr sz="1400" b="1" dirty="0">
                <a:solidFill>
                  <a:srgbClr val="222222"/>
                </a:solidFill>
              </a:rPr>
              <a:t>Dermatofibroma — </a:t>
            </a:r>
            <a:r>
              <a:rPr sz="1400" b="0" dirty="0">
                <a:solidFill>
                  <a:srgbClr val="5A5A5A"/>
                </a:solidFill>
              </a:rPr>
              <a:t>U </a:t>
            </a:r>
            <a:r>
              <a:rPr sz="1400" b="0" dirty="0" err="1">
                <a:solidFill>
                  <a:srgbClr val="5A5A5A"/>
                </a:solidFill>
              </a:rPr>
              <a:t>xơ</a:t>
            </a:r>
            <a:r>
              <a:rPr sz="1400" b="0" dirty="0">
                <a:solidFill>
                  <a:srgbClr val="5A5A5A"/>
                </a:solidFill>
              </a:rPr>
              <a:t> da </a:t>
            </a:r>
            <a:r>
              <a:rPr sz="1400" b="0" dirty="0" err="1">
                <a:solidFill>
                  <a:srgbClr val="5A5A5A"/>
                </a:solidFill>
              </a:rPr>
              <a:t>lành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endParaRPr sz="1400" b="0" dirty="0">
              <a:solidFill>
                <a:srgbClr val="5A5A5A"/>
              </a:solidFill>
            </a:endParaRP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VASC: </a:t>
            </a:r>
            <a:r>
              <a:rPr sz="1400" b="1" dirty="0">
                <a:solidFill>
                  <a:srgbClr val="222222"/>
                </a:solidFill>
              </a:rPr>
              <a:t>Vascular lesion — </a:t>
            </a:r>
            <a:r>
              <a:rPr sz="1400" b="0" dirty="0" err="1">
                <a:solidFill>
                  <a:srgbClr val="5A5A5A"/>
                </a:solidFill>
              </a:rPr>
              <a:t>Nhóm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mạch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máu</a:t>
            </a:r>
            <a:endParaRPr sz="1400" b="0" dirty="0">
              <a:solidFill>
                <a:srgbClr val="5A5A5A"/>
              </a:solidFill>
            </a:endParaRPr>
          </a:p>
          <a:p>
            <a:pPr>
              <a:spcAft>
                <a:spcPts val="400"/>
              </a:spcAft>
              <a:defRPr sz="1100" b="1">
                <a:solidFill>
                  <a:srgbClr val="8B1E1E"/>
                </a:solidFill>
              </a:defRPr>
            </a:pPr>
            <a:r>
              <a:rPr sz="1400" dirty="0"/>
              <a:t>• SCC: </a:t>
            </a:r>
            <a:r>
              <a:rPr sz="1400" b="1" dirty="0">
                <a:solidFill>
                  <a:srgbClr val="222222"/>
                </a:solidFill>
              </a:rPr>
              <a:t>Squamous cell carcinoma — </a:t>
            </a:r>
            <a:r>
              <a:rPr sz="1400" b="0" dirty="0">
                <a:solidFill>
                  <a:srgbClr val="5A5A5A"/>
                </a:solidFill>
              </a:rPr>
              <a:t>Ung </a:t>
            </a:r>
            <a:r>
              <a:rPr sz="1400" b="0" dirty="0" err="1">
                <a:solidFill>
                  <a:srgbClr val="5A5A5A"/>
                </a:solidFill>
              </a:rPr>
              <a:t>thư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biểu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tế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vảy</a:t>
            </a:r>
            <a:endParaRPr sz="1400" b="0" dirty="0">
              <a:solidFill>
                <a:srgbClr val="5A5A5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542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Cực</a:t>
            </a:r>
            <a:r>
              <a:rPr dirty="0"/>
              <a:t> </a:t>
            </a:r>
            <a:r>
              <a:rPr dirty="0" err="1"/>
              <a:t>Đoan</a:t>
            </a:r>
            <a:r>
              <a:rPr dirty="0"/>
              <a:t> &amp; </a:t>
            </a:r>
            <a:r>
              <a:rPr dirty="0" err="1"/>
              <a:t>Phân</a:t>
            </a:r>
            <a:r>
              <a:rPr dirty="0"/>
              <a:t> Chia </a:t>
            </a:r>
            <a:r>
              <a:rPr dirty="0" err="1"/>
              <a:t>Tập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 err="1"/>
              <a:t>Chênh</a:t>
            </a:r>
            <a:r>
              <a:rPr dirty="0"/>
              <a:t> </a:t>
            </a:r>
            <a:r>
              <a:rPr dirty="0" err="1"/>
              <a:t>lệch</a:t>
            </a:r>
            <a:r>
              <a:rPr dirty="0"/>
              <a:t> </a:t>
            </a:r>
            <a:r>
              <a:rPr dirty="0" err="1"/>
              <a:t>tới</a:t>
            </a:r>
            <a:r>
              <a:rPr dirty="0"/>
              <a:t> 59.7 </a:t>
            </a:r>
            <a:r>
              <a:rPr dirty="0" err="1"/>
              <a:t>lần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lớp</a:t>
            </a:r>
            <a:r>
              <a:rPr dirty="0"/>
              <a:t>; </a:t>
            </a:r>
            <a:r>
              <a:rPr dirty="0" err="1"/>
              <a:t>phân</a:t>
            </a:r>
            <a:r>
              <a:rPr dirty="0"/>
              <a:t> chia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tổn</a:t>
            </a:r>
            <a:r>
              <a:rPr dirty="0"/>
              <a:t> </a:t>
            </a:r>
            <a:r>
              <a:rPr dirty="0" err="1"/>
              <a:t>thương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chống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vẹt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Bố</a:t>
            </a:r>
            <a:r>
              <a:rPr dirty="0"/>
              <a:t> </a:t>
            </a:r>
            <a:r>
              <a:rPr dirty="0" err="1"/>
              <a:t>Lớp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Train</a:t>
            </a:r>
          </a:p>
        </p:txBody>
      </p:sp>
      <p:pic>
        <p:nvPicPr>
          <p:cNvPr id="8" name="Picture 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77440"/>
            <a:ext cx="4892040" cy="201796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4663440"/>
            <a:ext cx="48920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1E1E"/>
                </a:solidFill>
              </a:defRPr>
            </a:pPr>
            <a:r>
              <a:rPr dirty="0"/>
              <a:t> </a:t>
            </a:r>
            <a:r>
              <a:rPr sz="1400" dirty="0" err="1"/>
              <a:t>Mất</a:t>
            </a:r>
            <a:r>
              <a:rPr sz="1400" dirty="0"/>
              <a:t> </a:t>
            </a:r>
            <a:r>
              <a:rPr sz="1400" dirty="0" err="1"/>
              <a:t>cân</a:t>
            </a:r>
            <a:r>
              <a:rPr sz="1400" dirty="0"/>
              <a:t> </a:t>
            </a:r>
            <a:r>
              <a:rPr sz="1400" dirty="0" err="1"/>
              <a:t>bằng</a:t>
            </a:r>
            <a:r>
              <a:rPr sz="1400" dirty="0"/>
              <a:t> </a:t>
            </a:r>
            <a:r>
              <a:rPr sz="1400" dirty="0" err="1"/>
              <a:t>lớp</a:t>
            </a:r>
            <a:r>
              <a:rPr sz="1400" dirty="0"/>
              <a:t> </a:t>
            </a:r>
            <a:r>
              <a:rPr sz="1400" dirty="0" err="1"/>
              <a:t>nghiêm</a:t>
            </a:r>
            <a:r>
              <a:rPr sz="1400" dirty="0"/>
              <a:t> </a:t>
            </a:r>
            <a:r>
              <a:rPr sz="1400" dirty="0" err="1"/>
              <a:t>trọng</a:t>
            </a:r>
            <a:r>
              <a:rPr sz="1400" dirty="0"/>
              <a:t>:</a:t>
            </a:r>
          </a:p>
          <a:p>
            <a:pPr>
              <a:defRPr sz="1150">
                <a:solidFill>
                  <a:srgbClr val="222222"/>
                </a:solidFill>
              </a:defRPr>
            </a:pPr>
            <a:r>
              <a:rPr sz="1400" dirty="0"/>
              <a:t>• NV </a:t>
            </a:r>
            <a:r>
              <a:rPr sz="1400" dirty="0" err="1"/>
              <a:t>chiếm</a:t>
            </a:r>
            <a:r>
              <a:rPr sz="1400" dirty="0"/>
              <a:t> 50.89% (9.019 </a:t>
            </a:r>
            <a:r>
              <a:rPr sz="1400" dirty="0" err="1"/>
              <a:t>ảnh</a:t>
            </a:r>
            <a:r>
              <a:rPr sz="1400" dirty="0"/>
              <a:t>), </a:t>
            </a:r>
            <a:r>
              <a:rPr sz="1400" dirty="0" err="1"/>
              <a:t>trong</a:t>
            </a:r>
            <a:r>
              <a:rPr sz="1400" dirty="0"/>
              <a:t> </a:t>
            </a:r>
            <a:r>
              <a:rPr sz="1400" dirty="0" err="1"/>
              <a:t>khi</a:t>
            </a:r>
            <a:r>
              <a:rPr sz="1400" dirty="0"/>
              <a:t> VASC </a:t>
            </a:r>
            <a:r>
              <a:rPr sz="1400" dirty="0" err="1"/>
              <a:t>chỉ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151 </a:t>
            </a:r>
            <a:r>
              <a:rPr sz="1400" dirty="0" err="1"/>
              <a:t>ảnh</a:t>
            </a:r>
            <a:r>
              <a:rPr sz="1400" dirty="0"/>
              <a:t> (0.85%).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Tỷ</a:t>
            </a:r>
            <a:r>
              <a:rPr sz="1400" dirty="0"/>
              <a:t> </a:t>
            </a:r>
            <a:r>
              <a:rPr sz="1400" dirty="0" err="1"/>
              <a:t>lệ</a:t>
            </a:r>
            <a:r>
              <a:rPr sz="1400" dirty="0"/>
              <a:t> </a:t>
            </a:r>
            <a:r>
              <a:rPr sz="1400" dirty="0" err="1"/>
              <a:t>chênh</a:t>
            </a:r>
            <a:r>
              <a:rPr sz="1400" dirty="0"/>
              <a:t> </a:t>
            </a:r>
            <a:r>
              <a:rPr sz="1400" dirty="0" err="1"/>
              <a:t>lệch</a:t>
            </a:r>
            <a:r>
              <a:rPr sz="1400" dirty="0"/>
              <a:t> </a:t>
            </a:r>
            <a:r>
              <a:rPr sz="1400" dirty="0" err="1"/>
              <a:t>lên</a:t>
            </a:r>
            <a:r>
              <a:rPr sz="1400" dirty="0"/>
              <a:t> </a:t>
            </a:r>
            <a:r>
              <a:rPr sz="1400" dirty="0" err="1"/>
              <a:t>tới</a:t>
            </a:r>
            <a:r>
              <a:rPr sz="1400" dirty="0"/>
              <a:t> 59.73 </a:t>
            </a:r>
            <a:r>
              <a:rPr sz="1400" dirty="0" err="1"/>
              <a:t>lần</a:t>
            </a:r>
            <a:r>
              <a:rPr sz="1400" dirty="0"/>
              <a:t>! </a:t>
            </a:r>
            <a:r>
              <a:rPr sz="1400" dirty="0" err="1"/>
              <a:t>Nếu</a:t>
            </a:r>
            <a:r>
              <a:rPr sz="1400" dirty="0"/>
              <a:t> </a:t>
            </a:r>
            <a:r>
              <a:rPr sz="1400" dirty="0" err="1"/>
              <a:t>đoán</a:t>
            </a:r>
            <a:r>
              <a:rPr sz="1400" dirty="0"/>
              <a:t> </a:t>
            </a:r>
            <a:r>
              <a:rPr sz="1400" dirty="0" err="1"/>
              <a:t>bừa</a:t>
            </a:r>
            <a:r>
              <a:rPr sz="1400" dirty="0"/>
              <a:t> </a:t>
            </a:r>
            <a:r>
              <a:rPr sz="1400" dirty="0" err="1"/>
              <a:t>toàn</a:t>
            </a:r>
            <a:r>
              <a:rPr sz="1400" dirty="0"/>
              <a:t> </a:t>
            </a:r>
            <a:r>
              <a:rPr sz="1400" dirty="0" err="1"/>
              <a:t>bộ</a:t>
            </a:r>
            <a:r>
              <a:rPr sz="1400" dirty="0"/>
              <a:t> </a:t>
            </a:r>
            <a:r>
              <a:rPr sz="1400" dirty="0" err="1"/>
              <a:t>là</a:t>
            </a:r>
            <a:r>
              <a:rPr sz="1400" dirty="0"/>
              <a:t> NV, Accuracy </a:t>
            </a:r>
            <a:r>
              <a:rPr sz="1400" dirty="0" err="1"/>
              <a:t>vẫn</a:t>
            </a:r>
            <a:r>
              <a:rPr sz="1400" dirty="0"/>
              <a:t> </a:t>
            </a:r>
            <a:r>
              <a:rPr sz="1400" dirty="0" err="1"/>
              <a:t>đạt</a:t>
            </a:r>
            <a:r>
              <a:rPr sz="1400" dirty="0"/>
              <a:t> </a:t>
            </a:r>
            <a:r>
              <a:rPr sz="1400" dirty="0" err="1"/>
              <a:t>hơn</a:t>
            </a:r>
            <a:r>
              <a:rPr sz="1400" dirty="0"/>
              <a:t> 50% </a:t>
            </a:r>
            <a:r>
              <a:rPr sz="1400" dirty="0" err="1"/>
              <a:t>nhưng</a:t>
            </a:r>
            <a:r>
              <a:rPr sz="1400" dirty="0"/>
              <a:t> </a:t>
            </a:r>
            <a:r>
              <a:rPr sz="1400" dirty="0" err="1"/>
              <a:t>mô</a:t>
            </a:r>
            <a:r>
              <a:rPr sz="1400" dirty="0"/>
              <a:t> </a:t>
            </a:r>
            <a:r>
              <a:rPr sz="1400" dirty="0" err="1"/>
              <a:t>hình</a:t>
            </a:r>
            <a:r>
              <a:rPr sz="1400" dirty="0"/>
              <a:t> </a:t>
            </a:r>
            <a:r>
              <a:rPr sz="1400" dirty="0" err="1"/>
              <a:t>hoàn</a:t>
            </a:r>
            <a:r>
              <a:rPr sz="1400" dirty="0"/>
              <a:t> </a:t>
            </a:r>
            <a:r>
              <a:rPr sz="1400" dirty="0" err="1"/>
              <a:t>toàn</a:t>
            </a:r>
            <a:r>
              <a:rPr sz="1400" dirty="0"/>
              <a:t> </a:t>
            </a:r>
            <a:r>
              <a:rPr sz="1400" dirty="0" err="1"/>
              <a:t>vô</a:t>
            </a:r>
            <a:r>
              <a:rPr sz="1400" dirty="0"/>
              <a:t> </a:t>
            </a:r>
            <a:r>
              <a:rPr sz="1400" dirty="0" err="1"/>
              <a:t>dụng</a:t>
            </a:r>
            <a:r>
              <a:rPr sz="1400" dirty="0"/>
              <a:t> </a:t>
            </a:r>
            <a:r>
              <a:rPr sz="1400" dirty="0" err="1"/>
              <a:t>trong</a:t>
            </a:r>
            <a:r>
              <a:rPr sz="1400" dirty="0"/>
              <a:t> y </a:t>
            </a:r>
            <a:r>
              <a:rPr sz="1400" dirty="0" err="1"/>
              <a:t>tế</a:t>
            </a:r>
            <a:r>
              <a:rPr sz="1400"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42902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Chia Group Split </a:t>
            </a:r>
            <a:r>
              <a:rPr dirty="0" err="1"/>
              <a:t>Chống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4846320" cy="254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Quy</a:t>
            </a:r>
            <a:r>
              <a:rPr sz="1400" dirty="0"/>
              <a:t> </a:t>
            </a:r>
            <a:r>
              <a:rPr sz="1400" dirty="0" err="1"/>
              <a:t>tắc</a:t>
            </a:r>
            <a:r>
              <a:rPr sz="1400" dirty="0"/>
              <a:t> Group Split: </a:t>
            </a:r>
            <a:r>
              <a:rPr sz="1400" b="0" dirty="0" err="1">
                <a:solidFill>
                  <a:srgbClr val="5A5A5A"/>
                </a:solidFill>
              </a:rPr>
              <a:t>Gom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lesion_id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một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tập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Quy</a:t>
            </a:r>
            <a:r>
              <a:rPr sz="1400" dirty="0"/>
              <a:t> </a:t>
            </a:r>
            <a:r>
              <a:rPr sz="1400" dirty="0" err="1"/>
              <a:t>mô</a:t>
            </a:r>
            <a:r>
              <a:rPr sz="1400" dirty="0"/>
              <a:t> 3 </a:t>
            </a:r>
            <a:r>
              <a:rPr sz="1400" dirty="0" err="1"/>
              <a:t>tập</a:t>
            </a:r>
            <a:r>
              <a:rPr sz="1400" dirty="0"/>
              <a:t>: </a:t>
            </a:r>
            <a:br>
              <a:rPr lang="vi-VN" sz="1400" dirty="0"/>
            </a:br>
            <a:r>
              <a:rPr sz="1400" b="0" dirty="0">
                <a:solidFill>
                  <a:srgbClr val="5A5A5A"/>
                </a:solidFill>
              </a:rPr>
              <a:t>• Train: 17.723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(70%)
• Validation: 2.539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(10%)
• Test </a:t>
            </a:r>
            <a:r>
              <a:rPr sz="1400" b="0" dirty="0" err="1">
                <a:solidFill>
                  <a:srgbClr val="5A5A5A"/>
                </a:solidFill>
              </a:rPr>
              <a:t>nội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bộ</a:t>
            </a:r>
            <a:r>
              <a:rPr sz="1400" b="0" dirty="0">
                <a:solidFill>
                  <a:srgbClr val="5A5A5A"/>
                </a:solidFill>
              </a:rPr>
              <a:t>: 5.065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(20%)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Tiêu</a:t>
            </a:r>
            <a:r>
              <a:rPr sz="1400" dirty="0"/>
              <a:t> </a:t>
            </a:r>
            <a:r>
              <a:rPr sz="1400" dirty="0" err="1"/>
              <a:t>chuẩn</a:t>
            </a:r>
            <a:r>
              <a:rPr sz="1400" dirty="0"/>
              <a:t> </a:t>
            </a:r>
            <a:r>
              <a:rPr sz="1400" dirty="0" err="1"/>
              <a:t>đánh</a:t>
            </a:r>
            <a:r>
              <a:rPr sz="1400" dirty="0"/>
              <a:t> </a:t>
            </a:r>
            <a:r>
              <a:rPr sz="1400" dirty="0" err="1"/>
              <a:t>giá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Sử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dụng</a:t>
            </a:r>
            <a:r>
              <a:rPr sz="1400" b="0" dirty="0">
                <a:solidFill>
                  <a:srgbClr val="5A5A5A"/>
                </a:solidFill>
              </a:rPr>
              <a:t> Macro-F1 (</a:t>
            </a:r>
            <a:r>
              <a:rPr sz="1400" b="0" dirty="0" err="1">
                <a:solidFill>
                  <a:srgbClr val="5A5A5A"/>
                </a:solidFill>
              </a:rPr>
              <a:t>trung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bình</a:t>
            </a:r>
            <a:r>
              <a:rPr sz="1400" b="0" dirty="0">
                <a:solidFill>
                  <a:srgbClr val="5A5A5A"/>
                </a:solidFill>
              </a:rPr>
              <a:t> F1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8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mỗi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trọng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ngang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nhau</a:t>
            </a:r>
            <a:r>
              <a:rPr sz="1400" b="0" dirty="0">
                <a:solidFill>
                  <a:srgbClr val="5A5A5A"/>
                </a:solidFill>
              </a:rPr>
              <a:t>)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thước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chính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dùng</a:t>
            </a:r>
            <a:r>
              <a:rPr sz="1400" b="0" dirty="0">
                <a:solidFill>
                  <a:srgbClr val="5A5A5A"/>
                </a:solidFill>
              </a:rPr>
              <a:t> Accuracy </a:t>
            </a:r>
            <a:r>
              <a:rPr sz="1400" b="0" dirty="0" err="1">
                <a:solidFill>
                  <a:srgbClr val="5A5A5A"/>
                </a:solidFill>
              </a:rPr>
              <a:t>đơn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thuần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5/18</a:t>
            </a:r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D1F0601A-F232-4476-A3BB-553A34A176EC}"/>
              </a:ext>
            </a:extLst>
          </p:cNvPr>
          <p:cNvSpPr/>
          <p:nvPr/>
        </p:nvSpPr>
        <p:spPr>
          <a:xfrm>
            <a:off x="731519" y="411480"/>
            <a:ext cx="4087223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2: DỮ LIỆU VÀ PHÂN TÍCH KHÁM PHÁ (EDA)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763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3: TIỀN XỬ LÝ 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Pipeline Tiền Xử Lý Chuẩn Của Mô Hình T02B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,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gốc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soi 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4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Tuần</a:t>
            </a:r>
            <a:r>
              <a:rPr dirty="0"/>
              <a:t> </a:t>
            </a:r>
            <a:r>
              <a:rPr dirty="0" err="1"/>
              <a:t>Tự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006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1. </a:t>
            </a:r>
            <a:r>
              <a:rPr sz="1400" dirty="0" err="1"/>
              <a:t>Đọc</a:t>
            </a:r>
            <a:r>
              <a:rPr sz="1400" dirty="0"/>
              <a:t> </a:t>
            </a:r>
            <a:r>
              <a:rPr sz="1400" dirty="0" err="1"/>
              <a:t>ảnh</a:t>
            </a:r>
            <a:r>
              <a:rPr sz="1400" dirty="0"/>
              <a:t> RGB: </a:t>
            </a:r>
            <a:r>
              <a:rPr sz="1400" b="0" dirty="0" err="1">
                <a:solidFill>
                  <a:srgbClr val="5A5A5A"/>
                </a:solidFill>
              </a:rPr>
              <a:t>Giải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mã</a:t>
            </a:r>
            <a:r>
              <a:rPr sz="1400" b="0" dirty="0">
                <a:solidFill>
                  <a:srgbClr val="5A5A5A"/>
                </a:solidFill>
              </a:rPr>
              <a:t> file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JPEG </a:t>
            </a:r>
            <a:r>
              <a:rPr sz="1400" b="0" dirty="0" err="1">
                <a:solidFill>
                  <a:srgbClr val="5A5A5A"/>
                </a:solidFill>
              </a:rPr>
              <a:t>gốc</a:t>
            </a:r>
            <a:r>
              <a:rPr sz="1400" b="0" dirty="0">
                <a:solidFill>
                  <a:srgbClr val="5A5A5A"/>
                </a:solidFill>
              </a:rPr>
              <a:t> sang 3 </a:t>
            </a:r>
            <a:r>
              <a:rPr sz="1400" b="0" dirty="0" err="1">
                <a:solidFill>
                  <a:srgbClr val="5A5A5A"/>
                </a:solidFill>
              </a:rPr>
              <a:t>kênh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màu</a:t>
            </a:r>
            <a:r>
              <a:rPr sz="1400" b="0" dirty="0">
                <a:solidFill>
                  <a:srgbClr val="5A5A5A"/>
                </a:solidFill>
              </a:rPr>
              <a:t> RGB </a:t>
            </a:r>
            <a:r>
              <a:rPr sz="1400" b="0" dirty="0" err="1">
                <a:solidFill>
                  <a:srgbClr val="5A5A5A"/>
                </a:solidFill>
              </a:rPr>
              <a:t>chuẩn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loại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bỏ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kênh</a:t>
            </a:r>
            <a:r>
              <a:rPr sz="1400" b="0" dirty="0">
                <a:solidFill>
                  <a:srgbClr val="5A5A5A"/>
                </a:solidFill>
              </a:rPr>
              <a:t> alpha </a:t>
            </a:r>
            <a:r>
              <a:rPr sz="1400" b="0" dirty="0" err="1">
                <a:solidFill>
                  <a:srgbClr val="5A5A5A"/>
                </a:solidFill>
              </a:rPr>
              <a:t>dư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thừa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2. Resize Bilinear 224×224: </a:t>
            </a:r>
            <a:r>
              <a:rPr sz="1400" b="0" dirty="0" err="1">
                <a:solidFill>
                  <a:srgbClr val="5A5A5A"/>
                </a:solidFill>
              </a:rPr>
              <a:t>Đưa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về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kích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thước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đồng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phù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hợp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đầu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vào</a:t>
            </a:r>
            <a:r>
              <a:rPr sz="1400" b="0" dirty="0">
                <a:solidFill>
                  <a:srgbClr val="5A5A5A"/>
                </a:solidFill>
              </a:rPr>
              <a:t> ResNet50.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3. </a:t>
            </a:r>
            <a:r>
              <a:rPr sz="1400" dirty="0" err="1"/>
              <a:t>Chuyển</a:t>
            </a:r>
            <a:r>
              <a:rPr sz="1400" dirty="0"/>
              <a:t> Tensor [0, 1]: </a:t>
            </a:r>
            <a:r>
              <a:rPr sz="1400" b="0" dirty="0" err="1">
                <a:solidFill>
                  <a:srgbClr val="5A5A5A"/>
                </a:solidFill>
              </a:rPr>
              <a:t>Chuẩn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hóa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trị</a:t>
            </a:r>
            <a:r>
              <a:rPr sz="1400" b="0" dirty="0">
                <a:solidFill>
                  <a:srgbClr val="5A5A5A"/>
                </a:solidFill>
              </a:rPr>
              <a:t> pixel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sz="1400" b="0" dirty="0">
                <a:solidFill>
                  <a:srgbClr val="5A5A5A"/>
                </a:solidFill>
              </a:rPr>
              <a:t> thang </a:t>
            </a:r>
            <a:r>
              <a:rPr sz="1400" b="0" dirty="0" err="1">
                <a:solidFill>
                  <a:srgbClr val="5A5A5A"/>
                </a:solidFill>
              </a:rPr>
              <a:t>nguyên</a:t>
            </a:r>
            <a:r>
              <a:rPr sz="1400" b="0" dirty="0">
                <a:solidFill>
                  <a:srgbClr val="5A5A5A"/>
                </a:solidFill>
              </a:rPr>
              <a:t> [0, 255] </a:t>
            </a:r>
            <a:r>
              <a:rPr sz="1400" b="0" dirty="0" err="1">
                <a:solidFill>
                  <a:srgbClr val="5A5A5A"/>
                </a:solidFill>
              </a:rPr>
              <a:t>về</a:t>
            </a:r>
            <a:r>
              <a:rPr sz="1400" b="0" dirty="0">
                <a:solidFill>
                  <a:srgbClr val="5A5A5A"/>
                </a:solidFill>
              </a:rPr>
              <a:t> ma </a:t>
            </a:r>
            <a:r>
              <a:rPr sz="1400" b="0" dirty="0" err="1">
                <a:solidFill>
                  <a:srgbClr val="5A5A5A"/>
                </a:solidFill>
              </a:rPr>
              <a:t>trận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thực</a:t>
            </a:r>
            <a:r>
              <a:rPr sz="1400" b="0" dirty="0">
                <a:solidFill>
                  <a:srgbClr val="5A5A5A"/>
                </a:solidFill>
              </a:rPr>
              <a:t> [0.0, 1.0].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4. Normalize ImageNet: </a:t>
            </a:r>
            <a:r>
              <a:rPr sz="1400" b="0" dirty="0" err="1">
                <a:solidFill>
                  <a:srgbClr val="5A5A5A"/>
                </a:solidFill>
              </a:rPr>
              <a:t>Trừ</a:t>
            </a:r>
            <a:r>
              <a:rPr sz="1400" b="0" dirty="0">
                <a:solidFill>
                  <a:srgbClr val="5A5A5A"/>
                </a:solidFill>
              </a:rPr>
              <a:t> mean (0.485, 0.456, 0.406)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chia std (0.229, 0.224, 0.225) </a:t>
            </a:r>
            <a:r>
              <a:rPr sz="1400" b="0" dirty="0" err="1">
                <a:solidFill>
                  <a:srgbClr val="5A5A5A"/>
                </a:solidFill>
              </a:rPr>
              <a:t>theo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chuẩn</a:t>
            </a:r>
            <a:r>
              <a:rPr sz="1400" b="0" dirty="0">
                <a:solidFill>
                  <a:srgbClr val="5A5A5A"/>
                </a:solidFill>
              </a:rPr>
              <a:t> pretrained weights.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Nguyên</a:t>
            </a:r>
            <a:r>
              <a:rPr sz="1400" dirty="0"/>
              <a:t> </a:t>
            </a:r>
            <a:r>
              <a:rPr sz="1400" dirty="0" err="1"/>
              <a:t>tắc</a:t>
            </a:r>
            <a:r>
              <a:rPr sz="1400" dirty="0"/>
              <a:t> </a:t>
            </a:r>
            <a:r>
              <a:rPr sz="1400" dirty="0" err="1"/>
              <a:t>thiết</a:t>
            </a:r>
            <a:r>
              <a:rPr sz="1400" dirty="0"/>
              <a:t> </a:t>
            </a:r>
            <a:r>
              <a:rPr sz="1400" dirty="0" err="1"/>
              <a:t>kế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Bảo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nguyên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vẹn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cấu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trúc</a:t>
            </a:r>
            <a:r>
              <a:rPr sz="1400" b="0" dirty="0">
                <a:solidFill>
                  <a:srgbClr val="5A5A5A"/>
                </a:solidFill>
              </a:rPr>
              <a:t>; </a:t>
            </a:r>
            <a:r>
              <a:rPr sz="1400" b="0" dirty="0" err="1">
                <a:solidFill>
                  <a:srgbClr val="5A5A5A"/>
                </a:solidFill>
              </a:rPr>
              <a:t>kiên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quyết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dụng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tùy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chứng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Minh </a:t>
            </a:r>
            <a:r>
              <a:rPr dirty="0" err="1"/>
              <a:t>Họa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&amp; Sau Resize</a:t>
            </a:r>
          </a:p>
        </p:txBody>
      </p:sp>
      <p:pic>
        <p:nvPicPr>
          <p:cNvPr id="11" name="Picture 10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4846320" cy="23192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800600"/>
            <a:ext cx="4846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1E1E"/>
                </a:solidFill>
              </a:defRPr>
            </a:pPr>
            <a:r>
              <a:rPr sz="1400" dirty="0"/>
              <a:t> Quan </a:t>
            </a:r>
            <a:r>
              <a:rPr sz="1400" dirty="0" err="1"/>
              <a:t>sát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nghiệm</a:t>
            </a:r>
            <a:r>
              <a:rPr sz="1400" dirty="0"/>
              <a:t>:</a:t>
            </a:r>
          </a:p>
          <a:p>
            <a:pPr>
              <a:defRPr sz="1150">
                <a:solidFill>
                  <a:srgbClr val="222222"/>
                </a:solidFill>
              </a:defRPr>
            </a:pPr>
            <a:r>
              <a:rPr sz="1400" dirty="0"/>
              <a:t>• Resize </a:t>
            </a:r>
            <a:r>
              <a:rPr sz="1400" dirty="0" err="1"/>
              <a:t>trực</a:t>
            </a:r>
            <a:r>
              <a:rPr sz="1400" dirty="0"/>
              <a:t> </a:t>
            </a:r>
            <a:r>
              <a:rPr sz="1400" dirty="0" err="1"/>
              <a:t>tiếp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</a:t>
            </a:r>
            <a:r>
              <a:rPr sz="1400" dirty="0" err="1"/>
              <a:t>thể</a:t>
            </a:r>
            <a:r>
              <a:rPr sz="1400" dirty="0"/>
              <a:t> </a:t>
            </a:r>
            <a:r>
              <a:rPr sz="1400" dirty="0" err="1"/>
              <a:t>làm</a:t>
            </a:r>
            <a:r>
              <a:rPr sz="1400" dirty="0"/>
              <a:t> </a:t>
            </a:r>
            <a:r>
              <a:rPr sz="1400" dirty="0" err="1"/>
              <a:t>méo</a:t>
            </a:r>
            <a:r>
              <a:rPr sz="1400" dirty="0"/>
              <a:t> </a:t>
            </a:r>
            <a:r>
              <a:rPr sz="1400" dirty="0" err="1"/>
              <a:t>tỷ</a:t>
            </a:r>
            <a:r>
              <a:rPr sz="1400" dirty="0"/>
              <a:t> </a:t>
            </a:r>
            <a:r>
              <a:rPr sz="1400" dirty="0" err="1"/>
              <a:t>lệ</a:t>
            </a:r>
            <a:r>
              <a:rPr sz="1400" dirty="0"/>
              <a:t> </a:t>
            </a:r>
            <a:r>
              <a:rPr sz="1400" dirty="0" err="1"/>
              <a:t>nếu</a:t>
            </a:r>
            <a:r>
              <a:rPr sz="1400" dirty="0"/>
              <a:t> </a:t>
            </a:r>
            <a:r>
              <a:rPr sz="1400" dirty="0" err="1"/>
              <a:t>ảnh</a:t>
            </a:r>
            <a:r>
              <a:rPr sz="1400" dirty="0"/>
              <a:t> </a:t>
            </a:r>
            <a:r>
              <a:rPr sz="1400" dirty="0" err="1"/>
              <a:t>gốc</a:t>
            </a:r>
            <a:r>
              <a:rPr sz="1400" dirty="0"/>
              <a:t> </a:t>
            </a:r>
            <a:r>
              <a:rPr sz="1400" dirty="0" err="1"/>
              <a:t>không</a:t>
            </a:r>
            <a:r>
              <a:rPr sz="1400" dirty="0"/>
              <a:t> </a:t>
            </a:r>
            <a:r>
              <a:rPr sz="1400" dirty="0" err="1"/>
              <a:t>vuông</a:t>
            </a:r>
            <a:r>
              <a:rPr sz="1400" dirty="0"/>
              <a:t>, </a:t>
            </a:r>
            <a:r>
              <a:rPr sz="1400" dirty="0" err="1"/>
              <a:t>nhưng</a:t>
            </a:r>
            <a:r>
              <a:rPr sz="1400" dirty="0"/>
              <a:t> </a:t>
            </a:r>
            <a:r>
              <a:rPr sz="1400" dirty="0" err="1"/>
              <a:t>bù</a:t>
            </a:r>
            <a:r>
              <a:rPr sz="1400" dirty="0"/>
              <a:t> </a:t>
            </a:r>
            <a:r>
              <a:rPr sz="1400" dirty="0" err="1"/>
              <a:t>lại</a:t>
            </a:r>
            <a:r>
              <a:rPr sz="1400" dirty="0"/>
              <a:t> </a:t>
            </a:r>
            <a:r>
              <a:rPr sz="1400" dirty="0" err="1"/>
              <a:t>giữ</a:t>
            </a:r>
            <a:r>
              <a:rPr sz="1400" dirty="0"/>
              <a:t> </a:t>
            </a:r>
            <a:r>
              <a:rPr sz="1400" dirty="0" err="1"/>
              <a:t>được</a:t>
            </a:r>
            <a:r>
              <a:rPr sz="1400" dirty="0"/>
              <a:t> </a:t>
            </a:r>
            <a:r>
              <a:rPr sz="1400" dirty="0" err="1"/>
              <a:t>diện</a:t>
            </a:r>
            <a:r>
              <a:rPr sz="1400" dirty="0"/>
              <a:t> </a:t>
            </a:r>
            <a:r>
              <a:rPr sz="1400" dirty="0" err="1"/>
              <a:t>tích</a:t>
            </a:r>
            <a:r>
              <a:rPr sz="1400" dirty="0"/>
              <a:t> </a:t>
            </a:r>
            <a:r>
              <a:rPr sz="1400" dirty="0" err="1"/>
              <a:t>vùng</a:t>
            </a:r>
            <a:r>
              <a:rPr sz="1400" dirty="0"/>
              <a:t> </a:t>
            </a:r>
            <a:r>
              <a:rPr sz="1400" dirty="0" err="1"/>
              <a:t>tổn</a:t>
            </a:r>
            <a:r>
              <a:rPr sz="1400" dirty="0"/>
              <a:t> </a:t>
            </a:r>
            <a:r>
              <a:rPr sz="1400" dirty="0" err="1"/>
              <a:t>thương</a:t>
            </a:r>
            <a:r>
              <a:rPr sz="1400" dirty="0"/>
              <a:t> </a:t>
            </a:r>
            <a:r>
              <a:rPr sz="1400" dirty="0" err="1"/>
              <a:t>lớn</a:t>
            </a:r>
            <a:r>
              <a:rPr sz="1400" dirty="0"/>
              <a:t> </a:t>
            </a:r>
            <a:r>
              <a:rPr sz="1400" dirty="0" err="1"/>
              <a:t>nhất</a:t>
            </a:r>
            <a:r>
              <a:rPr sz="1400" dirty="0"/>
              <a:t> </a:t>
            </a:r>
            <a:r>
              <a:rPr sz="1400" dirty="0" err="1"/>
              <a:t>trong</a:t>
            </a:r>
            <a:r>
              <a:rPr sz="1400" dirty="0"/>
              <a:t> </a:t>
            </a:r>
            <a:r>
              <a:rPr sz="1400" dirty="0" err="1"/>
              <a:t>khung</a:t>
            </a:r>
            <a:r>
              <a:rPr sz="1400" dirty="0"/>
              <a:t> 224x224.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6/18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C436FE3-D9BC-4D75-88D6-96042E0F2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84" y="5174365"/>
            <a:ext cx="4419632" cy="5143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763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Khảo Sát 10 Phương Án Tiền Xử Lý (P01 – P10)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 err="1"/>
              <a:t>Tiền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lýnhìn</a:t>
            </a:r>
            <a:r>
              <a:rPr dirty="0"/>
              <a:t> '</a:t>
            </a:r>
            <a:r>
              <a:rPr dirty="0" err="1"/>
              <a:t>đẹp</a:t>
            </a:r>
            <a:r>
              <a:rPr dirty="0"/>
              <a:t> </a:t>
            </a:r>
            <a:r>
              <a:rPr dirty="0" err="1"/>
              <a:t>mắt</a:t>
            </a:r>
            <a:r>
              <a:rPr dirty="0"/>
              <a:t>'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đồng</a:t>
            </a:r>
            <a:r>
              <a:rPr dirty="0"/>
              <a:t> </a:t>
            </a:r>
            <a:r>
              <a:rPr dirty="0" err="1"/>
              <a:t>nghĩa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việc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</a:t>
            </a:r>
            <a:r>
              <a:rPr dirty="0" err="1"/>
              <a:t>tốt</a:t>
            </a:r>
            <a:r>
              <a:rPr dirty="0"/>
              <a:t> </a:t>
            </a:r>
            <a:r>
              <a:rPr dirty="0" err="1"/>
              <a:t>hơn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762986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10 </a:t>
            </a:r>
            <a:r>
              <a:rPr dirty="0" err="1"/>
              <a:t>Phương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So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Mốc</a:t>
            </a:r>
            <a:r>
              <a:rPr dirty="0"/>
              <a:t> T02B </a:t>
            </a:r>
          </a:p>
        </p:txBody>
      </p:sp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77440"/>
            <a:ext cx="4892040" cy="22014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4754880"/>
            <a:ext cx="48920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1E1E"/>
                </a:solidFill>
              </a:defRPr>
            </a:pPr>
            <a:r>
              <a:rPr sz="1400" dirty="0" err="1"/>
              <a:t>Không</a:t>
            </a:r>
            <a:r>
              <a:rPr sz="1400" dirty="0"/>
              <a:t> </a:t>
            </a:r>
            <a:r>
              <a:rPr sz="1400" dirty="0" err="1"/>
              <a:t>phương</a:t>
            </a:r>
            <a:r>
              <a:rPr sz="1400" dirty="0"/>
              <a:t> </a:t>
            </a:r>
            <a:r>
              <a:rPr sz="1400" dirty="0" err="1"/>
              <a:t>án</a:t>
            </a:r>
            <a:r>
              <a:rPr sz="1400" dirty="0"/>
              <a:t> </a:t>
            </a:r>
            <a:r>
              <a:rPr sz="1400" dirty="0" err="1"/>
              <a:t>nào</a:t>
            </a:r>
            <a:r>
              <a:rPr sz="1400" dirty="0"/>
              <a:t> </a:t>
            </a:r>
            <a:r>
              <a:rPr sz="1400" dirty="0" err="1"/>
              <a:t>vượt</a:t>
            </a:r>
            <a:r>
              <a:rPr sz="1400" dirty="0"/>
              <a:t> </a:t>
            </a:r>
            <a:r>
              <a:rPr sz="1400" dirty="0" err="1"/>
              <a:t>mốc</a:t>
            </a:r>
            <a:r>
              <a:rPr sz="1400" dirty="0"/>
              <a:t> T02B (60.30%)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rPr sz="1400" dirty="0" err="1"/>
              <a:t>Tất</a:t>
            </a:r>
            <a:r>
              <a:rPr sz="1400" dirty="0"/>
              <a:t> </a:t>
            </a:r>
            <a:r>
              <a:rPr sz="1400" dirty="0" err="1"/>
              <a:t>cả</a:t>
            </a:r>
            <a:r>
              <a:rPr sz="1400" dirty="0"/>
              <a:t> 10 </a:t>
            </a:r>
            <a:r>
              <a:rPr sz="1400" dirty="0" err="1"/>
              <a:t>kỹ</a:t>
            </a:r>
            <a:r>
              <a:rPr sz="1400" dirty="0"/>
              <a:t> </a:t>
            </a:r>
            <a:r>
              <a:rPr sz="1400" dirty="0" err="1"/>
              <a:t>thuật</a:t>
            </a:r>
            <a:r>
              <a:rPr sz="1400" dirty="0"/>
              <a:t> can </a:t>
            </a:r>
            <a:r>
              <a:rPr sz="1400" dirty="0" err="1"/>
              <a:t>thiệp</a:t>
            </a:r>
            <a:r>
              <a:rPr sz="1400" dirty="0"/>
              <a:t> pixel </a:t>
            </a:r>
            <a:r>
              <a:rPr sz="1400" dirty="0" err="1"/>
              <a:t>đều</a:t>
            </a:r>
            <a:r>
              <a:rPr sz="1400" dirty="0"/>
              <a:t> </a:t>
            </a:r>
            <a:r>
              <a:rPr sz="1400" dirty="0" err="1"/>
              <a:t>cho</a:t>
            </a:r>
            <a:r>
              <a:rPr sz="1400" dirty="0"/>
              <a:t>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 Macro-F1 </a:t>
            </a:r>
            <a:r>
              <a:rPr sz="1400" dirty="0" err="1"/>
              <a:t>thấp</a:t>
            </a:r>
            <a:r>
              <a:rPr sz="1400" dirty="0"/>
              <a:t> </a:t>
            </a:r>
            <a:r>
              <a:rPr sz="1400" dirty="0" err="1"/>
              <a:t>hơn</a:t>
            </a:r>
            <a:r>
              <a:rPr sz="1400" dirty="0"/>
              <a:t> </a:t>
            </a:r>
            <a:r>
              <a:rPr sz="1400" dirty="0" err="1"/>
              <a:t>hoặc</a:t>
            </a:r>
            <a:r>
              <a:rPr sz="1400" dirty="0"/>
              <a:t> </a:t>
            </a:r>
            <a:r>
              <a:rPr sz="1400" dirty="0" err="1"/>
              <a:t>chỉ</a:t>
            </a:r>
            <a:r>
              <a:rPr sz="1400" dirty="0"/>
              <a:t> </a:t>
            </a:r>
            <a:r>
              <a:rPr sz="1400" dirty="0" err="1"/>
              <a:t>xấp</a:t>
            </a:r>
            <a:r>
              <a:rPr sz="1400" dirty="0"/>
              <a:t> </a:t>
            </a:r>
            <a:r>
              <a:rPr sz="1400" dirty="0" err="1"/>
              <a:t>xỉ</a:t>
            </a:r>
            <a:r>
              <a:rPr sz="1400" dirty="0"/>
              <a:t> </a:t>
            </a:r>
            <a:r>
              <a:rPr sz="1400" dirty="0" err="1"/>
              <a:t>ảnh</a:t>
            </a:r>
            <a:r>
              <a:rPr sz="1400" dirty="0"/>
              <a:t> </a:t>
            </a:r>
            <a:r>
              <a:rPr sz="1400" dirty="0" err="1"/>
              <a:t>gốc</a:t>
            </a:r>
            <a:r>
              <a:rPr sz="1400" dirty="0"/>
              <a:t> </a:t>
            </a:r>
            <a:r>
              <a:rPr sz="1400" dirty="0" err="1"/>
              <a:t>chuẩn</a:t>
            </a:r>
            <a:r>
              <a:rPr sz="1400" dirty="0"/>
              <a:t> </a:t>
            </a:r>
            <a:r>
              <a:rPr sz="1400" dirty="0" err="1"/>
              <a:t>hóa</a:t>
            </a:r>
            <a:r>
              <a:rPr sz="1400"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Cơ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&amp; </a:t>
            </a:r>
            <a:r>
              <a:rPr dirty="0" err="1"/>
              <a:t>Rủi</a:t>
            </a:r>
            <a:r>
              <a:rPr dirty="0"/>
              <a:t> Ro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484632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P01 </a:t>
            </a:r>
            <a:r>
              <a:rPr sz="1400" dirty="0" err="1"/>
              <a:t>Giữ</a:t>
            </a:r>
            <a:r>
              <a:rPr sz="1400" dirty="0"/>
              <a:t> </a:t>
            </a:r>
            <a:r>
              <a:rPr sz="1400" dirty="0" err="1"/>
              <a:t>tỷ</a:t>
            </a:r>
            <a:r>
              <a:rPr sz="1400" dirty="0"/>
              <a:t> </a:t>
            </a:r>
            <a:r>
              <a:rPr sz="1400" dirty="0" err="1"/>
              <a:t>lệ</a:t>
            </a:r>
            <a:r>
              <a:rPr sz="1400" dirty="0"/>
              <a:t> &amp; Padding: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 (-5.00 pp) do </a:t>
            </a:r>
            <a:r>
              <a:rPr sz="1400" b="0" dirty="0" err="1">
                <a:solidFill>
                  <a:srgbClr val="5A5A5A"/>
                </a:solidFill>
              </a:rPr>
              <a:t>chèn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xám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bị</a:t>
            </a:r>
            <a:r>
              <a:rPr sz="1400" b="0" dirty="0">
                <a:solidFill>
                  <a:srgbClr val="5A5A5A"/>
                </a:solidFill>
              </a:rPr>
              <a:t> co </a:t>
            </a:r>
            <a:r>
              <a:rPr sz="1400" b="0" dirty="0" err="1">
                <a:solidFill>
                  <a:srgbClr val="5A5A5A"/>
                </a:solidFill>
              </a:rPr>
              <a:t>nhỏ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mất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phân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hữu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ích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P03 </a:t>
            </a:r>
            <a:r>
              <a:rPr sz="1400" dirty="0" err="1"/>
              <a:t>Tẩy</a:t>
            </a:r>
            <a:r>
              <a:rPr sz="1400" dirty="0"/>
              <a:t> </a:t>
            </a:r>
            <a:r>
              <a:rPr sz="1400" dirty="0" err="1"/>
              <a:t>lông</a:t>
            </a:r>
            <a:r>
              <a:rPr sz="1400" dirty="0"/>
              <a:t> </a:t>
            </a:r>
            <a:r>
              <a:rPr sz="1400" dirty="0" err="1"/>
              <a:t>bằng</a:t>
            </a:r>
            <a:r>
              <a:rPr sz="1400" dirty="0"/>
              <a:t> Inpainting: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-2.91 pp </a:t>
            </a:r>
            <a:r>
              <a:rPr sz="1400" b="0" dirty="0" err="1">
                <a:solidFill>
                  <a:srgbClr val="5A5A5A"/>
                </a:solidFill>
              </a:rPr>
              <a:t>vì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thuật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tẩy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nhòe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luôn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sắc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</a:t>
            </a:r>
            <a:r>
              <a:rPr sz="1400" b="0" dirty="0">
                <a:solidFill>
                  <a:srgbClr val="5A5A5A"/>
                </a:solidFill>
              </a:rPr>
              <a:t> vi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lưới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P04 Shades of Gray: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-1.76 pp do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biến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đổi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sắc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màu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tự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nhiên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cần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mạch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máu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P07 </a:t>
            </a:r>
            <a:r>
              <a:rPr sz="1400" dirty="0" err="1"/>
              <a:t>Lọc</a:t>
            </a:r>
            <a:r>
              <a:rPr sz="1400" dirty="0"/>
              <a:t> Bilateral: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-3.75 pp do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mịn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mức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đường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ranh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khối</a:t>
            </a:r>
            <a:r>
              <a:rPr sz="1400" b="0" dirty="0">
                <a:solidFill>
                  <a:srgbClr val="5A5A5A"/>
                </a:solidFill>
              </a:rPr>
              <a:t> u </a:t>
            </a:r>
            <a:r>
              <a:rPr sz="1400" b="0" dirty="0" err="1">
                <a:solidFill>
                  <a:srgbClr val="5A5A5A"/>
                </a:solidFill>
              </a:rPr>
              <a:t>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Bài</a:t>
            </a:r>
            <a:r>
              <a:rPr sz="1400" dirty="0"/>
              <a:t> </a:t>
            </a:r>
            <a:r>
              <a:rPr sz="1400" dirty="0" err="1"/>
              <a:t>học</a:t>
            </a:r>
            <a:r>
              <a:rPr sz="1400" dirty="0"/>
              <a:t> khoa </a:t>
            </a:r>
            <a:r>
              <a:rPr sz="1400" dirty="0" err="1"/>
              <a:t>học</a:t>
            </a:r>
            <a:r>
              <a:rPr sz="1400" dirty="0"/>
              <a:t> </a:t>
            </a:r>
            <a:r>
              <a:rPr sz="1400" dirty="0" err="1"/>
              <a:t>đắt</a:t>
            </a:r>
            <a:r>
              <a:rPr sz="1400" dirty="0"/>
              <a:t> </a:t>
            </a:r>
            <a:r>
              <a:rPr sz="1400" dirty="0" err="1"/>
              <a:t>giá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Can </a:t>
            </a:r>
            <a:r>
              <a:rPr sz="1400" b="0" dirty="0" err="1">
                <a:solidFill>
                  <a:srgbClr val="5A5A5A"/>
                </a:solidFill>
              </a:rPr>
              <a:t>thiệp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thị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vẻ</a:t>
            </a:r>
            <a:r>
              <a:rPr sz="1400" b="0" dirty="0">
                <a:solidFill>
                  <a:srgbClr val="5A5A5A"/>
                </a:solidFill>
              </a:rPr>
              <a:t> '</a:t>
            </a:r>
            <a:r>
              <a:rPr sz="1400" b="0" dirty="0" err="1">
                <a:solidFill>
                  <a:srgbClr val="5A5A5A"/>
                </a:solidFill>
              </a:rPr>
              <a:t>sạch</a:t>
            </a:r>
            <a:r>
              <a:rPr sz="1400" b="0" dirty="0">
                <a:solidFill>
                  <a:srgbClr val="5A5A5A"/>
                </a:solidFill>
              </a:rPr>
              <a:t>' </a:t>
            </a:r>
            <a:r>
              <a:rPr sz="1400" b="0" dirty="0" err="1">
                <a:solidFill>
                  <a:srgbClr val="5A5A5A"/>
                </a:solidFill>
              </a:rPr>
              <a:t>đối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mắt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người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nhưng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đặc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trưng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ResNet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7/18</a:t>
            </a:r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6D259B2E-A0FE-4DA4-974B-07139489F77B}"/>
              </a:ext>
            </a:extLst>
          </p:cNvPr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3: TIỀN XỬ LÝ ẢNH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Khảo</a:t>
            </a:r>
            <a:r>
              <a:rPr dirty="0"/>
              <a:t> </a:t>
            </a:r>
            <a:r>
              <a:rPr dirty="0" err="1"/>
              <a:t>Sát</a:t>
            </a:r>
            <a:r>
              <a:rPr lang="vi-VN" dirty="0"/>
              <a:t> </a:t>
            </a:r>
            <a:r>
              <a:rPr lang="vi-VN" dirty="0" err="1"/>
              <a:t>thực</a:t>
            </a:r>
            <a:r>
              <a:rPr lang="vi-VN" dirty="0"/>
              <a:t> </a:t>
            </a:r>
            <a:r>
              <a:rPr lang="vi-VN" dirty="0" err="1"/>
              <a:t>nghiệm</a:t>
            </a:r>
            <a:r>
              <a:rPr dirty="0"/>
              <a:t> 10 </a:t>
            </a:r>
            <a:r>
              <a:rPr dirty="0" err="1"/>
              <a:t>Phương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</a:t>
            </a:r>
            <a:r>
              <a:rPr dirty="0" err="1"/>
              <a:t>Tiền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(P01 – P10)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B9AFC-A851-4EBE-8E92-BDE6D79C46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67807336"/>
              </p:ext>
            </p:extLst>
          </p:nvPr>
        </p:nvGraphicFramePr>
        <p:xfrm>
          <a:off x="629305" y="1252053"/>
          <a:ext cx="10953095" cy="4566858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471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8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7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0220">
                <a:tc>
                  <a:txBody>
                    <a:bodyPr/>
                    <a:lstStyle/>
                    <a:p>
                      <a:r>
                        <a:rPr sz="1650" b="1" dirty="0" err="1">
                          <a:solidFill>
                            <a:srgbClr val="24251F"/>
                          </a:solidFill>
                        </a:rPr>
                        <a:t>Mã</a:t>
                      </a:r>
                      <a:endParaRPr sz="1650" b="1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4251F"/>
                          </a:solidFill>
                        </a:rPr>
                        <a:t>Phương án</a:t>
                      </a:r>
                      <a:endParaRPr sz="1650" b="1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4251F"/>
                          </a:solidFill>
                        </a:rPr>
                        <a:t>Rủi ro cần kiểm</a:t>
                      </a:r>
                      <a:endParaRPr sz="1650" b="1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P01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Giữ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tỷ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lệ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+ padding</a:t>
                      </a:r>
                      <a:endParaRPr sz="1650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Giảm chi tiết hữu ích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P02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Cắt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viền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gần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đen</a:t>
                      </a:r>
                      <a:endParaRPr sz="1650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Cắt tổn thương sát mép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P03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Khử lông + inpainting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Xóa nhầm mạng sắc tố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P04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Shades of Gray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Đổi màu / clipping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P05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CLAHE trên kênh L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Khuếch đại nhiễu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P06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Gamma trên kênh L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Đổi tương phản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P07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Bilateral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Mất cấu trúc nhỏ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P08</a:t>
                      </a:r>
                      <a:endParaRPr sz="1650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Xử lý phản sáng nhỏ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Nhầm cấu trúc trắng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022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P09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Hiệu chỉnh sáng cục bộ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Lẫn nền và tổn thương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465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4251F"/>
                          </a:solidFill>
                        </a:rPr>
                        <a:t>P10</a:t>
                      </a:r>
                      <a:endParaRPr sz="1650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Crop </a:t>
                      </a:r>
                      <a:endParaRPr sz="1650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Bỏ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sót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vùng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tổn</a:t>
                      </a:r>
                      <a:r>
                        <a:rPr sz="1650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4251F"/>
                          </a:solidFill>
                        </a:rPr>
                        <a:t>thương</a:t>
                      </a:r>
                      <a:endParaRPr sz="1650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5" name="Rounded Rectangle 2">
            <a:extLst>
              <a:ext uri="{FF2B5EF4-FFF2-40B4-BE49-F238E27FC236}">
                <a16:creationId xmlns:a16="http://schemas.microsoft.com/office/drawing/2014/main" id="{C86774D4-E4C4-42E6-ABD6-06B31CF004A1}"/>
              </a:ext>
            </a:extLst>
          </p:cNvPr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3: TIỀN XỬ LÝ ẢNH</a:t>
            </a:r>
          </a:p>
        </p:txBody>
      </p:sp>
    </p:spTree>
    <p:extLst>
      <p:ext uri="{BB962C8B-B14F-4D97-AF65-F5344CB8AC3E}">
        <p14:creationId xmlns:p14="http://schemas.microsoft.com/office/powerpoint/2010/main" val="1540442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19" y="411480"/>
            <a:ext cx="3898537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4: PIPELINE VÀ PHƯƠNG ÁN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Cường Hóa Đối Xứng Nhóm D4 (T02B)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Tám</a:t>
            </a:r>
            <a:r>
              <a:rPr dirty="0"/>
              <a:t> </a:t>
            </a:r>
            <a:r>
              <a:rPr dirty="0" err="1"/>
              <a:t>Phép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Xứng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Ảnh</a:t>
            </a:r>
            <a:endParaRPr dirty="0"/>
          </a:p>
        </p:txBody>
      </p:sp>
      <p:pic>
        <p:nvPicPr>
          <p:cNvPr id="8" name="Picture 7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4892040" cy="24753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Cơ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&amp;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D4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2416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Bản</a:t>
            </a:r>
            <a:r>
              <a:rPr sz="1400" dirty="0"/>
              <a:t> </a:t>
            </a:r>
            <a:r>
              <a:rPr sz="1400" dirty="0" err="1"/>
              <a:t>chất</a:t>
            </a:r>
            <a:r>
              <a:rPr sz="1400" dirty="0"/>
              <a:t> </a:t>
            </a:r>
            <a:r>
              <a:rPr sz="1400" dirty="0" err="1"/>
              <a:t>nhóm</a:t>
            </a:r>
            <a:r>
              <a:rPr sz="1400" dirty="0"/>
              <a:t> D4: </a:t>
            </a:r>
            <a:r>
              <a:rPr sz="1400" b="0" dirty="0" err="1">
                <a:solidFill>
                  <a:srgbClr val="5A5A5A"/>
                </a:solidFill>
              </a:rPr>
              <a:t>Gồm</a:t>
            </a:r>
            <a:r>
              <a:rPr sz="1400" b="0" dirty="0">
                <a:solidFill>
                  <a:srgbClr val="5A5A5A"/>
                </a:solidFill>
              </a:rPr>
              <a:t> 8 </a:t>
            </a:r>
            <a:r>
              <a:rPr sz="1400" b="0" dirty="0" err="1">
                <a:solidFill>
                  <a:srgbClr val="5A5A5A"/>
                </a:solidFill>
              </a:rPr>
              <a:t>phép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biến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đổi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vuông</a:t>
            </a:r>
            <a:r>
              <a:rPr sz="1400" b="0" dirty="0">
                <a:solidFill>
                  <a:srgbClr val="5A5A5A"/>
                </a:solidFill>
              </a:rPr>
              <a:t>: 4 </a:t>
            </a:r>
            <a:r>
              <a:rPr sz="1400" b="0" dirty="0" err="1">
                <a:solidFill>
                  <a:srgbClr val="5A5A5A"/>
                </a:solidFill>
              </a:rPr>
              <a:t>góc</a:t>
            </a:r>
            <a:r>
              <a:rPr sz="1400" b="0" dirty="0">
                <a:solidFill>
                  <a:srgbClr val="5A5A5A"/>
                </a:solidFill>
              </a:rPr>
              <a:t> quay (0°, 90°, 180°, 270°)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hợp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ngang</a:t>
            </a:r>
            <a:r>
              <a:rPr sz="1400" b="0" dirty="0">
                <a:solidFill>
                  <a:srgbClr val="5A5A5A"/>
                </a:solidFill>
              </a:rPr>
              <a:t>/</a:t>
            </a:r>
            <a:r>
              <a:rPr sz="1400" b="0" dirty="0" err="1">
                <a:solidFill>
                  <a:srgbClr val="5A5A5A"/>
                </a:solidFill>
              </a:rPr>
              <a:t>dọc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Ví</a:t>
            </a:r>
            <a:r>
              <a:rPr sz="1400" dirty="0"/>
              <a:t> </a:t>
            </a:r>
            <a:r>
              <a:rPr sz="1400" dirty="0" err="1"/>
              <a:t>dụ</a:t>
            </a:r>
            <a:r>
              <a:rPr sz="1400" dirty="0"/>
              <a:t> </a:t>
            </a:r>
            <a:r>
              <a:rPr sz="1400" dirty="0" err="1"/>
              <a:t>đời</a:t>
            </a:r>
            <a:r>
              <a:rPr sz="1400" dirty="0"/>
              <a:t> </a:t>
            </a:r>
            <a:r>
              <a:rPr sz="1400" dirty="0" err="1"/>
              <a:t>sống</a:t>
            </a:r>
            <a:r>
              <a:rPr sz="1400" dirty="0"/>
              <a:t> </a:t>
            </a:r>
            <a:r>
              <a:rPr sz="1400" dirty="0" err="1"/>
              <a:t>dễ</a:t>
            </a:r>
            <a:r>
              <a:rPr sz="1400" dirty="0"/>
              <a:t> </a:t>
            </a:r>
            <a:r>
              <a:rPr sz="1400" dirty="0" err="1"/>
              <a:t>hiểu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Một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da </a:t>
            </a:r>
            <a:r>
              <a:rPr sz="1400" b="0" dirty="0" err="1">
                <a:solidFill>
                  <a:srgbClr val="5A5A5A"/>
                </a:solidFill>
              </a:rPr>
              <a:t>dù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nhìn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hướng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nào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thì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bản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lý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vẫn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đổi</a:t>
            </a:r>
            <a:r>
              <a:rPr sz="1400" b="0" dirty="0">
                <a:solidFill>
                  <a:srgbClr val="5A5A5A"/>
                </a:solidFill>
              </a:rPr>
              <a:t>; </a:t>
            </a:r>
            <a:r>
              <a:rPr sz="1400" b="0" dirty="0" err="1">
                <a:solidFill>
                  <a:srgbClr val="5A5A5A"/>
                </a:solidFill>
              </a:rPr>
              <a:t>hướng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cầm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máy</a:t>
            </a:r>
            <a:r>
              <a:rPr sz="1400" b="0" dirty="0">
                <a:solidFill>
                  <a:srgbClr val="5A5A5A"/>
                </a:solidFill>
              </a:rPr>
              <a:t> soi da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đổi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chẩn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đoán</a:t>
            </a:r>
            <a:r>
              <a:rPr sz="1400" b="0" dirty="0">
                <a:solidFill>
                  <a:srgbClr val="5A5A5A"/>
                </a:solidFill>
              </a:rPr>
              <a:t> y khoa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Chỉ</a:t>
            </a:r>
            <a:r>
              <a:rPr sz="1400" dirty="0"/>
              <a:t> </a:t>
            </a:r>
            <a:r>
              <a:rPr sz="1400" dirty="0" err="1"/>
              <a:t>áp</a:t>
            </a:r>
            <a:r>
              <a:rPr sz="1400" dirty="0"/>
              <a:t> </a:t>
            </a:r>
            <a:r>
              <a:rPr sz="1400" dirty="0" err="1"/>
              <a:t>dụng</a:t>
            </a:r>
            <a:r>
              <a:rPr sz="1400" dirty="0"/>
              <a:t> ở Train: </a:t>
            </a:r>
            <a:r>
              <a:rPr sz="1400" b="0" dirty="0">
                <a:solidFill>
                  <a:srgbClr val="5A5A5A"/>
                </a:solidFill>
              </a:rPr>
              <a:t>Validation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Test </a:t>
            </a:r>
            <a:r>
              <a:rPr sz="1400" b="0" dirty="0" err="1">
                <a:solidFill>
                  <a:srgbClr val="5A5A5A"/>
                </a:solidFill>
              </a:rPr>
              <a:t>giữ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nguyên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góc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chụp</a:t>
            </a:r>
            <a:r>
              <a:rPr sz="1400" b="0" dirty="0">
                <a:solidFill>
                  <a:srgbClr val="5A5A5A"/>
                </a:solidFill>
              </a:rPr>
              <a:t> ban </a:t>
            </a:r>
            <a:r>
              <a:rPr sz="1400" b="0" dirty="0" err="1">
                <a:solidFill>
                  <a:srgbClr val="5A5A5A"/>
                </a:solidFill>
              </a:rPr>
              <a:t>đầu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khách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quan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hóa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Hiệu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nghiệm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Macro-F1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sz="1400" b="0" dirty="0">
                <a:solidFill>
                  <a:srgbClr val="5A5A5A"/>
                </a:solidFill>
              </a:rPr>
              <a:t> 55.21% (B00) </a:t>
            </a:r>
            <a:r>
              <a:rPr sz="1400" b="0" dirty="0" err="1">
                <a:solidFill>
                  <a:srgbClr val="5A5A5A"/>
                </a:solidFill>
              </a:rPr>
              <a:t>lên</a:t>
            </a:r>
            <a:r>
              <a:rPr sz="1400" b="0" dirty="0">
                <a:solidFill>
                  <a:srgbClr val="5A5A5A"/>
                </a:solidFill>
              </a:rPr>
              <a:t> 60.30% (T02B) ở Seed 42, </a:t>
            </a:r>
            <a:r>
              <a:rPr sz="1400" b="0" dirty="0" err="1">
                <a:solidFill>
                  <a:srgbClr val="5A5A5A"/>
                </a:solidFill>
              </a:rPr>
              <a:t>mức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lớn</a:t>
            </a:r>
            <a:r>
              <a:rPr sz="1400" b="0" dirty="0">
                <a:solidFill>
                  <a:srgbClr val="5A5A5A"/>
                </a:solidFill>
              </a:rPr>
              <a:t> +5.09 </a:t>
            </a:r>
            <a:r>
              <a:rPr sz="1400" b="0" dirty="0" err="1">
                <a:solidFill>
                  <a:srgbClr val="5A5A5A"/>
                </a:solidFill>
              </a:rPr>
              <a:t>điểm</a:t>
            </a:r>
            <a:r>
              <a:rPr sz="1400" b="0" dirty="0">
                <a:solidFill>
                  <a:srgbClr val="5A5A5A"/>
                </a:solidFill>
              </a:rPr>
              <a:t>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rPr dirty="0" err="1"/>
              <a:t>Đồ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</a:t>
            </a:r>
            <a:r>
              <a:rPr dirty="0" err="1"/>
              <a:t>Khai</a:t>
            </a:r>
            <a:r>
              <a:rPr dirty="0"/>
              <a:t> </a:t>
            </a:r>
            <a:r>
              <a:rPr dirty="0" err="1"/>
              <a:t>Phá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|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: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</a:t>
            </a:r>
            <a:r>
              <a:rPr dirty="0" err="1"/>
              <a:t>Tổn</a:t>
            </a:r>
            <a:r>
              <a:rPr dirty="0"/>
              <a:t> </a:t>
            </a:r>
            <a:r>
              <a:rPr dirty="0" err="1"/>
              <a:t>Thương</a:t>
            </a:r>
            <a:r>
              <a:rPr dirty="0"/>
              <a:t> Da ISIC 2019 (</a:t>
            </a:r>
            <a:r>
              <a:rPr dirty="0" err="1"/>
              <a:t>Nhóm</a:t>
            </a:r>
            <a:r>
              <a:rPr dirty="0"/>
              <a:t> 8 - </a:t>
            </a:r>
            <a:r>
              <a:rPr dirty="0" err="1"/>
              <a:t>Nguyễn</a:t>
            </a:r>
            <a:r>
              <a:rPr dirty="0"/>
              <a:t> </a:t>
            </a:r>
            <a:r>
              <a:rPr dirty="0" err="1"/>
              <a:t>Tuấn</a:t>
            </a:r>
            <a:r>
              <a:rPr dirty="0"/>
              <a:t> </a:t>
            </a:r>
            <a:r>
              <a:rPr dirty="0" err="1"/>
              <a:t>Đức</a:t>
            </a:r>
            <a:r>
              <a:rPr dirty="0"/>
              <a:t>) | Slide </a:t>
            </a:r>
            <a:r>
              <a:rPr lang="vi-VN" dirty="0"/>
              <a:t>8</a:t>
            </a:r>
            <a:r>
              <a:rPr dirty="0"/>
              <a:t>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Chiến Lược Huấn Luyện &amp; Kiến Trúc Đối Chiếu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Hàm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Mát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(L01 - Weighted 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8006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chế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Trọng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tỷ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lệ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nghịch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căn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bậc</a:t>
            </a:r>
            <a:r>
              <a:rPr sz="1400" b="0" dirty="0">
                <a:solidFill>
                  <a:srgbClr val="5A5A5A"/>
                </a:solidFill>
              </a:rPr>
              <a:t> 2 </a:t>
            </a:r>
            <a:r>
              <a:rPr sz="1400" b="0" dirty="0" err="1">
                <a:solidFill>
                  <a:srgbClr val="5A5A5A"/>
                </a:solidFill>
              </a:rPr>
              <a:t>số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mẫu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Macro-F1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60.33% (+0.02 pp), Balanced Acc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(59.95%) </a:t>
            </a:r>
            <a:r>
              <a:rPr sz="1400" b="0" dirty="0" err="1">
                <a:solidFill>
                  <a:srgbClr val="5A5A5A"/>
                </a:solidFill>
              </a:rPr>
              <a:t>nhưng</a:t>
            </a:r>
            <a:r>
              <a:rPr sz="1400" b="0" dirty="0">
                <a:solidFill>
                  <a:srgbClr val="5A5A5A"/>
                </a:solidFill>
              </a:rPr>
              <a:t> Accuracy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xuống</a:t>
            </a:r>
            <a:r>
              <a:rPr sz="1400" b="0" dirty="0">
                <a:solidFill>
                  <a:srgbClr val="5A5A5A"/>
                </a:solidFill>
              </a:rPr>
              <a:t> 74.95% do </a:t>
            </a:r>
            <a:r>
              <a:rPr sz="1400" b="0" dirty="0" err="1">
                <a:solidFill>
                  <a:srgbClr val="5A5A5A"/>
                </a:solidFill>
              </a:rPr>
              <a:t>sinh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thêm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dương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sai</a:t>
            </a:r>
            <a:r>
              <a:rPr sz="1400" b="0" dirty="0">
                <a:solidFill>
                  <a:srgbClr val="5A5A5A"/>
                </a:solidFill>
              </a:rPr>
              <a:t> ở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hiếm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9283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(S01)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80060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chế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Lấy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mẫu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lại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tần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suất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xuất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hiếm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Macro-F1 </a:t>
            </a:r>
            <a:r>
              <a:rPr sz="1400" b="0" dirty="0" err="1">
                <a:solidFill>
                  <a:srgbClr val="5A5A5A"/>
                </a:solidFill>
              </a:rPr>
              <a:t>giảm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xuống</a:t>
            </a:r>
            <a:r>
              <a:rPr sz="1400" b="0" dirty="0">
                <a:solidFill>
                  <a:srgbClr val="5A5A5A"/>
                </a:solidFill>
              </a:rPr>
              <a:t> 58.48% (-1.82 pp). </a:t>
            </a:r>
            <a:r>
              <a:rPr sz="1400" b="0" dirty="0" err="1">
                <a:solidFill>
                  <a:srgbClr val="5A5A5A"/>
                </a:solidFill>
              </a:rPr>
              <a:t>Lặp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nhiều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ít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mẫu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gây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tượng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khớp</a:t>
            </a:r>
            <a:r>
              <a:rPr sz="1400" b="0" dirty="0">
                <a:solidFill>
                  <a:srgbClr val="5A5A5A"/>
                </a:solidFill>
              </a:rPr>
              <a:t> (overfitting) </a:t>
            </a:r>
            <a:r>
              <a:rPr sz="1400" b="0" dirty="0" err="1">
                <a:solidFill>
                  <a:srgbClr val="5A5A5A"/>
                </a:solidFill>
              </a:rPr>
              <a:t>nặng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Learning Rate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Nhóm</a:t>
            </a:r>
            <a:r>
              <a:rPr dirty="0"/>
              <a:t> (F01)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006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chế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chậm</a:t>
            </a:r>
            <a:r>
              <a:rPr sz="1400" b="0" dirty="0">
                <a:solidFill>
                  <a:srgbClr val="5A5A5A"/>
                </a:solidFill>
              </a:rPr>
              <a:t> ở Backbone (1e-5)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bảo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vệ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đặc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trưng</a:t>
            </a:r>
            <a:r>
              <a:rPr sz="1400" b="0" dirty="0">
                <a:solidFill>
                  <a:srgbClr val="5A5A5A"/>
                </a:solidFill>
              </a:rPr>
              <a:t> ImageNet,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nhanh</a:t>
            </a:r>
            <a:r>
              <a:rPr sz="1400" b="0" dirty="0">
                <a:solidFill>
                  <a:srgbClr val="5A5A5A"/>
                </a:solidFill>
              </a:rPr>
              <a:t> ở FC Head (1e-4).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Macro-F1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58.96% (-1.34 pp), </a:t>
            </a:r>
            <a:r>
              <a:rPr sz="1400" b="0" dirty="0" err="1">
                <a:solidFill>
                  <a:srgbClr val="5A5A5A"/>
                </a:solidFill>
              </a:rPr>
              <a:t>tốc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hội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tụ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chậm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cần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thiết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trong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ngân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sách</a:t>
            </a:r>
            <a:r>
              <a:rPr sz="1400" b="0" dirty="0">
                <a:solidFill>
                  <a:srgbClr val="5A5A5A"/>
                </a:solidFill>
              </a:rPr>
              <a:t> 16 epoch.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20624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Chiếu</a:t>
            </a:r>
            <a:r>
              <a:rPr dirty="0"/>
              <a:t>: EfficientNet-B0 (M01)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0060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chế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Thay</a:t>
            </a:r>
            <a:r>
              <a:rPr sz="1400" b="0" dirty="0">
                <a:solidFill>
                  <a:srgbClr val="5A5A5A"/>
                </a:solidFill>
              </a:rPr>
              <a:t> ResNet50 </a:t>
            </a:r>
            <a:r>
              <a:rPr sz="1400" b="0" dirty="0" err="1">
                <a:solidFill>
                  <a:srgbClr val="5A5A5A"/>
                </a:solidFill>
              </a:rPr>
              <a:t>bằng</a:t>
            </a:r>
            <a:r>
              <a:rPr sz="1400" b="0" dirty="0">
                <a:solidFill>
                  <a:srgbClr val="5A5A5A"/>
                </a:solidFill>
              </a:rPr>
              <a:t> EfficientNet-B0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nền</a:t>
            </a:r>
            <a:r>
              <a:rPr sz="1400" b="0" dirty="0">
                <a:solidFill>
                  <a:srgbClr val="5A5A5A"/>
                </a:solidFill>
              </a:rPr>
              <a:t> D4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Cross-Entropy.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Macro-F1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58.44% (-1.86 pp) so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ResNet50 (60.30%). ResNet50 </a:t>
            </a:r>
            <a:r>
              <a:rPr sz="1400" b="0" dirty="0" err="1">
                <a:solidFill>
                  <a:srgbClr val="5A5A5A"/>
                </a:solidFill>
              </a:rPr>
              <a:t>vẫn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lựa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chọn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vững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chắc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trong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bài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này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9/18</a:t>
            </a:r>
          </a:p>
        </p:txBody>
      </p:sp>
      <p:sp>
        <p:nvSpPr>
          <p:cNvPr id="19" name="Rounded Rectangle 2">
            <a:extLst>
              <a:ext uri="{FF2B5EF4-FFF2-40B4-BE49-F238E27FC236}">
                <a16:creationId xmlns:a16="http://schemas.microsoft.com/office/drawing/2014/main" id="{F7361841-ECDC-4F8B-B45E-EE2B1A817970}"/>
              </a:ext>
            </a:extLst>
          </p:cNvPr>
          <p:cNvSpPr/>
          <p:nvPr/>
        </p:nvSpPr>
        <p:spPr>
          <a:xfrm>
            <a:off x="731519" y="411480"/>
            <a:ext cx="3898537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4: PIPELINE VÀ PHƯƠNG ÁN NGHIÊN CỨU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4043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rPr lang="vi-VN" dirty="0" err="1"/>
              <a:t>Các</a:t>
            </a:r>
            <a:r>
              <a:rPr lang="vi-VN" dirty="0"/>
              <a:t> phương </a:t>
            </a:r>
            <a:r>
              <a:rPr lang="vi-VN" dirty="0" err="1"/>
              <a:t>án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thử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cải</a:t>
            </a:r>
            <a:r>
              <a:rPr lang="vi-VN" dirty="0"/>
              <a:t> </a:t>
            </a:r>
            <a:r>
              <a:rPr lang="vi-VN" dirty="0" err="1"/>
              <a:t>thiện</a:t>
            </a:r>
            <a:r>
              <a:rPr lang="vi-VN" dirty="0"/>
              <a:t>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quả</a:t>
            </a:r>
            <a:r>
              <a:rPr lang="vi-VN" dirty="0"/>
              <a:t> phân </a:t>
            </a:r>
            <a:r>
              <a:rPr lang="vi-VN" dirty="0" err="1"/>
              <a:t>loại</a:t>
            </a:r>
            <a:endParaRPr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CC13429-D51A-4FF5-9A3A-8A188B4AF5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4807867"/>
              </p:ext>
            </p:extLst>
          </p:nvPr>
        </p:nvGraphicFramePr>
        <p:xfrm>
          <a:off x="537029" y="1428750"/>
          <a:ext cx="11131096" cy="4354288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5118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2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5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15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4286">
                <a:tc>
                  <a:txBody>
                    <a:bodyPr/>
                    <a:lstStyle/>
                    <a:p>
                      <a:r>
                        <a:rPr sz="1725" b="1" dirty="0">
                          <a:solidFill>
                            <a:srgbClr val="24251F"/>
                          </a:solidFill>
                        </a:rPr>
                        <a:t>Run</a:t>
                      </a:r>
                      <a:endParaRPr sz="1725" b="1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24251F"/>
                          </a:solidFill>
                        </a:rPr>
                        <a:t>Thay</a:t>
                      </a:r>
                      <a:r>
                        <a:rPr sz="1725" b="1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24251F"/>
                          </a:solidFill>
                        </a:rPr>
                        <a:t>đổi</a:t>
                      </a:r>
                      <a:r>
                        <a:rPr sz="1725" b="1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24251F"/>
                          </a:solidFill>
                        </a:rPr>
                        <a:t>chính</a:t>
                      </a:r>
                      <a:endParaRPr sz="1725" b="1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4251F"/>
                          </a:solidFill>
                        </a:rPr>
                        <a:t>Val macro-F1 %</a:t>
                      </a:r>
                      <a:endParaRPr sz="1725" b="1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4251F"/>
                          </a:solidFill>
                        </a:rPr>
                        <a:t>Δ điểm %</a:t>
                      </a:r>
                      <a:endParaRPr sz="1725" b="1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lang="vi-VN" sz="1725" b="0" dirty="0">
                          <a:solidFill>
                            <a:srgbClr val="24251F"/>
                          </a:solidFill>
                        </a:rPr>
                        <a:t>B00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vi-VN" sz="1725" b="0" dirty="0">
                          <a:solidFill>
                            <a:srgbClr val="24251F"/>
                          </a:solidFill>
                        </a:rPr>
                        <a:t>Không </a:t>
                      </a:r>
                      <a:r>
                        <a:rPr lang="vi-VN" sz="1725" b="0" dirty="0" err="1">
                          <a:solidFill>
                            <a:srgbClr val="24251F"/>
                          </a:solidFill>
                        </a:rPr>
                        <a:t>có</a:t>
                      </a:r>
                      <a:r>
                        <a:rPr lang="vi-VN"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lang="vi-VN" sz="1725" b="0" dirty="0" err="1">
                          <a:solidFill>
                            <a:srgbClr val="24251F"/>
                          </a:solidFill>
                        </a:rPr>
                        <a:t>augmentation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vi-VN" sz="1725" b="0" dirty="0">
                          <a:solidFill>
                            <a:srgbClr val="24251F"/>
                          </a:solidFill>
                        </a:rPr>
                        <a:t>55.2115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vi-VN" sz="1725" b="0" dirty="0">
                          <a:solidFill>
                            <a:srgbClr val="24251F"/>
                          </a:solidFill>
                        </a:rPr>
                        <a:t>-5.0887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350929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T02B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D4 + CE thường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60,3002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24251F"/>
                          </a:solidFill>
                        </a:rPr>
                        <a:t>Mốc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T02A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Lật ngang / dọc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58,5276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−1,7725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L01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CE trọng số 1/√n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60,3251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+0,0249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S01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Sampler </a:t>
                      </a:r>
                      <a:r>
                        <a:rPr sz="1725" b="0" dirty="0" err="1">
                          <a:solidFill>
                            <a:srgbClr val="24251F"/>
                          </a:solidFill>
                        </a:rPr>
                        <a:t>cân</a:t>
                      </a:r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725" b="0" dirty="0" err="1">
                          <a:solidFill>
                            <a:srgbClr val="24251F"/>
                          </a:solidFill>
                        </a:rPr>
                        <a:t>bằng</a:t>
                      </a:r>
                      <a:r>
                        <a:rPr lang="en-US" sz="1725" b="0" dirty="0">
                          <a:solidFill>
                            <a:srgbClr val="24251F"/>
                          </a:solidFill>
                        </a:rPr>
                        <a:t> (</a:t>
                      </a:r>
                      <a:r>
                        <a:rPr lang="en-US" sz="1725" b="0" dirty="0" err="1">
                          <a:solidFill>
                            <a:srgbClr val="24251F"/>
                          </a:solidFill>
                        </a:rPr>
                        <a:t>lấy</a:t>
                      </a:r>
                      <a:r>
                        <a:rPr lang="en-US"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lang="en-US" sz="1725" b="0" dirty="0" err="1">
                          <a:solidFill>
                            <a:srgbClr val="24251F"/>
                          </a:solidFill>
                        </a:rPr>
                        <a:t>mẫu</a:t>
                      </a:r>
                      <a:r>
                        <a:rPr lang="en-US"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lang="en-US" sz="1725" b="0" dirty="0" err="1">
                          <a:solidFill>
                            <a:srgbClr val="24251F"/>
                          </a:solidFill>
                        </a:rPr>
                        <a:t>có</a:t>
                      </a:r>
                      <a:r>
                        <a:rPr lang="en-US"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lang="en-US" sz="1725" b="0" dirty="0" err="1">
                          <a:solidFill>
                            <a:srgbClr val="24251F"/>
                          </a:solidFill>
                        </a:rPr>
                        <a:t>hoàn</a:t>
                      </a:r>
                      <a:r>
                        <a:rPr lang="en-US"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lang="en-US" sz="1725" b="0" dirty="0" err="1">
                          <a:solidFill>
                            <a:srgbClr val="24251F"/>
                          </a:solidFill>
                        </a:rPr>
                        <a:t>lại</a:t>
                      </a:r>
                      <a:r>
                        <a:rPr lang="en-US" sz="1725" b="0" dirty="0">
                          <a:solidFill>
                            <a:srgbClr val="24251F"/>
                          </a:solidFill>
                        </a:rPr>
                        <a:t>)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58,4844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−1,8157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F01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L</a:t>
                      </a:r>
                      <a:r>
                        <a:rPr lang="vi-VN" sz="1725" b="0" dirty="0" err="1">
                          <a:solidFill>
                            <a:srgbClr val="24251F"/>
                          </a:solidFill>
                        </a:rPr>
                        <a:t>earninng</a:t>
                      </a:r>
                      <a:r>
                        <a:rPr lang="vi-VN"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lang="vi-VN" sz="1725" b="0" dirty="0" err="1">
                          <a:solidFill>
                            <a:srgbClr val="24251F"/>
                          </a:solidFill>
                        </a:rPr>
                        <a:t>Rate</a:t>
                      </a:r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 backbone / fc </a:t>
                      </a:r>
                      <a:r>
                        <a:rPr sz="1725" b="0" dirty="0" err="1">
                          <a:solidFill>
                            <a:srgbClr val="24251F"/>
                          </a:solidFill>
                        </a:rPr>
                        <a:t>khác</a:t>
                      </a:r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 </a:t>
                      </a:r>
                      <a:r>
                        <a:rPr sz="1725" b="0" dirty="0" err="1">
                          <a:solidFill>
                            <a:srgbClr val="24251F"/>
                          </a:solidFill>
                        </a:rPr>
                        <a:t>nhau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58,9639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−1,3362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M01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EfficientNet-B0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4251F"/>
                          </a:solidFill>
                        </a:rPr>
                        <a:t>58,4366</a:t>
                      </a:r>
                      <a:endParaRPr sz="1725" b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25" b="0" dirty="0">
                          <a:solidFill>
                            <a:srgbClr val="24251F"/>
                          </a:solidFill>
                        </a:rPr>
                        <a:t>−1,8636</a:t>
                      </a:r>
                      <a:endParaRPr sz="1725" b="0" dirty="0">
                        <a:solidFill>
                          <a:srgbClr val="24251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69235050-C984-40D6-B633-C6612532F518}"/>
              </a:ext>
            </a:extLst>
          </p:cNvPr>
          <p:cNvSpPr>
            <a:spLocks noGrp="1"/>
          </p:cNvSpPr>
          <p:nvPr/>
        </p:nvSpPr>
        <p:spPr>
          <a:xfrm>
            <a:off x="552450" y="5886450"/>
            <a:ext cx="108108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Autofit/>
          </a:bodyPr>
          <a:lstStyle>
            <a:def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62635B"/>
                </a:solidFill>
                <a:latin typeface="DejaVu Sans"/>
                <a:ea typeface="DejaVu Sans"/>
                <a:cs typeface="DejaVu Sans"/>
              </a:rPr>
              <a:t>L01: CI95 của Δ [−4,2142; +4,5948] điểm %. Chưa đủ bằng chứng thay T02B.</a:t>
            </a:r>
          </a:p>
        </p:txBody>
      </p:sp>
      <p:sp>
        <p:nvSpPr>
          <p:cNvPr id="21" name="Rounded Rectangle 2">
            <a:extLst>
              <a:ext uri="{FF2B5EF4-FFF2-40B4-BE49-F238E27FC236}">
                <a16:creationId xmlns:a16="http://schemas.microsoft.com/office/drawing/2014/main" id="{3B331395-FD81-4E2A-A459-4B256687DCCE}"/>
              </a:ext>
            </a:extLst>
          </p:cNvPr>
          <p:cNvSpPr/>
          <p:nvPr/>
        </p:nvSpPr>
        <p:spPr>
          <a:xfrm>
            <a:off x="731519" y="411480"/>
            <a:ext cx="3898537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4: PIPELINE VÀ PHƯƠNG ÁN NGHIÊN CỨU</a:t>
            </a:r>
          </a:p>
        </p:txBody>
      </p:sp>
    </p:spTree>
    <p:extLst>
      <p:ext uri="{BB962C8B-B14F-4D97-AF65-F5344CB8AC3E}">
        <p14:creationId xmlns:p14="http://schemas.microsoft.com/office/powerpoint/2010/main" val="3801535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19" y="411480"/>
            <a:ext cx="3666309" cy="274320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5: THIẾT KẾ THỰC NGHIỆM VÀ TÁI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Quy Trình Huấn Luyện &amp; Tiêu Chí Dừng Sớm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lang="vi-VN" dirty="0" err="1"/>
              <a:t>Protocol</a:t>
            </a:r>
            <a:r>
              <a:rPr lang="vi-VN"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T02B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Khóa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0060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Backbone: </a:t>
            </a:r>
            <a:r>
              <a:rPr sz="1400" b="0" dirty="0">
                <a:solidFill>
                  <a:srgbClr val="5A5A5A"/>
                </a:solidFill>
              </a:rPr>
              <a:t>ResNet50 pretrained ImageNet V1, </a:t>
            </a:r>
            <a:r>
              <a:rPr sz="1400" b="0" dirty="0" err="1">
                <a:solidFill>
                  <a:srgbClr val="5A5A5A"/>
                </a:solidFill>
              </a:rPr>
              <a:t>thay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phân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loại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cuối</a:t>
            </a:r>
            <a:r>
              <a:rPr sz="1400" b="0" dirty="0">
                <a:solidFill>
                  <a:srgbClr val="5A5A5A"/>
                </a:solidFill>
              </a:rPr>
              <a:t> FC 2048 -&gt; 8 logits.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Hàm</a:t>
            </a:r>
            <a:r>
              <a:rPr sz="1400" dirty="0"/>
              <a:t> </a:t>
            </a:r>
            <a:r>
              <a:rPr sz="1400" dirty="0" err="1"/>
              <a:t>mất</a:t>
            </a:r>
            <a:r>
              <a:rPr sz="1400" dirty="0"/>
              <a:t> </a:t>
            </a:r>
            <a:r>
              <a:rPr sz="1400" dirty="0" err="1"/>
              <a:t>mát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Cross-Entropy </a:t>
            </a:r>
            <a:r>
              <a:rPr sz="1400" b="0" dirty="0" err="1">
                <a:solidFill>
                  <a:srgbClr val="5A5A5A"/>
                </a:solidFill>
              </a:rPr>
              <a:t>tiêu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chuẩn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trọng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số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Tối</a:t>
            </a:r>
            <a:r>
              <a:rPr sz="1400" dirty="0"/>
              <a:t> </a:t>
            </a:r>
            <a:r>
              <a:rPr sz="1400" dirty="0" err="1"/>
              <a:t>ưu</a:t>
            </a:r>
            <a:r>
              <a:rPr sz="1400" dirty="0"/>
              <a:t> </a:t>
            </a:r>
            <a:r>
              <a:rPr sz="1400" dirty="0" err="1"/>
              <a:t>hóa</a:t>
            </a:r>
            <a:r>
              <a:rPr sz="1400" dirty="0"/>
              <a:t> (Optimizer): </a:t>
            </a:r>
            <a:r>
              <a:rPr sz="1400" b="0" dirty="0" err="1">
                <a:solidFill>
                  <a:srgbClr val="5A5A5A"/>
                </a:solidFill>
              </a:rPr>
              <a:t>AdamW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learning rate = 1e-4, weight decay = 1e-4.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Bộ</a:t>
            </a:r>
            <a:r>
              <a:rPr sz="1400" dirty="0"/>
              <a:t> </a:t>
            </a:r>
            <a:r>
              <a:rPr sz="1400" dirty="0" err="1"/>
              <a:t>điều</a:t>
            </a:r>
            <a:r>
              <a:rPr sz="1400" dirty="0"/>
              <a:t> </a:t>
            </a:r>
            <a:r>
              <a:rPr sz="1400" dirty="0" err="1"/>
              <a:t>chỉnh</a:t>
            </a:r>
            <a:r>
              <a:rPr sz="1400" dirty="0"/>
              <a:t> LR: </a:t>
            </a:r>
            <a:r>
              <a:rPr sz="1400" b="0" dirty="0" err="1">
                <a:solidFill>
                  <a:srgbClr val="5A5A5A"/>
                </a:solidFill>
              </a:rPr>
              <a:t>CosineAnnealingLR</a:t>
            </a:r>
            <a:r>
              <a:rPr sz="1400" b="0" dirty="0">
                <a:solidFill>
                  <a:srgbClr val="5A5A5A"/>
                </a:solidFill>
              </a:rPr>
              <a:t> (</a:t>
            </a:r>
            <a:r>
              <a:rPr sz="1400" b="0" dirty="0" err="1">
                <a:solidFill>
                  <a:srgbClr val="5A5A5A"/>
                </a:solidFill>
              </a:rPr>
              <a:t>T_max</a:t>
            </a:r>
            <a:r>
              <a:rPr sz="1400" b="0" dirty="0">
                <a:solidFill>
                  <a:srgbClr val="5A5A5A"/>
                </a:solidFill>
              </a:rPr>
              <a:t> = 16 epoch, </a:t>
            </a:r>
            <a:r>
              <a:rPr sz="1400" b="0" dirty="0" err="1">
                <a:solidFill>
                  <a:srgbClr val="5A5A5A"/>
                </a:solidFill>
              </a:rPr>
              <a:t>cập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cuối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mỗi</a:t>
            </a:r>
            <a:r>
              <a:rPr sz="1400" b="0" dirty="0">
                <a:solidFill>
                  <a:srgbClr val="5A5A5A"/>
                </a:solidFill>
              </a:rPr>
              <a:t> epoch).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Chí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Checkpoint &amp; </a:t>
            </a:r>
            <a:r>
              <a:rPr dirty="0" err="1"/>
              <a:t>Dừng</a:t>
            </a:r>
            <a:r>
              <a:rPr dirty="0"/>
              <a:t> </a:t>
            </a:r>
            <a:r>
              <a:rPr dirty="0" err="1"/>
              <a:t>Sớm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Quy</a:t>
            </a:r>
            <a:r>
              <a:rPr sz="1400" dirty="0"/>
              <a:t> </a:t>
            </a:r>
            <a:r>
              <a:rPr sz="1400" dirty="0" err="1"/>
              <a:t>tắc</a:t>
            </a:r>
            <a:r>
              <a:rPr sz="1400" dirty="0"/>
              <a:t> </a:t>
            </a:r>
            <a:r>
              <a:rPr sz="1400" dirty="0" err="1"/>
              <a:t>dừng</a:t>
            </a:r>
            <a:r>
              <a:rPr sz="1400" dirty="0"/>
              <a:t> </a:t>
            </a:r>
            <a:r>
              <a:rPr sz="1400" dirty="0" err="1"/>
              <a:t>sớm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Ngân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đa</a:t>
            </a:r>
            <a:r>
              <a:rPr sz="1400" b="0" dirty="0">
                <a:solidFill>
                  <a:srgbClr val="5A5A5A"/>
                </a:solidFill>
              </a:rPr>
              <a:t> 16 epoch, </a:t>
            </a:r>
            <a:r>
              <a:rPr sz="1400" b="0" dirty="0" err="1">
                <a:solidFill>
                  <a:srgbClr val="5A5A5A"/>
                </a:solidFill>
              </a:rPr>
              <a:t>dừng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nếu</a:t>
            </a:r>
            <a:r>
              <a:rPr sz="1400" b="0" dirty="0">
                <a:solidFill>
                  <a:srgbClr val="5A5A5A"/>
                </a:solidFill>
              </a:rPr>
              <a:t> 4 epoch </a:t>
            </a:r>
            <a:r>
              <a:rPr sz="1400" b="0" dirty="0" err="1">
                <a:solidFill>
                  <a:srgbClr val="5A5A5A"/>
                </a:solidFill>
              </a:rPr>
              <a:t>liên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tiếp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thiện</a:t>
            </a:r>
            <a:r>
              <a:rPr sz="1400" b="0" dirty="0">
                <a:solidFill>
                  <a:srgbClr val="5A5A5A"/>
                </a:solidFill>
              </a:rPr>
              <a:t> Macro-F1 (patience = 4).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Thời</a:t>
            </a:r>
            <a:r>
              <a:rPr sz="1400" dirty="0"/>
              <a:t> </a:t>
            </a:r>
            <a:r>
              <a:rPr sz="1400" dirty="0" err="1"/>
              <a:t>điểm</a:t>
            </a:r>
            <a:r>
              <a:rPr sz="1400" dirty="0"/>
              <a:t> </a:t>
            </a:r>
            <a:r>
              <a:rPr sz="1400" dirty="0" err="1"/>
              <a:t>chốt</a:t>
            </a:r>
            <a:r>
              <a:rPr sz="1400" dirty="0"/>
              <a:t> Checkpoint: </a:t>
            </a:r>
            <a:r>
              <a:rPr sz="1400" b="0" dirty="0">
                <a:solidFill>
                  <a:srgbClr val="5A5A5A"/>
                </a:solidFill>
              </a:rPr>
              <a:t>Checkpoint </a:t>
            </a:r>
            <a:r>
              <a:rPr sz="1400" b="0" dirty="0" err="1">
                <a:solidFill>
                  <a:srgbClr val="5A5A5A"/>
                </a:solidFill>
              </a:rPr>
              <a:t>tốt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lưu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tại</a:t>
            </a:r>
            <a:r>
              <a:rPr sz="1400" b="0" dirty="0">
                <a:solidFill>
                  <a:srgbClr val="5A5A5A"/>
                </a:solidFill>
              </a:rPr>
              <a:t> Epoch 14/16 (Macro-F1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60.3002%).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Vì</a:t>
            </a:r>
            <a:r>
              <a:rPr sz="1400" dirty="0"/>
              <a:t> </a:t>
            </a:r>
            <a:r>
              <a:rPr sz="1400" dirty="0" err="1"/>
              <a:t>sao</a:t>
            </a:r>
            <a:r>
              <a:rPr sz="1400" dirty="0"/>
              <a:t> KHÔNG </a:t>
            </a:r>
            <a:r>
              <a:rPr sz="1400" dirty="0" err="1"/>
              <a:t>chọn</a:t>
            </a:r>
            <a:r>
              <a:rPr sz="1400" dirty="0"/>
              <a:t> </a:t>
            </a:r>
            <a:r>
              <a:rPr sz="1400" dirty="0" err="1"/>
              <a:t>theo</a:t>
            </a:r>
            <a:r>
              <a:rPr sz="1400" dirty="0"/>
              <a:t> Loss?: </a:t>
            </a:r>
            <a:r>
              <a:rPr sz="1400" b="0" dirty="0">
                <a:solidFill>
                  <a:srgbClr val="5A5A5A"/>
                </a:solidFill>
              </a:rPr>
              <a:t>Validation Loss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tại</a:t>
            </a:r>
            <a:r>
              <a:rPr sz="1400" b="0" dirty="0">
                <a:solidFill>
                  <a:srgbClr val="5A5A5A"/>
                </a:solidFill>
              </a:rPr>
              <a:t> Epoch 4 (Loss = 0.73). </a:t>
            </a:r>
            <a:r>
              <a:rPr sz="1400" b="0" dirty="0" err="1">
                <a:solidFill>
                  <a:srgbClr val="5A5A5A"/>
                </a:solidFill>
              </a:rPr>
              <a:t>Tuy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nhiên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tại</a:t>
            </a:r>
            <a:r>
              <a:rPr sz="1400" b="0" dirty="0">
                <a:solidFill>
                  <a:srgbClr val="5A5A5A"/>
                </a:solidFill>
              </a:rPr>
              <a:t> epoch 4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chỉ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giỏi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đông</a:t>
            </a:r>
            <a:r>
              <a:rPr sz="1400" b="0" dirty="0">
                <a:solidFill>
                  <a:srgbClr val="5A5A5A"/>
                </a:solidFill>
              </a:rPr>
              <a:t> NV; </a:t>
            </a:r>
            <a:r>
              <a:rPr sz="1400" b="0" dirty="0" err="1">
                <a:solidFill>
                  <a:srgbClr val="5A5A5A"/>
                </a:solidFill>
              </a:rPr>
              <a:t>đến</a:t>
            </a:r>
            <a:r>
              <a:rPr sz="1400" b="0" dirty="0">
                <a:solidFill>
                  <a:srgbClr val="5A5A5A"/>
                </a:solidFill>
              </a:rPr>
              <a:t> epoch 14 Macro-F1 </a:t>
            </a:r>
            <a:r>
              <a:rPr sz="1400" b="0" dirty="0" err="1">
                <a:solidFill>
                  <a:srgbClr val="5A5A5A"/>
                </a:solidFill>
              </a:rPr>
              <a:t>mới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đỉnh</a:t>
            </a:r>
            <a:r>
              <a:rPr sz="1400" b="0" dirty="0">
                <a:solidFill>
                  <a:srgbClr val="5A5A5A"/>
                </a:solidFill>
              </a:rPr>
              <a:t>!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Bài</a:t>
            </a:r>
            <a:r>
              <a:rPr sz="1400" dirty="0"/>
              <a:t> </a:t>
            </a:r>
            <a:r>
              <a:rPr sz="1400" dirty="0" err="1"/>
              <a:t>học</a:t>
            </a:r>
            <a:r>
              <a:rPr sz="1400" dirty="0"/>
              <a:t> </a:t>
            </a:r>
            <a:r>
              <a:rPr sz="1400" dirty="0" err="1"/>
              <a:t>phương</a:t>
            </a:r>
            <a:r>
              <a:rPr sz="1400" dirty="0"/>
              <a:t> </a:t>
            </a:r>
            <a:r>
              <a:rPr sz="1400" dirty="0" err="1"/>
              <a:t>pháp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Trong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bài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cân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bằng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chỉ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số</a:t>
            </a:r>
            <a:r>
              <a:rPr sz="1400" b="0" dirty="0">
                <a:solidFill>
                  <a:srgbClr val="5A5A5A"/>
                </a:solidFill>
              </a:rPr>
              <a:t> Macro-F1 </a:t>
            </a:r>
            <a:r>
              <a:rPr sz="1400" b="0" dirty="0" err="1">
                <a:solidFill>
                  <a:srgbClr val="5A5A5A"/>
                </a:solidFill>
              </a:rPr>
              <a:t>phản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đúng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bằng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giữa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hàm</a:t>
            </a:r>
            <a:r>
              <a:rPr sz="1400" b="0" dirty="0">
                <a:solidFill>
                  <a:srgbClr val="5A5A5A"/>
                </a:solidFill>
              </a:rPr>
              <a:t> Loss </a:t>
            </a:r>
            <a:r>
              <a:rPr sz="1400" b="0" dirty="0" err="1">
                <a:solidFill>
                  <a:srgbClr val="5A5A5A"/>
                </a:solidFill>
              </a:rPr>
              <a:t>tổng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hợp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10/18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Bền</a:t>
            </a:r>
            <a:r>
              <a:rPr dirty="0"/>
              <a:t> </a:t>
            </a:r>
            <a:r>
              <a:rPr dirty="0" err="1"/>
              <a:t>Vững</a:t>
            </a:r>
            <a:r>
              <a:rPr dirty="0"/>
              <a:t> </a:t>
            </a:r>
            <a:r>
              <a:rPr dirty="0" err="1"/>
              <a:t>Đa</a:t>
            </a:r>
            <a:r>
              <a:rPr dirty="0"/>
              <a:t> Seed &amp; Bootstrap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0332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 So </a:t>
            </a:r>
            <a:r>
              <a:rPr dirty="0" err="1"/>
              <a:t>Sánh</a:t>
            </a:r>
            <a:r>
              <a:rPr dirty="0"/>
              <a:t> </a:t>
            </a: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Cặp</a:t>
            </a:r>
            <a:r>
              <a:rPr dirty="0"/>
              <a:t> B00 vs T02B Qua 3 Seed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378946"/>
              </p:ext>
            </p:extLst>
          </p:nvPr>
        </p:nvGraphicFramePr>
        <p:xfrm>
          <a:off x="914400" y="2286000"/>
          <a:ext cx="10332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Lượt Chạy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B00 (Không Aug)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T02B (Có D4)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Chênh Lệch (Δ pp)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Khoảng Tin Cậy CI 95%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Seed 42 (Thăm dò)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55.2115%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60.3002%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1E1E"/>
                          </a:solidFill>
                        </a:defRPr>
                      </a:pPr>
                      <a:r>
                        <a:rPr sz="1400"/>
                        <a:t>+5.0887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[+0.1739; +9.3884]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Seed 43 (Xác nhận)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57.3231%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57.7945%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1E1E"/>
                          </a:solidFill>
                        </a:defRPr>
                      </a:pPr>
                      <a:r>
                        <a:rPr sz="1400"/>
                        <a:t>+0.4714 pp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 dirty="0"/>
                        <a:t>[-3.7990; +5.1088]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Seed 44 (Xác nhận)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56.0809%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59.9743%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1E1E"/>
                          </a:solidFill>
                        </a:defRPr>
                      </a:pPr>
                      <a:r>
                        <a:rPr sz="1400"/>
                        <a:t>+3.8934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 dirty="0"/>
                        <a:t>[-0.8558; +8.6463]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5196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332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Khoa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&amp; </a:t>
            </a:r>
            <a:r>
              <a:rPr dirty="0" err="1"/>
              <a:t>Khiêm</a:t>
            </a:r>
            <a:r>
              <a:rPr dirty="0"/>
              <a:t> </a:t>
            </a:r>
            <a:r>
              <a:rPr dirty="0" err="1"/>
              <a:t>Tốn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10332720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D4 </a:t>
            </a:r>
            <a:r>
              <a:rPr sz="1400" dirty="0" err="1"/>
              <a:t>luôn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</a:t>
            </a:r>
            <a:r>
              <a:rPr sz="1400" dirty="0" err="1"/>
              <a:t>lợi</a:t>
            </a:r>
            <a:r>
              <a:rPr sz="1400" dirty="0"/>
              <a:t> </a:t>
            </a:r>
            <a:r>
              <a:rPr sz="1400" dirty="0" err="1"/>
              <a:t>thế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Ở </a:t>
            </a:r>
            <a:r>
              <a:rPr sz="1400" b="0" dirty="0" err="1">
                <a:solidFill>
                  <a:srgbClr val="5A5A5A"/>
                </a:solidFill>
              </a:rPr>
              <a:t>cả</a:t>
            </a:r>
            <a:r>
              <a:rPr sz="1400" b="0" dirty="0">
                <a:solidFill>
                  <a:srgbClr val="5A5A5A"/>
                </a:solidFill>
              </a:rPr>
              <a:t> 3 seed </a:t>
            </a:r>
            <a:r>
              <a:rPr sz="1400" b="0" dirty="0" err="1">
                <a:solidFill>
                  <a:srgbClr val="5A5A5A"/>
                </a:solidFill>
              </a:rPr>
              <a:t>quan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sát</a:t>
            </a:r>
            <a:r>
              <a:rPr sz="1400" b="0" dirty="0">
                <a:solidFill>
                  <a:srgbClr val="5A5A5A"/>
                </a:solidFill>
              </a:rPr>
              <a:t>, T02B </a:t>
            </a:r>
            <a:r>
              <a:rPr sz="1400" b="0" dirty="0" err="1">
                <a:solidFill>
                  <a:srgbClr val="5A5A5A"/>
                </a:solidFill>
              </a:rPr>
              <a:t>đều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Macro-F1 </a:t>
            </a:r>
            <a:r>
              <a:rPr sz="1400" b="0" dirty="0" err="1">
                <a:solidFill>
                  <a:srgbClr val="5A5A5A"/>
                </a:solidFill>
              </a:rPr>
              <a:t>cao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hơn</a:t>
            </a:r>
            <a:r>
              <a:rPr sz="1400" b="0" dirty="0">
                <a:solidFill>
                  <a:srgbClr val="5A5A5A"/>
                </a:solidFill>
              </a:rPr>
              <a:t> B00; </a:t>
            </a:r>
            <a:r>
              <a:rPr sz="1400" b="0" dirty="0" err="1">
                <a:solidFill>
                  <a:srgbClr val="5A5A5A"/>
                </a:solidFill>
              </a:rPr>
              <a:t>trung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bình</a:t>
            </a:r>
            <a:r>
              <a:rPr sz="1400" b="0" dirty="0">
                <a:solidFill>
                  <a:srgbClr val="5A5A5A"/>
                </a:solidFill>
              </a:rPr>
              <a:t> 2 seed </a:t>
            </a:r>
            <a:r>
              <a:rPr sz="1400" b="0" dirty="0" err="1">
                <a:solidFill>
                  <a:srgbClr val="5A5A5A"/>
                </a:solidFill>
              </a:rPr>
              <a:t>xác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+2.1824 pp.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Biên</a:t>
            </a:r>
            <a:r>
              <a:rPr sz="1400" dirty="0"/>
              <a:t> </a:t>
            </a:r>
            <a:r>
              <a:rPr sz="1400" dirty="0" err="1"/>
              <a:t>độ</a:t>
            </a:r>
            <a:r>
              <a:rPr sz="1400" dirty="0"/>
              <a:t> </a:t>
            </a:r>
            <a:r>
              <a:rPr sz="1400" dirty="0" err="1"/>
              <a:t>dao</a:t>
            </a:r>
            <a:r>
              <a:rPr sz="1400" dirty="0"/>
              <a:t> </a:t>
            </a:r>
            <a:r>
              <a:rPr sz="1400" dirty="0" err="1"/>
              <a:t>động</a:t>
            </a:r>
            <a:r>
              <a:rPr sz="1400" dirty="0"/>
              <a:t> </a:t>
            </a:r>
            <a:r>
              <a:rPr sz="1400" dirty="0" err="1"/>
              <a:t>theo</a:t>
            </a:r>
            <a:r>
              <a:rPr sz="1400" dirty="0"/>
              <a:t> seed: </a:t>
            </a:r>
            <a:r>
              <a:rPr sz="1400" b="0" dirty="0" err="1">
                <a:solidFill>
                  <a:srgbClr val="5A5A5A"/>
                </a:solidFill>
              </a:rPr>
              <a:t>Mức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ở seed 43 </a:t>
            </a:r>
            <a:r>
              <a:rPr sz="1400" b="0" dirty="0" err="1">
                <a:solidFill>
                  <a:srgbClr val="5A5A5A"/>
                </a:solidFill>
              </a:rPr>
              <a:t>khá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nhỏ</a:t>
            </a:r>
            <a:r>
              <a:rPr sz="1400" b="0" dirty="0">
                <a:solidFill>
                  <a:srgbClr val="5A5A5A"/>
                </a:solidFill>
              </a:rPr>
              <a:t> (+0.47 pp), </a:t>
            </a:r>
            <a:r>
              <a:rPr sz="1400" b="0" dirty="0" err="1">
                <a:solidFill>
                  <a:srgbClr val="5A5A5A"/>
                </a:solidFill>
              </a:rPr>
              <a:t>trong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khi</a:t>
            </a:r>
            <a:r>
              <a:rPr sz="1400" b="0" dirty="0">
                <a:solidFill>
                  <a:srgbClr val="5A5A5A"/>
                </a:solidFill>
              </a:rPr>
              <a:t> seed 44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mạnh</a:t>
            </a:r>
            <a:r>
              <a:rPr sz="1400" b="0" dirty="0">
                <a:solidFill>
                  <a:srgbClr val="5A5A5A"/>
                </a:solidFill>
              </a:rPr>
              <a:t> (+3.89 pp), </a:t>
            </a:r>
            <a:r>
              <a:rPr sz="1400" b="0" dirty="0" err="1">
                <a:solidFill>
                  <a:srgbClr val="5A5A5A"/>
                </a:solidFill>
              </a:rPr>
              <a:t>cho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thấy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sự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khởi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tạo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ngẫu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nhiên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định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Khoảng</a:t>
            </a:r>
            <a:r>
              <a:rPr sz="1400" dirty="0"/>
              <a:t> tin </a:t>
            </a:r>
            <a:r>
              <a:rPr sz="1400" dirty="0" err="1"/>
              <a:t>cậy</a:t>
            </a:r>
            <a:r>
              <a:rPr sz="1400" dirty="0"/>
              <a:t> </a:t>
            </a:r>
            <a:r>
              <a:rPr sz="1400" dirty="0" err="1"/>
              <a:t>chứa</a:t>
            </a:r>
            <a:r>
              <a:rPr sz="1400" dirty="0"/>
              <a:t> 0: </a:t>
            </a:r>
            <a:r>
              <a:rPr sz="1400" b="0" dirty="0">
                <a:solidFill>
                  <a:srgbClr val="5A5A5A"/>
                </a:solidFill>
              </a:rPr>
              <a:t>CI95 </a:t>
            </a:r>
            <a:r>
              <a:rPr sz="1400" b="0" dirty="0" err="1">
                <a:solidFill>
                  <a:srgbClr val="5A5A5A"/>
                </a:solidFill>
              </a:rPr>
              <a:t>của</a:t>
            </a:r>
            <a:r>
              <a:rPr sz="1400" b="0" dirty="0">
                <a:solidFill>
                  <a:srgbClr val="5A5A5A"/>
                </a:solidFill>
              </a:rPr>
              <a:t> seed 43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44 </a:t>
            </a:r>
            <a:r>
              <a:rPr sz="1400" b="0" dirty="0" err="1">
                <a:solidFill>
                  <a:srgbClr val="5A5A5A"/>
                </a:solidFill>
              </a:rPr>
              <a:t>đều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chứa</a:t>
            </a:r>
            <a:r>
              <a:rPr sz="1400" b="0" dirty="0">
                <a:solidFill>
                  <a:srgbClr val="5A5A5A"/>
                </a:solidFill>
              </a:rPr>
              <a:t> 0 -&gt; </a:t>
            </a:r>
            <a:r>
              <a:rPr sz="1400" b="0" dirty="0" err="1">
                <a:solidFill>
                  <a:srgbClr val="5A5A5A"/>
                </a:solidFill>
              </a:rPr>
              <a:t>Báo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cáo</a:t>
            </a:r>
            <a:r>
              <a:rPr sz="1400" b="0" dirty="0">
                <a:solidFill>
                  <a:srgbClr val="5A5A5A"/>
                </a:solidFill>
              </a:rPr>
              <a:t> khoa </a:t>
            </a:r>
            <a:r>
              <a:rPr sz="1400" b="0" dirty="0" err="1">
                <a:solidFill>
                  <a:srgbClr val="5A5A5A"/>
                </a:solidFill>
              </a:rPr>
              <a:t>học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ghi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ích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tế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nhưng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cường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điệu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hóa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biến</a:t>
            </a:r>
            <a:endParaRPr sz="1400" b="0" dirty="0">
              <a:solidFill>
                <a:srgbClr val="5A5A5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11/18</a:t>
            </a:r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6723E990-F69C-4DF6-A2FC-6257DB8D6A5F}"/>
              </a:ext>
            </a:extLst>
          </p:cNvPr>
          <p:cNvSpPr/>
          <p:nvPr/>
        </p:nvSpPr>
        <p:spPr>
          <a:xfrm>
            <a:off x="731519" y="411480"/>
            <a:ext cx="3666309" cy="274320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5: THIẾT KẾ THỰC NGHIỆM VÀ TÁI LẬP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905794" cy="33832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6: KẾT QUẢ, THẢO LUẬN VÀ 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Bộ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6200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Cong </a:t>
            </a:r>
            <a:r>
              <a:rPr dirty="0" err="1"/>
              <a:t>Học</a:t>
            </a:r>
            <a:r>
              <a:rPr dirty="0"/>
              <a:t> T02B Qua </a:t>
            </a:r>
            <a:r>
              <a:rPr dirty="0" err="1"/>
              <a:t>Các</a:t>
            </a:r>
            <a:r>
              <a:rPr dirty="0"/>
              <a:t> Epoch</a:t>
            </a:r>
          </a:p>
        </p:txBody>
      </p:sp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77440"/>
            <a:ext cx="4892040" cy="14383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4663440"/>
            <a:ext cx="48920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22222"/>
                </a:solidFill>
              </a:defRPr>
            </a:pPr>
            <a:r>
              <a:rPr sz="1400" dirty="0"/>
              <a:t>• Train Loss </a:t>
            </a:r>
            <a:r>
              <a:rPr sz="1400" dirty="0" err="1"/>
              <a:t>giảm</a:t>
            </a:r>
            <a:r>
              <a:rPr sz="1400" dirty="0"/>
              <a:t> </a:t>
            </a:r>
            <a:r>
              <a:rPr sz="1400" dirty="0" err="1"/>
              <a:t>đều</a:t>
            </a:r>
            <a:r>
              <a:rPr sz="1400" dirty="0"/>
              <a:t> </a:t>
            </a:r>
            <a:r>
              <a:rPr sz="1400" dirty="0" err="1"/>
              <a:t>từ</a:t>
            </a:r>
            <a:r>
              <a:rPr sz="1400" dirty="0"/>
              <a:t> 0.87 </a:t>
            </a:r>
            <a:r>
              <a:rPr sz="1400" dirty="0" err="1"/>
              <a:t>về</a:t>
            </a:r>
            <a:r>
              <a:rPr sz="1400" dirty="0"/>
              <a:t> 0.05 (</a:t>
            </a:r>
            <a:r>
              <a:rPr sz="1400" dirty="0" err="1"/>
              <a:t>mô</a:t>
            </a:r>
            <a:r>
              <a:rPr sz="1400" dirty="0"/>
              <a:t> </a:t>
            </a:r>
            <a:r>
              <a:rPr sz="1400" dirty="0" err="1"/>
              <a:t>hình</a:t>
            </a:r>
            <a:r>
              <a:rPr sz="1400" dirty="0"/>
              <a:t> </a:t>
            </a:r>
            <a:r>
              <a:rPr sz="1400" dirty="0" err="1"/>
              <a:t>khớp</a:t>
            </a:r>
            <a:r>
              <a:rPr sz="1400" dirty="0"/>
              <a:t> </a:t>
            </a:r>
            <a:r>
              <a:rPr sz="1400" dirty="0" err="1"/>
              <a:t>tốt</a:t>
            </a:r>
            <a:r>
              <a:rPr sz="1400" dirty="0"/>
              <a:t>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train).</a:t>
            </a:r>
          </a:p>
          <a:p>
            <a:pPr>
              <a:defRPr sz="1100">
                <a:solidFill>
                  <a:srgbClr val="5A5A5A"/>
                </a:solidFill>
              </a:defRPr>
            </a:pPr>
            <a:r>
              <a:rPr sz="1400" dirty="0"/>
              <a:t>• Validation Macro-F1 </a:t>
            </a:r>
            <a:r>
              <a:rPr sz="1400" dirty="0" err="1"/>
              <a:t>đạt</a:t>
            </a:r>
            <a:r>
              <a:rPr sz="1400" dirty="0"/>
              <a:t> </a:t>
            </a:r>
            <a:r>
              <a:rPr sz="1400" dirty="0" err="1"/>
              <a:t>đỉnh</a:t>
            </a:r>
            <a:r>
              <a:rPr sz="1400" dirty="0"/>
              <a:t> 60.30% </a:t>
            </a:r>
            <a:r>
              <a:rPr sz="1400" dirty="0" err="1"/>
              <a:t>tại</a:t>
            </a:r>
            <a:r>
              <a:rPr sz="1400" dirty="0"/>
              <a:t> Epoch 14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được</a:t>
            </a:r>
            <a:r>
              <a:rPr sz="1400" dirty="0"/>
              <a:t> </a:t>
            </a:r>
            <a:r>
              <a:rPr sz="1400" dirty="0" err="1"/>
              <a:t>chọn</a:t>
            </a:r>
            <a:r>
              <a:rPr sz="1400" dirty="0"/>
              <a:t> </a:t>
            </a:r>
            <a:r>
              <a:rPr sz="1400" dirty="0" err="1"/>
              <a:t>làm</a:t>
            </a:r>
            <a:r>
              <a:rPr sz="1400" dirty="0"/>
              <a:t> checkpoint </a:t>
            </a:r>
            <a:r>
              <a:rPr sz="1400" dirty="0" err="1"/>
              <a:t>chính</a:t>
            </a:r>
            <a:r>
              <a:rPr sz="1400" dirty="0"/>
              <a:t> </a:t>
            </a:r>
            <a:r>
              <a:rPr sz="1400" dirty="0" err="1"/>
              <a:t>thức</a:t>
            </a:r>
            <a:r>
              <a:rPr sz="1400"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Bộ</a:t>
            </a:r>
            <a:endParaRPr dirty="0"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44090"/>
              </p:ext>
            </p:extLst>
          </p:nvPr>
        </p:nvGraphicFramePr>
        <p:xfrm>
          <a:off x="6400800" y="2377440"/>
          <a:ext cx="48463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Chỉ Số Đánh Giá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Validation %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/>
                        <a:t>Test Nội Bộ %</a:t>
                      </a:r>
                    </a:p>
                  </a:txBody>
                  <a:tcPr>
                    <a:solidFill>
                      <a:srgbClr val="8B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Accuracy (Chính xác)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77.00%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76.43%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Macro-F1 (Tiêu chí chính)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60.30%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60.54%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Balanced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58.61%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58.85%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Macro-Precision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64.33%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63.18%</a:t>
                      </a:r>
                    </a:p>
                  </a:txBody>
                  <a:tcPr>
                    <a:solidFill>
                      <a:srgbClr val="F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Weighted-F1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/>
                        <a:t>76.49%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22222"/>
                          </a:solidFill>
                        </a:defRPr>
                      </a:pPr>
                      <a:r>
                        <a:rPr sz="1400" dirty="0"/>
                        <a:t>75.78%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4754880"/>
            <a:ext cx="4846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8B1E1E"/>
                </a:solidFill>
              </a:defRPr>
            </a:pPr>
            <a:r>
              <a:rPr sz="1400" dirty="0"/>
              <a:t> Minh </a:t>
            </a:r>
            <a:r>
              <a:rPr sz="1400" dirty="0" err="1"/>
              <a:t>chứng</a:t>
            </a:r>
            <a:r>
              <a:rPr sz="1400" dirty="0"/>
              <a:t> </a:t>
            </a:r>
            <a:r>
              <a:rPr sz="1400" dirty="0" err="1"/>
              <a:t>tổng</a:t>
            </a:r>
            <a:r>
              <a:rPr sz="1400" dirty="0"/>
              <a:t> </a:t>
            </a:r>
            <a:r>
              <a:rPr sz="1400" dirty="0" err="1"/>
              <a:t>quát</a:t>
            </a:r>
            <a:r>
              <a:rPr sz="1400" dirty="0"/>
              <a:t> </a:t>
            </a:r>
            <a:r>
              <a:rPr sz="1400" dirty="0" err="1"/>
              <a:t>hóa</a:t>
            </a:r>
            <a:r>
              <a:rPr sz="1400" dirty="0"/>
              <a:t> </a:t>
            </a:r>
            <a:r>
              <a:rPr sz="1400" dirty="0" err="1"/>
              <a:t>vững</a:t>
            </a:r>
            <a:r>
              <a:rPr sz="1400" dirty="0"/>
              <a:t> </a:t>
            </a:r>
            <a:r>
              <a:rPr sz="1400" dirty="0" err="1"/>
              <a:t>chắc</a:t>
            </a:r>
            <a:r>
              <a:rPr sz="1400" dirty="0"/>
              <a:t>:</a:t>
            </a:r>
          </a:p>
          <a:p>
            <a:pPr>
              <a:defRPr sz="1050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Có</a:t>
            </a:r>
            <a:r>
              <a:rPr sz="1400" dirty="0"/>
              <a:t> 3.871/5.065 </a:t>
            </a:r>
            <a:r>
              <a:rPr sz="1400" dirty="0" err="1"/>
              <a:t>ảnh</a:t>
            </a:r>
            <a:r>
              <a:rPr sz="1400" dirty="0"/>
              <a:t> test </a:t>
            </a:r>
            <a:r>
              <a:rPr sz="1400" dirty="0" err="1"/>
              <a:t>được</a:t>
            </a:r>
            <a:r>
              <a:rPr sz="1400" dirty="0"/>
              <a:t> </a:t>
            </a:r>
            <a:r>
              <a:rPr sz="1400" dirty="0" err="1"/>
              <a:t>dự</a:t>
            </a:r>
            <a:r>
              <a:rPr sz="1400" dirty="0"/>
              <a:t> </a:t>
            </a:r>
            <a:r>
              <a:rPr sz="1400" dirty="0" err="1"/>
              <a:t>đoán</a:t>
            </a:r>
            <a:r>
              <a:rPr sz="1400" dirty="0"/>
              <a:t> </a:t>
            </a:r>
            <a:r>
              <a:rPr sz="1400" dirty="0" err="1"/>
              <a:t>đúng</a:t>
            </a:r>
            <a:r>
              <a:rPr sz="1400" dirty="0"/>
              <a:t>.</a:t>
            </a:r>
            <a:br>
              <a:rPr sz="1400" dirty="0"/>
            </a:br>
            <a:r>
              <a:rPr sz="1400" dirty="0"/>
              <a:t>• </a:t>
            </a:r>
            <a:r>
              <a:rPr sz="1400" dirty="0" err="1"/>
              <a:t>Chênh</a:t>
            </a:r>
            <a:r>
              <a:rPr sz="1400" dirty="0"/>
              <a:t> </a:t>
            </a:r>
            <a:r>
              <a:rPr sz="1400" dirty="0" err="1"/>
              <a:t>lệch</a:t>
            </a:r>
            <a:r>
              <a:rPr sz="1400" dirty="0"/>
              <a:t> </a:t>
            </a:r>
            <a:r>
              <a:rPr sz="1400" dirty="0" err="1"/>
              <a:t>giữa</a:t>
            </a:r>
            <a:r>
              <a:rPr sz="1400" dirty="0"/>
              <a:t> Validation (60.30%) </a:t>
            </a:r>
            <a:r>
              <a:rPr sz="1400" dirty="0" err="1"/>
              <a:t>và</a:t>
            </a:r>
            <a:r>
              <a:rPr sz="1400" dirty="0"/>
              <a:t> Test (60.54%) </a:t>
            </a:r>
            <a:r>
              <a:rPr sz="1400" dirty="0" err="1"/>
              <a:t>dưới</a:t>
            </a:r>
            <a:r>
              <a:rPr sz="1400" dirty="0"/>
              <a:t> 0.25 pp, </a:t>
            </a:r>
            <a:r>
              <a:rPr sz="1400" dirty="0" err="1"/>
              <a:t>khẳng</a:t>
            </a:r>
            <a:r>
              <a:rPr sz="1400" dirty="0"/>
              <a:t> </a:t>
            </a:r>
            <a:r>
              <a:rPr sz="1400" dirty="0" err="1"/>
              <a:t>định</a:t>
            </a:r>
            <a:r>
              <a:rPr sz="1400" dirty="0"/>
              <a:t> </a:t>
            </a:r>
            <a:r>
              <a:rPr sz="1400" dirty="0" err="1"/>
              <a:t>không</a:t>
            </a:r>
            <a:r>
              <a:rPr sz="1400" dirty="0"/>
              <a:t> </a:t>
            </a:r>
            <a:r>
              <a:rPr sz="1400" dirty="0" err="1"/>
              <a:t>rò</a:t>
            </a:r>
            <a:r>
              <a:rPr sz="1400" dirty="0"/>
              <a:t> </a:t>
            </a:r>
            <a:r>
              <a:rPr sz="1400" dirty="0" err="1"/>
              <a:t>rỉ</a:t>
            </a:r>
            <a:r>
              <a:rPr sz="1400" dirty="0"/>
              <a:t>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không</a:t>
            </a:r>
            <a:r>
              <a:rPr sz="1400" dirty="0"/>
              <a:t> </a:t>
            </a:r>
            <a:r>
              <a:rPr sz="1400" dirty="0" err="1"/>
              <a:t>học</a:t>
            </a:r>
            <a:r>
              <a:rPr sz="1400" dirty="0"/>
              <a:t> </a:t>
            </a:r>
            <a:r>
              <a:rPr sz="1400" dirty="0" err="1"/>
              <a:t>vẹt</a:t>
            </a:r>
            <a:r>
              <a:rPr sz="1400" dirty="0"/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12/18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Ma Trận Nhầm Lẫn &amp; Đánh Giá Từng Lớp Bệnh Lý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Nhầm</a:t>
            </a:r>
            <a:r>
              <a:rPr dirty="0"/>
              <a:t> </a:t>
            </a:r>
            <a:r>
              <a:rPr dirty="0" err="1"/>
              <a:t>Lẫn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 </a:t>
            </a:r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77439"/>
            <a:ext cx="5075503" cy="22353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Chẩn</a:t>
            </a:r>
            <a:r>
              <a:rPr dirty="0"/>
              <a:t> </a:t>
            </a:r>
            <a:r>
              <a:rPr dirty="0" err="1"/>
              <a:t>Đoán</a:t>
            </a:r>
            <a:r>
              <a:rPr dirty="0"/>
              <a:t> </a:t>
            </a:r>
            <a:r>
              <a:rPr dirty="0" err="1"/>
              <a:t>Từng</a:t>
            </a:r>
            <a:r>
              <a:rPr dirty="0"/>
              <a:t> </a:t>
            </a: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Bệnh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406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Lớp</a:t>
            </a:r>
            <a:r>
              <a:rPr sz="1400" dirty="0"/>
              <a:t> </a:t>
            </a:r>
            <a:r>
              <a:rPr sz="1400" dirty="0" err="1"/>
              <a:t>đa</a:t>
            </a:r>
            <a:r>
              <a:rPr sz="1400" dirty="0"/>
              <a:t> </a:t>
            </a:r>
            <a:r>
              <a:rPr sz="1400" dirty="0" err="1"/>
              <a:t>số</a:t>
            </a:r>
            <a:r>
              <a:rPr sz="1400" dirty="0"/>
              <a:t> (NV): </a:t>
            </a:r>
            <a:r>
              <a:rPr sz="1400" b="0" dirty="0">
                <a:solidFill>
                  <a:srgbClr val="5A5A5A"/>
                </a:solidFill>
              </a:rPr>
              <a:t>Recall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90.56%, F1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87.38% (2.361/2.607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đúng</a:t>
            </a:r>
            <a:r>
              <a:rPr sz="1400" b="0" dirty="0">
                <a:solidFill>
                  <a:srgbClr val="5A5A5A"/>
                </a:solidFill>
              </a:rPr>
              <a:t>).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chuẩn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U </a:t>
            </a:r>
            <a:r>
              <a:rPr sz="1400" dirty="0" err="1"/>
              <a:t>hắc</a:t>
            </a:r>
            <a:r>
              <a:rPr sz="1400" dirty="0"/>
              <a:t> </a:t>
            </a:r>
            <a:r>
              <a:rPr sz="1400" dirty="0" err="1"/>
              <a:t>tố</a:t>
            </a:r>
            <a:r>
              <a:rPr sz="1400" dirty="0"/>
              <a:t> </a:t>
            </a:r>
            <a:r>
              <a:rPr sz="1400" dirty="0" err="1"/>
              <a:t>ác</a:t>
            </a:r>
            <a:r>
              <a:rPr sz="1400" dirty="0"/>
              <a:t> </a:t>
            </a:r>
            <a:r>
              <a:rPr sz="1400" dirty="0" err="1"/>
              <a:t>tính</a:t>
            </a:r>
            <a:r>
              <a:rPr sz="1400" dirty="0"/>
              <a:t> (MEL): </a:t>
            </a:r>
            <a:r>
              <a:rPr sz="1400" b="0" dirty="0">
                <a:solidFill>
                  <a:srgbClr val="5A5A5A"/>
                </a:solidFill>
              </a:rPr>
              <a:t>Recall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58.24% (562/965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).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281 ca MEL </a:t>
            </a:r>
            <a:r>
              <a:rPr sz="1400" b="0" dirty="0" err="1">
                <a:solidFill>
                  <a:srgbClr val="5A5A5A"/>
                </a:solidFill>
              </a:rPr>
              <a:t>bị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nhầm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ruồi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 (NV) -&gt; </a:t>
            </a:r>
            <a:r>
              <a:rPr sz="1400" b="0" dirty="0" err="1">
                <a:solidFill>
                  <a:srgbClr val="5A5A5A"/>
                </a:solidFill>
              </a:rPr>
              <a:t>Rủi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lâm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sàng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lớn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nhất</a:t>
            </a:r>
            <a:r>
              <a:rPr sz="1400" b="0" dirty="0">
                <a:solidFill>
                  <a:srgbClr val="5A5A5A"/>
                </a:solidFill>
              </a:rPr>
              <a:t>!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Ung </a:t>
            </a:r>
            <a:r>
              <a:rPr sz="1400" dirty="0" err="1"/>
              <a:t>thư</a:t>
            </a:r>
            <a:r>
              <a:rPr sz="1400" dirty="0"/>
              <a:t> </a:t>
            </a:r>
            <a:r>
              <a:rPr sz="1400" dirty="0" err="1"/>
              <a:t>đáy</a:t>
            </a:r>
            <a:r>
              <a:rPr sz="1400" dirty="0"/>
              <a:t> &amp; </a:t>
            </a:r>
            <a:r>
              <a:rPr sz="1400" dirty="0" err="1"/>
              <a:t>vảy</a:t>
            </a:r>
            <a:r>
              <a:rPr sz="1400" dirty="0"/>
              <a:t> (BCC, SCC): </a:t>
            </a:r>
            <a:r>
              <a:rPr sz="1400" b="0" dirty="0">
                <a:solidFill>
                  <a:srgbClr val="5A5A5A"/>
                </a:solidFill>
              </a:rPr>
              <a:t>BCC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tốt</a:t>
            </a:r>
            <a:r>
              <a:rPr sz="1400" b="0" dirty="0">
                <a:solidFill>
                  <a:srgbClr val="5A5A5A"/>
                </a:solidFill>
              </a:rPr>
              <a:t> (Recall 80.03%, F1 75.16%). </a:t>
            </a:r>
            <a:r>
              <a:rPr sz="1400" b="0" dirty="0" err="1">
                <a:solidFill>
                  <a:srgbClr val="5A5A5A"/>
                </a:solidFill>
              </a:rPr>
              <a:t>Ngược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lại</a:t>
            </a:r>
            <a:r>
              <a:rPr sz="1400" b="0" dirty="0">
                <a:solidFill>
                  <a:srgbClr val="5A5A5A"/>
                </a:solidFill>
              </a:rPr>
              <a:t>, SCC </a:t>
            </a:r>
            <a:r>
              <a:rPr sz="1400" b="0" dirty="0" err="1">
                <a:solidFill>
                  <a:srgbClr val="5A5A5A"/>
                </a:solidFill>
              </a:rPr>
              <a:t>chỉ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Recall 37.93% do </a:t>
            </a:r>
            <a:r>
              <a:rPr sz="1400" b="0" dirty="0" err="1">
                <a:solidFill>
                  <a:srgbClr val="5A5A5A"/>
                </a:solidFill>
              </a:rPr>
              <a:t>thiếu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mẫu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Dày</a:t>
            </a:r>
            <a:r>
              <a:rPr sz="1400" dirty="0"/>
              <a:t> </a:t>
            </a:r>
            <a:r>
              <a:rPr sz="1400" dirty="0" err="1"/>
              <a:t>sừng</a:t>
            </a:r>
            <a:r>
              <a:rPr sz="1400" dirty="0"/>
              <a:t> </a:t>
            </a:r>
            <a:r>
              <a:rPr sz="1400" dirty="0" err="1"/>
              <a:t>quang</a:t>
            </a:r>
            <a:r>
              <a:rPr sz="1400" dirty="0"/>
              <a:t> </a:t>
            </a:r>
            <a:r>
              <a:rPr sz="1400" dirty="0" err="1"/>
              <a:t>hóa</a:t>
            </a:r>
            <a:r>
              <a:rPr sz="1400" dirty="0"/>
              <a:t> (AK): </a:t>
            </a:r>
            <a:r>
              <a:rPr sz="1400" b="0" dirty="0">
                <a:solidFill>
                  <a:srgbClr val="5A5A5A"/>
                </a:solidFill>
              </a:rPr>
              <a:t>Recall </a:t>
            </a:r>
            <a:r>
              <a:rPr sz="1400" b="0" dirty="0" err="1">
                <a:solidFill>
                  <a:srgbClr val="5A5A5A"/>
                </a:solidFill>
              </a:rPr>
              <a:t>chỉ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31.40% (54/172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); 40 ca </a:t>
            </a:r>
            <a:r>
              <a:rPr sz="1400" b="0" dirty="0" err="1">
                <a:solidFill>
                  <a:srgbClr val="5A5A5A"/>
                </a:solidFill>
              </a:rPr>
              <a:t>bị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nhầm</a:t>
            </a:r>
            <a:r>
              <a:rPr sz="1400" b="0" dirty="0">
                <a:solidFill>
                  <a:srgbClr val="5A5A5A"/>
                </a:solidFill>
              </a:rPr>
              <a:t> sang </a:t>
            </a:r>
            <a:r>
              <a:rPr sz="1400" b="0" dirty="0" err="1">
                <a:solidFill>
                  <a:srgbClr val="5A5A5A"/>
                </a:solidFill>
              </a:rPr>
              <a:t>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đáy</a:t>
            </a:r>
            <a:r>
              <a:rPr sz="1400" b="0" dirty="0">
                <a:solidFill>
                  <a:srgbClr val="5A5A5A"/>
                </a:solidFill>
              </a:rPr>
              <a:t> (BCC)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31 ca </a:t>
            </a:r>
            <a:r>
              <a:rPr sz="1400" b="0" dirty="0" err="1">
                <a:solidFill>
                  <a:srgbClr val="5A5A5A"/>
                </a:solidFill>
              </a:rPr>
              <a:t>nhầm</a:t>
            </a:r>
            <a:r>
              <a:rPr sz="1400" b="0" dirty="0">
                <a:solidFill>
                  <a:srgbClr val="5A5A5A"/>
                </a:solidFill>
              </a:rPr>
              <a:t> sang </a:t>
            </a:r>
            <a:r>
              <a:rPr sz="1400" b="0" dirty="0" err="1">
                <a:solidFill>
                  <a:srgbClr val="5A5A5A"/>
                </a:solidFill>
              </a:rPr>
              <a:t>dày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sừng</a:t>
            </a:r>
            <a:r>
              <a:rPr sz="1400" b="0" dirty="0">
                <a:solidFill>
                  <a:srgbClr val="5A5A5A"/>
                </a:solidFill>
              </a:rPr>
              <a:t> (BKL).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luận</a:t>
            </a:r>
            <a:r>
              <a:rPr sz="1400" dirty="0"/>
              <a:t> </a:t>
            </a:r>
            <a:r>
              <a:rPr sz="1400" dirty="0" err="1"/>
              <a:t>lâm</a:t>
            </a:r>
            <a:r>
              <a:rPr sz="1400" dirty="0"/>
              <a:t> </a:t>
            </a:r>
            <a:r>
              <a:rPr sz="1400" dirty="0" err="1"/>
              <a:t>sàng</a:t>
            </a:r>
            <a:r>
              <a:rPr sz="1400" dirty="0"/>
              <a:t>: </a:t>
            </a:r>
            <a:r>
              <a:rPr lang="vi-VN" sz="1400" b="0" dirty="0">
                <a:solidFill>
                  <a:srgbClr val="5A5A5A"/>
                </a:solidFill>
                <a:latin typeface="Arial (Body)"/>
              </a:rPr>
              <a:t>Mô </a:t>
            </a:r>
            <a:r>
              <a:rPr lang="vi-VN" sz="1400" b="0" dirty="0" err="1">
                <a:solidFill>
                  <a:srgbClr val="5A5A5A"/>
                </a:solidFill>
                <a:latin typeface="Arial (Body)"/>
              </a:rPr>
              <a:t>hình</a:t>
            </a:r>
            <a:r>
              <a:rPr lang="vi-VN" sz="1400" b="0" dirty="0">
                <a:solidFill>
                  <a:srgbClr val="5A5A5A"/>
                </a:solidFill>
                <a:latin typeface="Arial (Body)"/>
              </a:rPr>
              <a:t> </a:t>
            </a:r>
            <a:r>
              <a:rPr lang="vi-VN" sz="1400" b="0" dirty="0" err="1">
                <a:solidFill>
                  <a:srgbClr val="5A5A5A"/>
                </a:solidFill>
                <a:latin typeface="Arial (Body)"/>
              </a:rPr>
              <a:t>học</a:t>
            </a:r>
            <a:r>
              <a:rPr sz="140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Arial (Body)"/>
              </a:rPr>
              <a:t>cần</a:t>
            </a:r>
            <a:r>
              <a:rPr lang="vi-VN" sz="1400" b="0" dirty="0">
                <a:solidFill>
                  <a:srgbClr val="5A5A5A"/>
                </a:solidFill>
                <a:latin typeface="Arial (Body)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Arial (Body)"/>
              </a:rPr>
              <a:t>có</a:t>
            </a:r>
            <a:r>
              <a:rPr sz="1400" b="0" dirty="0">
                <a:solidFill>
                  <a:srgbClr val="5A5A5A"/>
                </a:solidFill>
                <a:latin typeface="Arial (Body)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Arial (Body)"/>
              </a:rPr>
              <a:t>cơ</a:t>
            </a:r>
            <a:r>
              <a:rPr sz="1400" b="0" dirty="0">
                <a:solidFill>
                  <a:srgbClr val="5A5A5A"/>
                </a:solidFill>
                <a:latin typeface="Arial (Body)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Arial (Body)"/>
              </a:rPr>
              <a:t>chế</a:t>
            </a:r>
            <a:r>
              <a:rPr sz="1400" b="0" dirty="0">
                <a:solidFill>
                  <a:srgbClr val="5A5A5A"/>
                </a:solidFill>
                <a:latin typeface="Arial (Body)"/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báo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ranh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giới</a:t>
            </a:r>
            <a:r>
              <a:rPr sz="1400" b="0" dirty="0">
                <a:solidFill>
                  <a:srgbClr val="5A5A5A"/>
                </a:solidFill>
              </a:rPr>
              <a:t> ở </a:t>
            </a:r>
            <a:r>
              <a:rPr sz="1400" b="0" dirty="0" err="1">
                <a:solidFill>
                  <a:srgbClr val="5A5A5A"/>
                </a:solidFill>
              </a:rPr>
              <a:t>các</a:t>
            </a:r>
            <a:r>
              <a:rPr sz="1400" b="0" dirty="0">
                <a:solidFill>
                  <a:srgbClr val="5A5A5A"/>
                </a:solidFill>
              </a:rPr>
              <a:t> ca </a:t>
            </a:r>
            <a:r>
              <a:rPr sz="1400" b="0" dirty="0" err="1">
                <a:solidFill>
                  <a:srgbClr val="5A5A5A"/>
                </a:solidFill>
              </a:rPr>
              <a:t>nghi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ngờ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sĩ</a:t>
            </a:r>
            <a:r>
              <a:rPr sz="1400" b="0" dirty="0">
                <a:solidFill>
                  <a:srgbClr val="5A5A5A"/>
                </a:solidFill>
              </a:rPr>
              <a:t> can </a:t>
            </a:r>
            <a:r>
              <a:rPr sz="1400" b="0" dirty="0" err="1">
                <a:solidFill>
                  <a:srgbClr val="5A5A5A"/>
                </a:solidFill>
              </a:rPr>
              <a:t>thiệp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tiếp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13/18</a:t>
            </a:r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E71B47F4-0235-43E3-8DF3-B3ADFBE53FB5}"/>
              </a:ext>
            </a:extLst>
          </p:cNvPr>
          <p:cNvSpPr/>
          <p:nvPr/>
        </p:nvSpPr>
        <p:spPr>
          <a:xfrm>
            <a:off x="731520" y="411480"/>
            <a:ext cx="3905794" cy="33832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6: KẾT QUẢ, THẢO LUẬN VÀ PHÂN TÍCH LỖI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dirty="0"/>
              <a:t>PHẦN 6: KẾT QUẢ, THẢO LUẬN VÀPHÂN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52 Ca </a:t>
            </a:r>
            <a:r>
              <a:rPr dirty="0" err="1"/>
              <a:t>Chẩn</a:t>
            </a:r>
            <a:r>
              <a:rPr dirty="0"/>
              <a:t> </a:t>
            </a:r>
            <a:r>
              <a:rPr dirty="0" err="1"/>
              <a:t>Đoán</a:t>
            </a:r>
            <a:r>
              <a:rPr dirty="0"/>
              <a:t> </a:t>
            </a:r>
            <a:r>
              <a:rPr lang="vi-VN" dirty="0" err="1"/>
              <a:t>Lỗi</a:t>
            </a:r>
            <a:r>
              <a:rPr lang="vi-VN" dirty="0"/>
              <a:t> Trên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Validation</a:t>
            </a:r>
            <a:r>
              <a:rPr dirty="0"/>
              <a:t> (E02)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695" y="1261872"/>
            <a:ext cx="10698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5A5A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diện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</a:t>
            </a:r>
            <a:r>
              <a:rPr dirty="0" err="1"/>
              <a:t>tố</a:t>
            </a:r>
            <a:r>
              <a:rPr dirty="0"/>
              <a:t> </a:t>
            </a:r>
            <a:r>
              <a:rPr dirty="0" err="1"/>
              <a:t>thị</a:t>
            </a:r>
            <a:r>
              <a:rPr dirty="0"/>
              <a:t> </a:t>
            </a:r>
            <a:r>
              <a:rPr dirty="0" err="1"/>
              <a:t>giác</a:t>
            </a:r>
            <a:r>
              <a:rPr dirty="0"/>
              <a:t> </a:t>
            </a:r>
            <a:r>
              <a:rPr dirty="0" err="1"/>
              <a:t>gây</a:t>
            </a:r>
            <a:r>
              <a:rPr dirty="0"/>
              <a:t> </a:t>
            </a:r>
            <a:r>
              <a:rPr dirty="0" err="1"/>
              <a:t>nhiễu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cải</a:t>
            </a:r>
            <a:r>
              <a:rPr dirty="0"/>
              <a:t> </a:t>
            </a:r>
            <a:r>
              <a:rPr dirty="0" err="1"/>
              <a:t>tiến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tương</a:t>
            </a:r>
            <a:r>
              <a:rPr dirty="0"/>
              <a:t> </a:t>
            </a:r>
            <a:r>
              <a:rPr dirty="0" err="1"/>
              <a:t>lai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Nhầm</a:t>
            </a:r>
            <a:r>
              <a:rPr dirty="0"/>
              <a:t> </a:t>
            </a:r>
            <a:r>
              <a:rPr dirty="0" err="1"/>
              <a:t>Lẫn</a:t>
            </a:r>
            <a:r>
              <a:rPr dirty="0"/>
              <a:t> </a:t>
            </a:r>
            <a:r>
              <a:rPr dirty="0" err="1"/>
              <a:t>Điển</a:t>
            </a:r>
            <a:r>
              <a:rPr dirty="0"/>
              <a:t> </a:t>
            </a:r>
            <a:r>
              <a:rPr dirty="0" err="1"/>
              <a:t>Hình</a:t>
            </a:r>
            <a:endParaRPr dirty="0"/>
          </a:p>
        </p:txBody>
      </p:sp>
      <p:pic>
        <p:nvPicPr>
          <p:cNvPr id="8" name="Picture 7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4892040" cy="267246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Kê</a:t>
            </a:r>
            <a:r>
              <a:rPr dirty="0"/>
              <a:t> 4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Nhầm</a:t>
            </a:r>
            <a:r>
              <a:rPr dirty="0"/>
              <a:t> </a:t>
            </a:r>
            <a:r>
              <a:rPr dirty="0" err="1"/>
              <a:t>Lẫn</a:t>
            </a:r>
            <a:r>
              <a:rPr dirty="0"/>
              <a:t> </a:t>
            </a:r>
            <a:r>
              <a:rPr dirty="0" err="1"/>
              <a:t>Chính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3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200" dirty="0"/>
              <a:t>• 4 </a:t>
            </a:r>
            <a:r>
              <a:rPr sz="1200" dirty="0" err="1"/>
              <a:t>Hướng</a:t>
            </a:r>
            <a:r>
              <a:rPr sz="1200" dirty="0"/>
              <a:t> </a:t>
            </a:r>
            <a:r>
              <a:rPr sz="1200" dirty="0" err="1"/>
              <a:t>nhầm</a:t>
            </a:r>
            <a:r>
              <a:rPr sz="1200" dirty="0"/>
              <a:t> </a:t>
            </a:r>
            <a:r>
              <a:rPr sz="1200" dirty="0" err="1"/>
              <a:t>phổ</a:t>
            </a:r>
            <a:r>
              <a:rPr sz="1200" dirty="0"/>
              <a:t> </a:t>
            </a:r>
            <a:r>
              <a:rPr sz="1200" dirty="0" err="1"/>
              <a:t>biến</a:t>
            </a:r>
            <a:r>
              <a:rPr sz="1200" dirty="0"/>
              <a:t> </a:t>
            </a:r>
            <a:r>
              <a:rPr sz="1200" dirty="0" err="1"/>
              <a:t>nhất</a:t>
            </a:r>
            <a:r>
              <a:rPr sz="1200" dirty="0"/>
              <a:t>: </a:t>
            </a:r>
            <a:br>
              <a:rPr lang="vi-VN" sz="1200" dirty="0"/>
            </a:br>
            <a:r>
              <a:rPr sz="1200" b="0" dirty="0">
                <a:solidFill>
                  <a:srgbClr val="5A5A5A"/>
                </a:solidFill>
              </a:rPr>
              <a:t>• MEL -&gt; NV: 108 </a:t>
            </a:r>
            <a:r>
              <a:rPr sz="1200" b="0" dirty="0" err="1">
                <a:solidFill>
                  <a:srgbClr val="5A5A5A"/>
                </a:solidFill>
              </a:rPr>
              <a:t>ảnh</a:t>
            </a:r>
            <a:r>
              <a:rPr sz="1200" b="0" dirty="0">
                <a:solidFill>
                  <a:srgbClr val="5A5A5A"/>
                </a:solidFill>
              </a:rPr>
              <a:t> (</a:t>
            </a:r>
            <a:r>
              <a:rPr sz="1200" b="0" dirty="0" err="1">
                <a:solidFill>
                  <a:srgbClr val="5A5A5A"/>
                </a:solidFill>
              </a:rPr>
              <a:t>nhầm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ác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tính</a:t>
            </a:r>
            <a:r>
              <a:rPr sz="1200" b="0" dirty="0">
                <a:solidFill>
                  <a:srgbClr val="5A5A5A"/>
                </a:solidFill>
              </a:rPr>
              <a:t> sang </a:t>
            </a:r>
            <a:r>
              <a:rPr sz="1200" b="0" dirty="0" err="1">
                <a:solidFill>
                  <a:srgbClr val="5A5A5A"/>
                </a:solidFill>
              </a:rPr>
              <a:t>lành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tính</a:t>
            </a:r>
            <a:r>
              <a:rPr sz="1200" b="0" dirty="0">
                <a:solidFill>
                  <a:srgbClr val="5A5A5A"/>
                </a:solidFill>
              </a:rPr>
              <a:t>)
• NV -&gt; MEL: 61 </a:t>
            </a:r>
            <a:r>
              <a:rPr sz="1200" b="0" dirty="0" err="1">
                <a:solidFill>
                  <a:srgbClr val="5A5A5A"/>
                </a:solidFill>
              </a:rPr>
              <a:t>ảnh</a:t>
            </a:r>
            <a:r>
              <a:rPr sz="1200" b="0" dirty="0">
                <a:solidFill>
                  <a:srgbClr val="5A5A5A"/>
                </a:solidFill>
              </a:rPr>
              <a:t> (</a:t>
            </a:r>
            <a:r>
              <a:rPr sz="1200" b="0" dirty="0" err="1">
                <a:solidFill>
                  <a:srgbClr val="5A5A5A"/>
                </a:solidFill>
              </a:rPr>
              <a:t>cảnh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báo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quá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mức</a:t>
            </a:r>
            <a:r>
              <a:rPr sz="1200" b="0" dirty="0">
                <a:solidFill>
                  <a:srgbClr val="5A5A5A"/>
                </a:solidFill>
              </a:rPr>
              <a:t>)
• BKL -&gt; NV: 46 </a:t>
            </a:r>
            <a:r>
              <a:rPr sz="1200" b="0" dirty="0" err="1">
                <a:solidFill>
                  <a:srgbClr val="5A5A5A"/>
                </a:solidFill>
              </a:rPr>
              <a:t>ảnh</a:t>
            </a:r>
            <a:r>
              <a:rPr sz="1200" b="0" dirty="0">
                <a:solidFill>
                  <a:srgbClr val="5A5A5A"/>
                </a:solidFill>
              </a:rPr>
              <a:t>
• MEL -&gt; BKL: 32 </a:t>
            </a:r>
            <a:r>
              <a:rPr sz="1200" b="0" dirty="0" err="1">
                <a:solidFill>
                  <a:srgbClr val="5A5A5A"/>
                </a:solidFill>
              </a:rPr>
              <a:t>ảnh</a:t>
            </a:r>
            <a:endParaRPr sz="1200" b="0" dirty="0">
              <a:solidFill>
                <a:srgbClr val="5A5A5A"/>
              </a:solidFill>
            </a:endParaRP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Lông</a:t>
            </a:r>
            <a:r>
              <a:rPr sz="1200" dirty="0"/>
              <a:t> </a:t>
            </a:r>
            <a:r>
              <a:rPr sz="1200" dirty="0" err="1"/>
              <a:t>che</a:t>
            </a:r>
            <a:r>
              <a:rPr sz="1200" dirty="0"/>
              <a:t> </a:t>
            </a:r>
            <a:r>
              <a:rPr sz="1200" dirty="0" err="1"/>
              <a:t>phủ</a:t>
            </a:r>
            <a:r>
              <a:rPr sz="1200" dirty="0"/>
              <a:t> (25/52 </a:t>
            </a:r>
            <a:r>
              <a:rPr sz="1200" dirty="0" err="1"/>
              <a:t>ảnh</a:t>
            </a:r>
            <a:r>
              <a:rPr sz="1200" dirty="0"/>
              <a:t>): </a:t>
            </a:r>
            <a:r>
              <a:rPr sz="1200" b="0" dirty="0" err="1">
                <a:solidFill>
                  <a:srgbClr val="5A5A5A"/>
                </a:solidFill>
              </a:rPr>
              <a:t>Mật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độ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lông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dày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đặc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che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lấp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các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đốm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sắc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tố</a:t>
            </a:r>
            <a:r>
              <a:rPr sz="1200" b="0" dirty="0">
                <a:solidFill>
                  <a:srgbClr val="5A5A5A"/>
                </a:solidFill>
              </a:rPr>
              <a:t> ở </a:t>
            </a:r>
            <a:r>
              <a:rPr sz="1200" b="0" dirty="0" err="1">
                <a:solidFill>
                  <a:srgbClr val="5A5A5A"/>
                </a:solidFill>
              </a:rPr>
              <a:t>tâm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tổn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thương</a:t>
            </a:r>
            <a:r>
              <a:rPr sz="12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Viền</a:t>
            </a:r>
            <a:r>
              <a:rPr sz="1200" dirty="0"/>
              <a:t> </a:t>
            </a:r>
            <a:r>
              <a:rPr sz="1200" dirty="0" err="1"/>
              <a:t>đen</a:t>
            </a:r>
            <a:r>
              <a:rPr sz="1200" dirty="0"/>
              <a:t> &amp; </a:t>
            </a:r>
            <a:r>
              <a:rPr sz="1200" dirty="0" err="1"/>
              <a:t>ống</a:t>
            </a:r>
            <a:r>
              <a:rPr sz="1200" dirty="0"/>
              <a:t> </a:t>
            </a:r>
            <a:r>
              <a:rPr sz="1200" dirty="0" err="1"/>
              <a:t>kính</a:t>
            </a:r>
            <a:r>
              <a:rPr sz="1200" dirty="0"/>
              <a:t> (21/52 </a:t>
            </a:r>
            <a:r>
              <a:rPr sz="1200" dirty="0" err="1"/>
              <a:t>ảnh</a:t>
            </a:r>
            <a:r>
              <a:rPr sz="1200" dirty="0"/>
              <a:t>): </a:t>
            </a:r>
            <a:r>
              <a:rPr sz="1200" b="0" dirty="0" err="1">
                <a:solidFill>
                  <a:srgbClr val="5A5A5A"/>
                </a:solidFill>
              </a:rPr>
              <a:t>Khung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viền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tròn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của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kính</a:t>
            </a:r>
            <a:r>
              <a:rPr sz="1200" b="0" dirty="0">
                <a:solidFill>
                  <a:srgbClr val="5A5A5A"/>
                </a:solidFill>
              </a:rPr>
              <a:t> soi da </a:t>
            </a:r>
            <a:r>
              <a:rPr sz="1200" b="0" dirty="0" err="1">
                <a:solidFill>
                  <a:srgbClr val="5A5A5A"/>
                </a:solidFill>
              </a:rPr>
              <a:t>tạo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độ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tương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phản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giả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đánh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lừa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mạng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nơ-ron</a:t>
            </a:r>
            <a:r>
              <a:rPr sz="12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Vết</a:t>
            </a:r>
            <a:r>
              <a:rPr sz="1200" dirty="0"/>
              <a:t> </a:t>
            </a:r>
            <a:r>
              <a:rPr sz="1200" dirty="0" err="1"/>
              <a:t>mực</a:t>
            </a:r>
            <a:r>
              <a:rPr sz="1200" dirty="0"/>
              <a:t> / </a:t>
            </a:r>
            <a:r>
              <a:rPr sz="1200" dirty="0" err="1"/>
              <a:t>Thước</a:t>
            </a:r>
            <a:r>
              <a:rPr sz="1200" dirty="0"/>
              <a:t> </a:t>
            </a:r>
            <a:r>
              <a:rPr sz="1200" dirty="0" err="1"/>
              <a:t>đo</a:t>
            </a:r>
            <a:r>
              <a:rPr sz="1200" dirty="0"/>
              <a:t> (15/52 </a:t>
            </a:r>
            <a:r>
              <a:rPr sz="1200" dirty="0" err="1"/>
              <a:t>ảnh</a:t>
            </a:r>
            <a:r>
              <a:rPr sz="1200" dirty="0"/>
              <a:t>): </a:t>
            </a:r>
            <a:r>
              <a:rPr sz="1200" b="0" dirty="0" err="1">
                <a:solidFill>
                  <a:srgbClr val="5A5A5A"/>
                </a:solidFill>
              </a:rPr>
              <a:t>Thước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đo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milimet</a:t>
            </a:r>
            <a:r>
              <a:rPr sz="1200" b="0" dirty="0">
                <a:solidFill>
                  <a:srgbClr val="5A5A5A"/>
                </a:solidFill>
              </a:rPr>
              <a:t> do </a:t>
            </a:r>
            <a:r>
              <a:rPr sz="1200" b="0" dirty="0" err="1">
                <a:solidFill>
                  <a:srgbClr val="5A5A5A"/>
                </a:solidFill>
              </a:rPr>
              <a:t>bác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sĩ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đặt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cạnh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tổn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thương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vô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tình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trở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thành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đặc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trưng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giả</a:t>
            </a:r>
            <a:r>
              <a:rPr sz="12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Bài</a:t>
            </a:r>
            <a:r>
              <a:rPr sz="1200" dirty="0"/>
              <a:t> </a:t>
            </a:r>
            <a:r>
              <a:rPr sz="1200" dirty="0" err="1"/>
              <a:t>học</a:t>
            </a:r>
            <a:r>
              <a:rPr sz="1200" dirty="0"/>
              <a:t> </a:t>
            </a:r>
            <a:r>
              <a:rPr sz="1200" dirty="0" err="1"/>
              <a:t>phương</a:t>
            </a:r>
            <a:r>
              <a:rPr sz="1200" dirty="0"/>
              <a:t> </a:t>
            </a:r>
            <a:r>
              <a:rPr sz="1200" dirty="0" err="1"/>
              <a:t>pháp</a:t>
            </a:r>
            <a:r>
              <a:rPr sz="1200" dirty="0"/>
              <a:t>: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khảo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sát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đã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chứng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minh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không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thể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vội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vàng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cắt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gọt</a:t>
            </a:r>
            <a:r>
              <a:rPr sz="1200" b="0" dirty="0">
                <a:solidFill>
                  <a:srgbClr val="5A5A5A"/>
                </a:solidFill>
              </a:rPr>
              <a:t> hay </a:t>
            </a:r>
            <a:r>
              <a:rPr sz="1200" b="0" dirty="0" err="1">
                <a:solidFill>
                  <a:srgbClr val="5A5A5A"/>
                </a:solidFill>
              </a:rPr>
              <a:t>xóa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tự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động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nếu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chưa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có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mô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hình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phát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hiện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chuyên</a:t>
            </a:r>
            <a:r>
              <a:rPr sz="1200" b="0" dirty="0">
                <a:solidFill>
                  <a:srgbClr val="5A5A5A"/>
                </a:solidFill>
              </a:rPr>
              <a:t> </a:t>
            </a:r>
            <a:r>
              <a:rPr sz="1200" b="0" dirty="0" err="1">
                <a:solidFill>
                  <a:srgbClr val="5A5A5A"/>
                </a:solidFill>
              </a:rPr>
              <a:t>biệt</a:t>
            </a:r>
            <a:r>
              <a:rPr sz="12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14/18</a:t>
            </a:r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415B1578-F6E2-4D26-A1D4-EA29273132F2}"/>
              </a:ext>
            </a:extLst>
          </p:cNvPr>
          <p:cNvSpPr/>
          <p:nvPr/>
        </p:nvSpPr>
        <p:spPr>
          <a:xfrm>
            <a:off x="731520" y="411480"/>
            <a:ext cx="3905794" cy="33832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6: KẾT QUẢ, THẢO LUẬN VÀ PHÂN TÍCH LỖI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526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t>PHẦN 6: KẾT QUẢ, THẢO LUẬN VÀ 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Demo Suy Luận Thực Tế &amp; Cảnh Báo Lâm Sàng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Demo </a:t>
            </a:r>
            <a:r>
              <a:rPr dirty="0" err="1"/>
              <a:t>Đúng</a:t>
            </a:r>
            <a:r>
              <a:rPr dirty="0"/>
              <a:t>: ISIC_0000000</a:t>
            </a:r>
          </a:p>
        </p:txBody>
      </p:sp>
      <p:pic>
        <p:nvPicPr>
          <p:cNvPr id="8" name="Picture 7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4892040" cy="195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4846320"/>
            <a:ext cx="4892040" cy="700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5E55"/>
                </a:solidFill>
              </a:defRPr>
            </a:pPr>
            <a:r>
              <a:rPr dirty="0"/>
              <a:t>• </a:t>
            </a:r>
            <a:r>
              <a:rPr dirty="0" err="1"/>
              <a:t>Nhãn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: NV  | 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đoán</a:t>
            </a:r>
            <a:r>
              <a:rPr dirty="0"/>
              <a:t>: NV  |  </a:t>
            </a:r>
            <a:r>
              <a:rPr dirty="0" err="1"/>
              <a:t>Softmax</a:t>
            </a:r>
            <a:r>
              <a:rPr dirty="0"/>
              <a:t>: 99.997%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rPr sz="1400" dirty="0" err="1"/>
              <a:t>Tổn</a:t>
            </a:r>
            <a:r>
              <a:rPr sz="1400" dirty="0"/>
              <a:t> </a:t>
            </a:r>
            <a:r>
              <a:rPr sz="1400" dirty="0" err="1"/>
              <a:t>thương</a:t>
            </a:r>
            <a:r>
              <a:rPr sz="1400" dirty="0"/>
              <a:t> </a:t>
            </a:r>
            <a:r>
              <a:rPr sz="1400" dirty="0" err="1"/>
              <a:t>nốt</a:t>
            </a:r>
            <a:r>
              <a:rPr sz="1400" dirty="0"/>
              <a:t> </a:t>
            </a:r>
            <a:r>
              <a:rPr sz="1400" dirty="0" err="1"/>
              <a:t>ruồi</a:t>
            </a:r>
            <a:r>
              <a:rPr sz="1400" dirty="0"/>
              <a:t> </a:t>
            </a:r>
            <a:r>
              <a:rPr sz="1400" dirty="0" err="1"/>
              <a:t>điển</a:t>
            </a:r>
            <a:r>
              <a:rPr sz="1400" dirty="0"/>
              <a:t> </a:t>
            </a:r>
            <a:r>
              <a:rPr sz="1400" dirty="0" err="1"/>
              <a:t>hình</a:t>
            </a:r>
            <a:r>
              <a:rPr sz="1400" dirty="0"/>
              <a:t>, </a:t>
            </a:r>
            <a:r>
              <a:rPr sz="1400" dirty="0" err="1"/>
              <a:t>ranh</a:t>
            </a:r>
            <a:r>
              <a:rPr sz="1400" dirty="0"/>
              <a:t> </a:t>
            </a:r>
            <a:r>
              <a:rPr sz="1400" dirty="0" err="1"/>
              <a:t>giới</a:t>
            </a:r>
            <a:r>
              <a:rPr sz="1400" dirty="0"/>
              <a:t> </a:t>
            </a:r>
            <a:r>
              <a:rPr sz="1400" dirty="0" err="1"/>
              <a:t>rõ</a:t>
            </a:r>
            <a:r>
              <a:rPr sz="1400" dirty="0"/>
              <a:t> </a:t>
            </a:r>
            <a:r>
              <a:rPr sz="1400" dirty="0" err="1"/>
              <a:t>ràng</a:t>
            </a:r>
            <a:r>
              <a:rPr sz="1400" dirty="0"/>
              <a:t>, </a:t>
            </a:r>
            <a:r>
              <a:rPr sz="1400" dirty="0" err="1"/>
              <a:t>mô</a:t>
            </a:r>
            <a:r>
              <a:rPr sz="1400" dirty="0"/>
              <a:t> </a:t>
            </a:r>
            <a:r>
              <a:rPr sz="1400" dirty="0" err="1"/>
              <a:t>hình</a:t>
            </a:r>
            <a:r>
              <a:rPr sz="1400" dirty="0"/>
              <a:t> </a:t>
            </a:r>
            <a:r>
              <a:rPr sz="1400" dirty="0" err="1"/>
              <a:t>nhận</a:t>
            </a:r>
            <a:r>
              <a:rPr sz="1400" dirty="0"/>
              <a:t> </a:t>
            </a:r>
            <a:r>
              <a:rPr sz="1400" dirty="0" err="1"/>
              <a:t>diện</a:t>
            </a:r>
            <a:r>
              <a:rPr sz="1400" dirty="0"/>
              <a:t> </a:t>
            </a:r>
            <a:r>
              <a:rPr sz="1400" dirty="0" err="1"/>
              <a:t>chính</a:t>
            </a:r>
            <a:r>
              <a:rPr sz="1400" dirty="0"/>
              <a:t> </a:t>
            </a:r>
            <a:r>
              <a:rPr sz="1400" dirty="0" err="1"/>
              <a:t>xác</a:t>
            </a:r>
            <a:r>
              <a:rPr sz="1400" dirty="0"/>
              <a:t> </a:t>
            </a:r>
            <a:r>
              <a:rPr sz="1400" dirty="0" err="1"/>
              <a:t>tuyệt</a:t>
            </a:r>
            <a:r>
              <a:rPr sz="1400" dirty="0"/>
              <a:t> </a:t>
            </a:r>
            <a:r>
              <a:rPr sz="1400" dirty="0" err="1"/>
              <a:t>đối</a:t>
            </a:r>
            <a:r>
              <a:rPr sz="1400"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Demo Sai &amp; </a:t>
            </a:r>
            <a:r>
              <a:rPr dirty="0" err="1"/>
              <a:t>Cảnh</a:t>
            </a:r>
            <a:r>
              <a:rPr dirty="0"/>
              <a:t> </a:t>
            </a:r>
            <a:r>
              <a:rPr dirty="0" err="1"/>
              <a:t>Báo</a:t>
            </a:r>
            <a:r>
              <a:rPr dirty="0"/>
              <a:t>: ISIC_0000195</a:t>
            </a:r>
          </a:p>
        </p:txBody>
      </p:sp>
      <p:pic>
        <p:nvPicPr>
          <p:cNvPr id="12" name="Picture 11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31720"/>
            <a:ext cx="4846320" cy="1938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846320"/>
            <a:ext cx="4846320" cy="915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8B1E1E"/>
                </a:solidFill>
              </a:defRPr>
            </a:pPr>
            <a:r>
              <a:rPr dirty="0"/>
              <a:t>• </a:t>
            </a:r>
            <a:r>
              <a:rPr dirty="0" err="1"/>
              <a:t>Nhãn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: NV  | 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đoán</a:t>
            </a:r>
            <a:r>
              <a:rPr dirty="0"/>
              <a:t>: BKL  |  </a:t>
            </a:r>
            <a:r>
              <a:rPr dirty="0" err="1"/>
              <a:t>Softmax</a:t>
            </a:r>
            <a:r>
              <a:rPr dirty="0"/>
              <a:t>: 95.061%!</a:t>
            </a:r>
          </a:p>
          <a:p>
            <a:pPr>
              <a:defRPr sz="1050">
                <a:solidFill>
                  <a:srgbClr val="5A5A5A"/>
                </a:solidFill>
              </a:defRPr>
            </a:pPr>
            <a:r>
              <a:rPr sz="1400" dirty="0" err="1"/>
              <a:t>Cực</a:t>
            </a:r>
            <a:r>
              <a:rPr sz="1400" dirty="0"/>
              <a:t> </a:t>
            </a:r>
            <a:r>
              <a:rPr sz="1400" dirty="0" err="1"/>
              <a:t>kỳ</a:t>
            </a:r>
            <a:r>
              <a:rPr sz="1400" dirty="0"/>
              <a:t> </a:t>
            </a:r>
            <a:r>
              <a:rPr sz="1400" dirty="0" err="1"/>
              <a:t>nguy</a:t>
            </a:r>
            <a:r>
              <a:rPr sz="1400" dirty="0"/>
              <a:t> </a:t>
            </a:r>
            <a:r>
              <a:rPr sz="1400" dirty="0" err="1"/>
              <a:t>hiểm</a:t>
            </a:r>
            <a:r>
              <a:rPr sz="1400" dirty="0"/>
              <a:t>: </a:t>
            </a:r>
            <a:r>
              <a:rPr sz="1400" dirty="0" err="1"/>
              <a:t>Dù</a:t>
            </a:r>
            <a:r>
              <a:rPr sz="1400" dirty="0"/>
              <a:t> </a:t>
            </a:r>
            <a:r>
              <a:rPr sz="1400" dirty="0" err="1"/>
              <a:t>dự</a:t>
            </a:r>
            <a:r>
              <a:rPr sz="1400" dirty="0"/>
              <a:t> </a:t>
            </a:r>
            <a:r>
              <a:rPr sz="1400" dirty="0" err="1"/>
              <a:t>đoán</a:t>
            </a:r>
            <a:r>
              <a:rPr sz="1400" dirty="0"/>
              <a:t> </a:t>
            </a:r>
            <a:r>
              <a:rPr sz="1400" dirty="0" err="1"/>
              <a:t>sai</a:t>
            </a:r>
            <a:r>
              <a:rPr sz="1400" dirty="0"/>
              <a:t>, </a:t>
            </a:r>
            <a:r>
              <a:rPr sz="1400" dirty="0" err="1"/>
              <a:t>Softmax</a:t>
            </a:r>
            <a:r>
              <a:rPr sz="1400" dirty="0"/>
              <a:t> </a:t>
            </a:r>
            <a:r>
              <a:rPr sz="1400" dirty="0" err="1"/>
              <a:t>vẫn</a:t>
            </a:r>
            <a:r>
              <a:rPr sz="1400" dirty="0"/>
              <a:t> </a:t>
            </a:r>
            <a:r>
              <a:rPr sz="1400" dirty="0" err="1"/>
              <a:t>tự</a:t>
            </a:r>
            <a:r>
              <a:rPr sz="1400" dirty="0"/>
              <a:t> tin </a:t>
            </a:r>
            <a:r>
              <a:rPr sz="1400" dirty="0" err="1"/>
              <a:t>trên</a:t>
            </a:r>
            <a:r>
              <a:rPr sz="1400" dirty="0"/>
              <a:t> 95%! Minh </a:t>
            </a:r>
            <a:r>
              <a:rPr sz="1400" dirty="0" err="1"/>
              <a:t>chứng</a:t>
            </a:r>
            <a:r>
              <a:rPr sz="1400" dirty="0"/>
              <a:t> </a:t>
            </a:r>
            <a:r>
              <a:rPr sz="1400" dirty="0" err="1"/>
              <a:t>rằng</a:t>
            </a:r>
            <a:r>
              <a:rPr sz="1400" dirty="0"/>
              <a:t> </a:t>
            </a:r>
            <a:r>
              <a:rPr sz="1400" dirty="0" err="1"/>
              <a:t>Softmax</a:t>
            </a:r>
            <a:r>
              <a:rPr sz="1400" dirty="0"/>
              <a:t> </a:t>
            </a:r>
            <a:r>
              <a:rPr sz="1400" dirty="0" err="1"/>
              <a:t>chưa</a:t>
            </a:r>
            <a:r>
              <a:rPr sz="1400" dirty="0"/>
              <a:t> </a:t>
            </a:r>
            <a:r>
              <a:rPr sz="1400" dirty="0" err="1"/>
              <a:t>được</a:t>
            </a:r>
            <a:r>
              <a:rPr sz="1400" dirty="0"/>
              <a:t> </a:t>
            </a:r>
            <a:r>
              <a:rPr sz="1400" dirty="0" err="1"/>
              <a:t>hiệu</a:t>
            </a:r>
            <a:r>
              <a:rPr sz="1400" dirty="0"/>
              <a:t> </a:t>
            </a:r>
            <a:r>
              <a:rPr sz="1400" dirty="0" err="1"/>
              <a:t>chuẩn</a:t>
            </a:r>
            <a:r>
              <a:rPr sz="1400" dirty="0"/>
              <a:t> (calibrated) </a:t>
            </a:r>
            <a:r>
              <a:rPr sz="1400" dirty="0" err="1"/>
              <a:t>thành</a:t>
            </a:r>
            <a:r>
              <a:rPr sz="1400" dirty="0"/>
              <a:t> </a:t>
            </a:r>
            <a:r>
              <a:rPr sz="1400" dirty="0" err="1"/>
              <a:t>xác</a:t>
            </a:r>
            <a:r>
              <a:rPr sz="1400" dirty="0"/>
              <a:t> </a:t>
            </a:r>
            <a:r>
              <a:rPr sz="1400" dirty="0" err="1"/>
              <a:t>suất</a:t>
            </a:r>
            <a:r>
              <a:rPr sz="1400" dirty="0"/>
              <a:t> y khoa.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15/18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19" y="411480"/>
            <a:ext cx="3405051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7: KẾT LUẬN VÀ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Kết Luận &amp; Đóng Góp Cốt Lõi Của Đề Tài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&amp; </a:t>
            </a:r>
            <a:r>
              <a:rPr dirty="0" err="1"/>
              <a:t>Làm</a:t>
            </a:r>
            <a:r>
              <a:rPr dirty="0"/>
              <a:t> </a:t>
            </a:r>
            <a:r>
              <a:rPr dirty="0" err="1"/>
              <a:t>Sạch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8006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hiện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Phát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hiện</a:t>
            </a:r>
            <a:r>
              <a:rPr sz="1400" b="0" dirty="0">
                <a:solidFill>
                  <a:srgbClr val="5A5A5A"/>
                </a:solidFill>
              </a:rPr>
              <a:t> 48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trùng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loại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bỏ</a:t>
            </a:r>
            <a:r>
              <a:rPr sz="1400" b="0" dirty="0">
                <a:solidFill>
                  <a:srgbClr val="5A5A5A"/>
                </a:solidFill>
              </a:rPr>
              <a:t> 4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nhãn</a:t>
            </a:r>
            <a:r>
              <a:rPr sz="1400" b="0" dirty="0">
                <a:solidFill>
                  <a:srgbClr val="5A5A5A"/>
                </a:solidFill>
              </a:rPr>
              <a:t>; chia </a:t>
            </a:r>
            <a:r>
              <a:rPr sz="1400" b="0" dirty="0" err="1">
                <a:solidFill>
                  <a:srgbClr val="5A5A5A"/>
                </a:solidFill>
              </a:rPr>
              <a:t>tập</a:t>
            </a:r>
            <a:r>
              <a:rPr sz="1400" b="0" dirty="0">
                <a:solidFill>
                  <a:srgbClr val="5A5A5A"/>
                </a:solidFill>
              </a:rPr>
              <a:t> Group Split 70/10/20.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Giá</a:t>
            </a:r>
            <a:r>
              <a:rPr sz="1400" dirty="0"/>
              <a:t> </a:t>
            </a:r>
            <a:r>
              <a:rPr sz="1400" dirty="0" err="1"/>
              <a:t>trị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Khóa</a:t>
            </a:r>
            <a:r>
              <a:rPr sz="1400" b="0" dirty="0">
                <a:solidFill>
                  <a:srgbClr val="5A5A5A"/>
                </a:solidFill>
              </a:rPr>
              <a:t> manifest 25.327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bảo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đảm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rò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rỉ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dữ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liệu</a:t>
            </a:r>
            <a:r>
              <a:rPr sz="1400" b="0" dirty="0">
                <a:solidFill>
                  <a:srgbClr val="5A5A5A"/>
                </a:solidFill>
              </a:rPr>
              <a:t> (crossing = 0), </a:t>
            </a:r>
            <a:r>
              <a:rPr sz="1400" b="0" dirty="0" err="1">
                <a:solidFill>
                  <a:srgbClr val="5A5A5A"/>
                </a:solidFill>
              </a:rPr>
              <a:t>tạo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tảng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thực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Cốt</a:t>
            </a:r>
            <a:r>
              <a:rPr dirty="0"/>
              <a:t> </a:t>
            </a:r>
            <a:r>
              <a:rPr dirty="0" err="1"/>
              <a:t>Lõi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Xứng</a:t>
            </a:r>
            <a:r>
              <a:rPr dirty="0"/>
              <a:t> D4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8006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hiện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8 </a:t>
            </a:r>
            <a:r>
              <a:rPr sz="1400" b="0" dirty="0" err="1">
                <a:solidFill>
                  <a:srgbClr val="5A5A5A"/>
                </a:solidFill>
              </a:rPr>
              <a:t>phép</a:t>
            </a:r>
            <a:r>
              <a:rPr sz="1400" b="0" dirty="0">
                <a:solidFill>
                  <a:srgbClr val="5A5A5A"/>
                </a:solidFill>
              </a:rPr>
              <a:t> quay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ngẫu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nhiên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tập</a:t>
            </a:r>
            <a:r>
              <a:rPr sz="1400" b="0" dirty="0">
                <a:solidFill>
                  <a:srgbClr val="5A5A5A"/>
                </a:solidFill>
              </a:rPr>
              <a:t> train </a:t>
            </a:r>
            <a:r>
              <a:rPr sz="1400" b="0" dirty="0" err="1">
                <a:solidFill>
                  <a:srgbClr val="5A5A5A"/>
                </a:solidFill>
              </a:rPr>
              <a:t>mà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nội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suy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làm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mờ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Giá</a:t>
            </a:r>
            <a:r>
              <a:rPr sz="1400" dirty="0"/>
              <a:t> </a:t>
            </a:r>
            <a:r>
              <a:rPr sz="1400" dirty="0" err="1"/>
              <a:t>trị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+5.09 pp Macro-F1 ở seed 42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+2.18 pp </a:t>
            </a:r>
            <a:r>
              <a:rPr sz="1400" b="0" dirty="0" err="1">
                <a:solidFill>
                  <a:srgbClr val="5A5A5A"/>
                </a:solidFill>
              </a:rPr>
              <a:t>trung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bình</a:t>
            </a:r>
            <a:r>
              <a:rPr sz="1400" b="0" dirty="0">
                <a:solidFill>
                  <a:srgbClr val="5A5A5A"/>
                </a:solidFill>
              </a:rPr>
              <a:t> qua </a:t>
            </a:r>
            <a:r>
              <a:rPr sz="1400" b="0" dirty="0" err="1">
                <a:solidFill>
                  <a:srgbClr val="5A5A5A"/>
                </a:solidFill>
              </a:rPr>
              <a:t>các</a:t>
            </a:r>
            <a:r>
              <a:rPr sz="1400" b="0" dirty="0">
                <a:solidFill>
                  <a:srgbClr val="5A5A5A"/>
                </a:solidFill>
              </a:rPr>
              <a:t> seed </a:t>
            </a:r>
            <a:r>
              <a:rPr sz="1400" b="0" dirty="0" err="1">
                <a:solidFill>
                  <a:srgbClr val="5A5A5A"/>
                </a:solidFill>
              </a:rPr>
              <a:t>xác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chứng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minh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biến</a:t>
            </a:r>
            <a:r>
              <a:rPr sz="1400" b="0" dirty="0">
                <a:solidFill>
                  <a:srgbClr val="5A5A5A"/>
                </a:solidFill>
              </a:rPr>
              <a:t> quay.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 </a:t>
            </a:r>
            <a:r>
              <a:rPr dirty="0" err="1"/>
              <a:t>Phản</a:t>
            </a:r>
            <a:r>
              <a:rPr dirty="0"/>
              <a:t> </a:t>
            </a:r>
            <a:r>
              <a:rPr dirty="0" err="1"/>
              <a:t>Biện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Tiền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006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hiện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Thử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nghiệm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kiểm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soát</a:t>
            </a:r>
            <a:r>
              <a:rPr sz="1400" b="0" dirty="0">
                <a:solidFill>
                  <a:srgbClr val="5A5A5A"/>
                </a:solidFill>
              </a:rPr>
              <a:t> 10 </a:t>
            </a:r>
            <a:r>
              <a:rPr sz="1400" b="0" dirty="0" err="1">
                <a:solidFill>
                  <a:srgbClr val="5A5A5A"/>
                </a:solidFill>
              </a:rPr>
              <a:t>phương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lý</a:t>
            </a:r>
            <a:r>
              <a:rPr sz="1400" b="0" dirty="0">
                <a:solidFill>
                  <a:srgbClr val="5A5A5A"/>
                </a:solidFill>
              </a:rPr>
              <a:t> (P01–P10) </a:t>
            </a:r>
            <a:r>
              <a:rPr sz="1400" b="0" dirty="0" err="1">
                <a:solidFill>
                  <a:srgbClr val="5A5A5A"/>
                </a:solidFill>
              </a:rPr>
              <a:t>độc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ResNet50.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Giá</a:t>
            </a:r>
            <a:r>
              <a:rPr sz="1400" dirty="0"/>
              <a:t> </a:t>
            </a:r>
            <a:r>
              <a:rPr sz="1400" dirty="0" err="1"/>
              <a:t>trị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Chứng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minh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bằng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thực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nghiệm</a:t>
            </a:r>
            <a:r>
              <a:rPr sz="1400" b="0" dirty="0">
                <a:solidFill>
                  <a:srgbClr val="5A5A5A"/>
                </a:solidFill>
              </a:rPr>
              <a:t>: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vội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vã</a:t>
            </a:r>
            <a:r>
              <a:rPr sz="1400" b="0" dirty="0">
                <a:solidFill>
                  <a:srgbClr val="5A5A5A"/>
                </a:solidFill>
              </a:rPr>
              <a:t> can </a:t>
            </a:r>
            <a:r>
              <a:rPr sz="1400" b="0" dirty="0" err="1">
                <a:solidFill>
                  <a:srgbClr val="5A5A5A"/>
                </a:solidFill>
              </a:rPr>
              <a:t>thiệp</a:t>
            </a:r>
            <a:r>
              <a:rPr sz="1400" b="0" dirty="0">
                <a:solidFill>
                  <a:srgbClr val="5A5A5A"/>
                </a:solidFill>
              </a:rPr>
              <a:t> pixel (</a:t>
            </a:r>
            <a:r>
              <a:rPr sz="1400" b="0" dirty="0" err="1">
                <a:solidFill>
                  <a:srgbClr val="5A5A5A"/>
                </a:solidFill>
              </a:rPr>
              <a:t>tẩy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lông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lọc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sáng</a:t>
            </a:r>
            <a:r>
              <a:rPr sz="1400" b="0" dirty="0">
                <a:solidFill>
                  <a:srgbClr val="5A5A5A"/>
                </a:solidFill>
              </a:rPr>
              <a:t>, padding) </a:t>
            </a:r>
            <a:r>
              <a:rPr sz="1400" b="0" dirty="0" err="1">
                <a:solidFill>
                  <a:srgbClr val="5A5A5A"/>
                </a:solidFill>
              </a:rPr>
              <a:t>khi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chứng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6624" y="420624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Sản</a:t>
            </a:r>
            <a:r>
              <a:rPr dirty="0"/>
              <a:t> </a:t>
            </a:r>
            <a:r>
              <a:rPr dirty="0" err="1"/>
              <a:t>Phẩm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00600" cy="108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hiện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Checkpoint T02B </a:t>
            </a:r>
            <a:r>
              <a:rPr sz="1400" b="0" dirty="0" err="1">
                <a:solidFill>
                  <a:srgbClr val="5A5A5A"/>
                </a:solidFill>
              </a:rPr>
              <a:t>đạt</a:t>
            </a:r>
            <a:r>
              <a:rPr sz="1400" b="0" dirty="0">
                <a:solidFill>
                  <a:srgbClr val="5A5A5A"/>
                </a:solidFill>
              </a:rPr>
              <a:t> Test Acc 76.43%, Macro-F1 60.54%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tập</a:t>
            </a:r>
            <a:r>
              <a:rPr sz="1400" b="0" dirty="0">
                <a:solidFill>
                  <a:srgbClr val="5A5A5A"/>
                </a:solidFill>
              </a:rPr>
              <a:t> test </a:t>
            </a:r>
            <a:r>
              <a:rPr sz="1400" b="0" dirty="0" err="1">
                <a:solidFill>
                  <a:srgbClr val="5A5A5A"/>
                </a:solidFill>
              </a:rPr>
              <a:t>nội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bộ</a:t>
            </a:r>
            <a:r>
              <a:rPr sz="1400" b="0" dirty="0">
                <a:solidFill>
                  <a:srgbClr val="5A5A5A"/>
                </a:solidFill>
              </a:rPr>
              <a:t> 5.065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Giá</a:t>
            </a:r>
            <a:r>
              <a:rPr sz="1400" dirty="0"/>
              <a:t> </a:t>
            </a:r>
            <a:r>
              <a:rPr sz="1400" dirty="0" err="1"/>
              <a:t>trị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nguồn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cấu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, manifest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quả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lưu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trữ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mở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nối</a:t>
            </a:r>
            <a:r>
              <a:rPr sz="1400" b="0" dirty="0">
                <a:solidFill>
                  <a:srgbClr val="5A5A5A"/>
                </a:solidFill>
              </a:rPr>
              <a:t> qua </a:t>
            </a:r>
            <a:r>
              <a:rPr sz="1400" b="0" dirty="0" err="1">
                <a:solidFill>
                  <a:srgbClr val="5A5A5A"/>
                </a:solidFill>
              </a:rPr>
              <a:t>bảng</a:t>
            </a:r>
            <a:r>
              <a:rPr sz="1400" b="0" dirty="0">
                <a:solidFill>
                  <a:srgbClr val="5A5A5A"/>
                </a:solidFill>
              </a:rPr>
              <a:t> experiment_index.csv.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16/18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54571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1E1E"/>
                </a:solidFill>
                <a:latin typeface="Segoe UI"/>
              </a:defRPr>
            </a:pPr>
            <a:r>
              <a:t>Hạn Chế Nghiên Cứu &amp; Hướng Phát Triển Tương Lai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66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800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Tại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006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</a:t>
            </a:r>
            <a:r>
              <a:rPr sz="1400" dirty="0" err="1"/>
              <a:t>thiếu</a:t>
            </a:r>
            <a:r>
              <a:rPr sz="1400" dirty="0"/>
              <a:t> </a:t>
            </a:r>
            <a:r>
              <a:rPr sz="1400" dirty="0" err="1"/>
              <a:t>patient_id</a:t>
            </a:r>
            <a:r>
              <a:rPr sz="1400" dirty="0"/>
              <a:t>: </a:t>
            </a:r>
            <a:r>
              <a:rPr sz="1400" b="0" dirty="0">
                <a:solidFill>
                  <a:srgbClr val="5A5A5A"/>
                </a:solidFill>
              </a:rPr>
              <a:t>2.084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thiếu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lesion_id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và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có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patient_id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lang="vi-VN"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toàn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mức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người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Ngân</a:t>
            </a:r>
            <a:r>
              <a:rPr sz="1400" dirty="0"/>
              <a:t> </a:t>
            </a:r>
            <a:r>
              <a:rPr sz="1400" dirty="0" err="1"/>
              <a:t>sách</a:t>
            </a:r>
            <a:r>
              <a:rPr sz="1400" dirty="0"/>
              <a:t> </a:t>
            </a:r>
            <a:r>
              <a:rPr sz="1400" dirty="0" err="1"/>
              <a:t>môn</a:t>
            </a:r>
            <a:r>
              <a:rPr sz="1400" dirty="0"/>
              <a:t> </a:t>
            </a:r>
            <a:r>
              <a:rPr sz="1400" dirty="0" err="1"/>
              <a:t>học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Giới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hạn</a:t>
            </a:r>
            <a:r>
              <a:rPr sz="1400" b="0" dirty="0">
                <a:solidFill>
                  <a:srgbClr val="5A5A5A"/>
                </a:solidFill>
              </a:rPr>
              <a:t> ở 16 epoch </a:t>
            </a:r>
            <a:br>
              <a:rPr lang="vi-VN" sz="1400" b="0" dirty="0">
                <a:solidFill>
                  <a:srgbClr val="5A5A5A"/>
                </a:solidFill>
              </a:rPr>
            </a:br>
            <a:br>
              <a:rPr lang="vi-VN" sz="1400" b="0" dirty="0">
                <a:solidFill>
                  <a:srgbClr val="5A5A5A"/>
                </a:solidFill>
              </a:rPr>
            </a:br>
            <a:r>
              <a:rPr sz="1400" dirty="0"/>
              <a:t>• </a:t>
            </a:r>
            <a:r>
              <a:rPr sz="1400" dirty="0" err="1"/>
              <a:t>Chưa</a:t>
            </a:r>
            <a:r>
              <a:rPr sz="1400" dirty="0"/>
              <a:t> </a:t>
            </a:r>
            <a:r>
              <a:rPr sz="1400" dirty="0" err="1"/>
              <a:t>kiểm</a:t>
            </a:r>
            <a:r>
              <a:rPr sz="1400" dirty="0"/>
              <a:t> </a:t>
            </a:r>
            <a:r>
              <a:rPr sz="1400" dirty="0" err="1"/>
              <a:t>thử</a:t>
            </a:r>
            <a:r>
              <a:rPr lang="vi-VN" sz="1400" dirty="0"/>
              <a:t> </a:t>
            </a:r>
            <a:r>
              <a:rPr lang="vi-VN" sz="1250" dirty="0" err="1"/>
              <a:t>data</a:t>
            </a:r>
            <a:r>
              <a:rPr sz="1400" dirty="0"/>
              <a:t> </a:t>
            </a:r>
            <a:r>
              <a:rPr sz="1400" dirty="0" err="1"/>
              <a:t>ngoài</a:t>
            </a:r>
            <a:r>
              <a:rPr sz="1400" dirty="0"/>
              <a:t> </a:t>
            </a:r>
            <a:r>
              <a:rPr sz="1400" dirty="0" err="1"/>
              <a:t>miền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Tập</a:t>
            </a:r>
            <a:r>
              <a:rPr sz="1400" b="0" dirty="0">
                <a:solidFill>
                  <a:srgbClr val="5A5A5A"/>
                </a:solidFill>
              </a:rPr>
              <a:t> test </a:t>
            </a:r>
            <a:r>
              <a:rPr sz="1400" b="0" dirty="0" err="1">
                <a:solidFill>
                  <a:srgbClr val="5A5A5A"/>
                </a:solidFill>
              </a:rPr>
              <a:t>vẫn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cùng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nguồn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phân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phối</a:t>
            </a:r>
            <a:r>
              <a:rPr sz="1400" b="0" dirty="0">
                <a:solidFill>
                  <a:srgbClr val="5A5A5A"/>
                </a:solidFill>
              </a:rPr>
              <a:t> ISIC 2019; </a:t>
            </a:r>
            <a:r>
              <a:rPr sz="1400" b="0" dirty="0" err="1">
                <a:solidFill>
                  <a:srgbClr val="5A5A5A"/>
                </a:solidFill>
              </a:rPr>
              <a:t>chưa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đánh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trên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chụp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thoại</a:t>
            </a:r>
            <a:r>
              <a:rPr sz="1400" b="0" dirty="0">
                <a:solidFill>
                  <a:srgbClr val="5A5A5A"/>
                </a:solidFill>
              </a:rPr>
              <a:t> hay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Việt</a:t>
            </a:r>
            <a:r>
              <a:rPr sz="1400" b="0" dirty="0">
                <a:solidFill>
                  <a:srgbClr val="5A5A5A"/>
                </a:solidFill>
              </a:rPr>
              <a:t> Nam.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Chưa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</a:t>
            </a: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chế</a:t>
            </a:r>
            <a:r>
              <a:rPr sz="1400" dirty="0"/>
              <a:t> </a:t>
            </a:r>
            <a:r>
              <a:rPr sz="1400" dirty="0" err="1"/>
              <a:t>từ</a:t>
            </a:r>
            <a:r>
              <a:rPr sz="1400" dirty="0"/>
              <a:t> </a:t>
            </a:r>
            <a:r>
              <a:rPr sz="1400" dirty="0" err="1"/>
              <a:t>chối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Mô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hình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luôn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ép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đầu</a:t>
            </a:r>
            <a:r>
              <a:rPr sz="1400" b="0" dirty="0">
                <a:solidFill>
                  <a:srgbClr val="5A5A5A"/>
                </a:solidFill>
              </a:rPr>
              <a:t> ra </a:t>
            </a:r>
            <a:r>
              <a:rPr sz="1400" b="0" dirty="0" err="1">
                <a:solidFill>
                  <a:srgbClr val="5A5A5A"/>
                </a:solidFill>
              </a:rPr>
              <a:t>vào</a:t>
            </a:r>
            <a:r>
              <a:rPr sz="1400" b="0" dirty="0">
                <a:solidFill>
                  <a:srgbClr val="5A5A5A"/>
                </a:solidFill>
              </a:rPr>
              <a:t> 1 </a:t>
            </a:r>
            <a:r>
              <a:rPr sz="1400" b="0" dirty="0" err="1">
                <a:solidFill>
                  <a:srgbClr val="5A5A5A"/>
                </a:solidFill>
              </a:rPr>
              <a:t>trong</a:t>
            </a:r>
            <a:r>
              <a:rPr sz="1400" b="0" dirty="0">
                <a:solidFill>
                  <a:srgbClr val="5A5A5A"/>
                </a:solidFill>
              </a:rPr>
              <a:t> 8 </a:t>
            </a:r>
            <a:r>
              <a:rPr sz="1400" b="0" dirty="0" err="1">
                <a:solidFill>
                  <a:srgbClr val="5A5A5A"/>
                </a:solidFill>
              </a:rPr>
              <a:t>lớp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chưa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nhận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diện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được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không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phải</a:t>
            </a:r>
            <a:r>
              <a:rPr sz="1400" b="0" dirty="0">
                <a:solidFill>
                  <a:srgbClr val="5A5A5A"/>
                </a:solidFill>
              </a:rPr>
              <a:t> da </a:t>
            </a:r>
            <a:r>
              <a:rPr sz="1400" b="0" dirty="0" err="1">
                <a:solidFill>
                  <a:srgbClr val="5A5A5A"/>
                </a:solidFill>
              </a:rPr>
              <a:t>liễu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42123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846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Sau </a:t>
            </a:r>
            <a:r>
              <a:rPr dirty="0" err="1"/>
              <a:t>Môn</a:t>
            </a:r>
            <a:r>
              <a:rPr dirty="0"/>
              <a:t> </a:t>
            </a:r>
            <a:r>
              <a:rPr dirty="0" err="1"/>
              <a:t>Học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Đa</a:t>
            </a:r>
            <a:r>
              <a:rPr sz="1400" dirty="0"/>
              <a:t> </a:t>
            </a:r>
            <a:r>
              <a:rPr sz="1400" dirty="0" err="1"/>
              <a:t>phương</a:t>
            </a:r>
            <a:r>
              <a:rPr sz="1400" dirty="0"/>
              <a:t> </a:t>
            </a:r>
            <a:r>
              <a:rPr sz="1400" dirty="0" err="1"/>
              <a:t>thức</a:t>
            </a:r>
            <a:r>
              <a:rPr sz="1400" dirty="0"/>
              <a:t> (Multimodal):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hợp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soi da </a:t>
            </a:r>
            <a:r>
              <a:rPr sz="1400" b="0" dirty="0" err="1">
                <a:solidFill>
                  <a:srgbClr val="5A5A5A"/>
                </a:solidFill>
              </a:rPr>
              <a:t>với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thông</a:t>
            </a:r>
            <a:r>
              <a:rPr sz="1400" b="0" dirty="0">
                <a:solidFill>
                  <a:srgbClr val="5A5A5A"/>
                </a:solidFill>
              </a:rPr>
              <a:t> tin metadata </a:t>
            </a:r>
            <a:r>
              <a:rPr sz="1400" b="0" dirty="0" err="1">
                <a:solidFill>
                  <a:srgbClr val="5A5A5A"/>
                </a:solidFill>
              </a:rPr>
              <a:t>bệnh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nhân</a:t>
            </a:r>
            <a:r>
              <a:rPr sz="1400" b="0" dirty="0">
                <a:solidFill>
                  <a:srgbClr val="5A5A5A"/>
                </a:solidFill>
              </a:rPr>
              <a:t> (</a:t>
            </a:r>
            <a:r>
              <a:rPr sz="1400" b="0" dirty="0" err="1">
                <a:solidFill>
                  <a:srgbClr val="5A5A5A"/>
                </a:solidFill>
              </a:rPr>
              <a:t>tuổi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giới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tính</a:t>
            </a:r>
            <a:r>
              <a:rPr sz="1400" b="0" dirty="0">
                <a:solidFill>
                  <a:srgbClr val="5A5A5A"/>
                </a:solidFill>
              </a:rPr>
              <a:t>, </a:t>
            </a:r>
            <a:r>
              <a:rPr sz="1400" b="0" dirty="0" err="1">
                <a:solidFill>
                  <a:srgbClr val="5A5A5A"/>
                </a:solidFill>
              </a:rPr>
              <a:t>vị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trí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giải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phẫu</a:t>
            </a:r>
            <a:r>
              <a:rPr sz="1400" b="0" dirty="0">
                <a:solidFill>
                  <a:srgbClr val="5A5A5A"/>
                </a:solidFill>
              </a:rPr>
              <a:t>)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tăng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nhạy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lâm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sàng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Hiệu</a:t>
            </a:r>
            <a:r>
              <a:rPr sz="1400" dirty="0"/>
              <a:t> </a:t>
            </a:r>
            <a:r>
              <a:rPr sz="1400" dirty="0" err="1"/>
              <a:t>chuẩn</a:t>
            </a:r>
            <a:r>
              <a:rPr sz="1400" dirty="0"/>
              <a:t> </a:t>
            </a:r>
            <a:r>
              <a:rPr sz="1400" dirty="0" err="1"/>
              <a:t>xác</a:t>
            </a:r>
            <a:r>
              <a:rPr sz="1400" dirty="0"/>
              <a:t> </a:t>
            </a:r>
            <a:r>
              <a:rPr sz="1400" dirty="0" err="1"/>
              <a:t>suất</a:t>
            </a:r>
            <a:r>
              <a:rPr sz="1400" dirty="0"/>
              <a:t> (Calibration): </a:t>
            </a:r>
            <a:r>
              <a:rPr sz="1400" b="0" dirty="0" err="1">
                <a:solidFill>
                  <a:srgbClr val="5A5A5A"/>
                </a:solidFill>
              </a:rPr>
              <a:t>Áp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dụng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kỹ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thuật</a:t>
            </a:r>
            <a:r>
              <a:rPr sz="1400" b="0" dirty="0">
                <a:solidFill>
                  <a:srgbClr val="5A5A5A"/>
                </a:solidFill>
              </a:rPr>
              <a:t> Temperature Scaling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đưa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điểm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Softmax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về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đúng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xác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suất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chẩn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đoán</a:t>
            </a:r>
            <a:r>
              <a:rPr sz="1400" b="0" dirty="0">
                <a:solidFill>
                  <a:srgbClr val="5A5A5A"/>
                </a:solidFill>
              </a:rPr>
              <a:t> tin </a:t>
            </a:r>
            <a:r>
              <a:rPr sz="1400" b="0" dirty="0" err="1">
                <a:solidFill>
                  <a:srgbClr val="5A5A5A"/>
                </a:solidFill>
              </a:rPr>
              <a:t>cậy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Kiến</a:t>
            </a:r>
            <a:r>
              <a:rPr sz="1400" dirty="0"/>
              <a:t> </a:t>
            </a:r>
            <a:r>
              <a:rPr sz="1400" dirty="0" err="1"/>
              <a:t>trúc</a:t>
            </a:r>
            <a:r>
              <a:rPr sz="1400" dirty="0"/>
              <a:t> Vision Transformer: </a:t>
            </a:r>
            <a:r>
              <a:rPr sz="1400" b="0" dirty="0" err="1">
                <a:solidFill>
                  <a:srgbClr val="5A5A5A"/>
                </a:solidFill>
              </a:rPr>
              <a:t>Khảo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Swin</a:t>
            </a:r>
            <a:r>
              <a:rPr sz="1400" b="0" dirty="0">
                <a:solidFill>
                  <a:srgbClr val="5A5A5A"/>
                </a:solidFill>
              </a:rPr>
              <a:t> Transformer </a:t>
            </a:r>
            <a:r>
              <a:rPr sz="1400" b="0" dirty="0" err="1">
                <a:solidFill>
                  <a:srgbClr val="5A5A5A"/>
                </a:solidFill>
              </a:rPr>
              <a:t>kết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hợp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huấn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luyện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tự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giám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sát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khai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phá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tốt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hơn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cấu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trúc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tổn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thương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1000"/>
              </a:spcAft>
              <a:defRPr sz="1250" b="1">
                <a:solidFill>
                  <a:srgbClr val="222222"/>
                </a:solidFill>
              </a:defRPr>
            </a:pPr>
            <a:r>
              <a:rPr sz="1400" dirty="0"/>
              <a:t>• </a:t>
            </a:r>
            <a:r>
              <a:rPr sz="1400" dirty="0" err="1"/>
              <a:t>Mô</a:t>
            </a:r>
            <a:r>
              <a:rPr sz="1400" dirty="0"/>
              <a:t> </a:t>
            </a:r>
            <a:r>
              <a:rPr sz="1400" dirty="0" err="1"/>
              <a:t>hình</a:t>
            </a:r>
            <a:r>
              <a:rPr sz="1400" dirty="0"/>
              <a:t> </a:t>
            </a:r>
            <a:r>
              <a:rPr sz="1400" dirty="0" err="1"/>
              <a:t>từ</a:t>
            </a:r>
            <a:r>
              <a:rPr sz="1400" dirty="0"/>
              <a:t> </a:t>
            </a:r>
            <a:r>
              <a:rPr sz="1400" dirty="0" err="1"/>
              <a:t>chối</a:t>
            </a:r>
            <a:r>
              <a:rPr sz="1400" dirty="0"/>
              <a:t> </a:t>
            </a:r>
            <a:r>
              <a:rPr sz="1400" dirty="0" err="1"/>
              <a:t>chẩn</a:t>
            </a:r>
            <a:r>
              <a:rPr sz="1400" dirty="0"/>
              <a:t> </a:t>
            </a:r>
            <a:r>
              <a:rPr sz="1400" dirty="0" err="1"/>
              <a:t>đoán</a:t>
            </a:r>
            <a:r>
              <a:rPr sz="1400" dirty="0"/>
              <a:t>: </a:t>
            </a:r>
            <a:r>
              <a:rPr sz="1400" b="0" dirty="0" err="1">
                <a:solidFill>
                  <a:srgbClr val="5A5A5A"/>
                </a:solidFill>
              </a:rPr>
              <a:t>Thiết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lập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ngưỡng</a:t>
            </a:r>
            <a:r>
              <a:rPr sz="1400" b="0" dirty="0">
                <a:solidFill>
                  <a:srgbClr val="5A5A5A"/>
                </a:solidFill>
              </a:rPr>
              <a:t> tin </a:t>
            </a:r>
            <a:r>
              <a:rPr sz="1400" b="0" dirty="0" err="1">
                <a:solidFill>
                  <a:srgbClr val="5A5A5A"/>
                </a:solidFill>
              </a:rPr>
              <a:t>cậy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để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tự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động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từ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chối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dự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đoán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khi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gặp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ảnh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ngoài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miền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dữ</a:t>
            </a:r>
            <a:r>
              <a:rPr sz="1400" b="0" dirty="0">
                <a:solidFill>
                  <a:srgbClr val="5A5A5A"/>
                </a:solidFill>
              </a:rPr>
              <a:t> </a:t>
            </a:r>
            <a:r>
              <a:rPr sz="1400" b="0" dirty="0" err="1">
                <a:solidFill>
                  <a:srgbClr val="5A5A5A"/>
                </a:solidFill>
              </a:rPr>
              <a:t>liệu</a:t>
            </a:r>
            <a:r>
              <a:rPr sz="1400" b="0" dirty="0">
                <a:solidFill>
                  <a:srgbClr val="5A5A5A"/>
                </a:solidFill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17/18</a:t>
            </a:r>
          </a:p>
        </p:txBody>
      </p:sp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C28BCAC8-07C0-46C1-8566-C31C632BB5AB}"/>
              </a:ext>
            </a:extLst>
          </p:cNvPr>
          <p:cNvSpPr/>
          <p:nvPr/>
        </p:nvSpPr>
        <p:spPr>
          <a:xfrm>
            <a:off x="731519" y="411480"/>
            <a:ext cx="3405051" cy="292608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8B1E1E"/>
                </a:solidFill>
              </a:defRPr>
            </a:pPr>
            <a:r>
              <a:rPr sz="1400" dirty="0"/>
              <a:t>PHẦN 7: KẾT LUẬN VÀ HƯỚNG PHÁT TRIỂN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361557"/>
            <a:ext cx="85340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8B1E1E"/>
                </a:solidFill>
                <a:latin typeface="Segoe UI"/>
              </a:defRPr>
            </a:pPr>
            <a:r>
              <a:rPr dirty="0"/>
              <a:t>XIN CHÂN THÀNH CẢM ƠN!</a:t>
            </a:r>
            <a:endParaRPr lang="vi-VN" dirty="0"/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53409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22222"/>
                </a:solidFill>
              </a:defRPr>
            </a:pP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: </a:t>
            </a:r>
            <a:r>
              <a:rPr dirty="0" err="1"/>
              <a:t>Nguyễn</a:t>
            </a:r>
            <a:r>
              <a:rPr dirty="0"/>
              <a:t> </a:t>
            </a:r>
            <a:r>
              <a:rPr dirty="0" err="1"/>
              <a:t>Tuấn</a:t>
            </a:r>
            <a:r>
              <a:rPr dirty="0"/>
              <a:t> </a:t>
            </a:r>
            <a:r>
              <a:rPr dirty="0" err="1"/>
              <a:t>Đức</a:t>
            </a:r>
            <a:r>
              <a:rPr dirty="0"/>
              <a:t>  —  MSSV: 2351067091 </a:t>
            </a:r>
          </a:p>
          <a:p>
            <a:pPr algn="ctr">
              <a:defRPr sz="1300" b="1">
                <a:solidFill>
                  <a:srgbClr val="1B5E55"/>
                </a:solidFill>
              </a:defRPr>
            </a:pPr>
            <a:r>
              <a:rPr dirty="0"/>
              <a:t> GitHub Repository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: github.com/NguyenTuanDuc1501/ISIC2019-Skin-Lesion-Classification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5A"/>
                </a:solidFill>
                <a:latin typeface="Segoe UI"/>
              </a:defRPr>
            </a:pPr>
            <a:r>
              <a:t>Đồ Án Khai Phá Dữ Liệu | Đề Tài: Phân Loại Tổn Thương Da ISIC 2019 (Nhóm 8 - Nguyễn Tuấn Đức) | Slide 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4511</Words>
  <Application>Microsoft Office PowerPoint</Application>
  <PresentationFormat>Widescreen</PresentationFormat>
  <Paragraphs>315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Arial (Body)</vt:lpstr>
      <vt:lpstr>Calibri</vt:lpstr>
      <vt:lpstr>DejaVu Sans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Nguyen TuanDuc</cp:lastModifiedBy>
  <cp:revision>51</cp:revision>
  <dcterms:created xsi:type="dcterms:W3CDTF">2013-01-27T09:14:16Z</dcterms:created>
  <dcterms:modified xsi:type="dcterms:W3CDTF">2026-10-29T09:09:36Z</dcterms:modified>
  <cp:category/>
</cp:coreProperties>
</file>