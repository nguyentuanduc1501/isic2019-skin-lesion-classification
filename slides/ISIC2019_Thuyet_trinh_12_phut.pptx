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8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4360"/>
            <a:ext cx="1207008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640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1E1E"/>
                </a:solidFill>
              </a:defRPr>
            </a:pPr>
            <a:r>
              <a:t>PHÂN HIỆU TRƯỜNG ĐẠI HỌC THỦY LỢI - BỘ MÔN CÔNG NGHỆ THÔNG TIN</a:t>
            </a:r>
          </a:p>
          <a:p>
            <a:pPr>
              <a:defRPr sz="1100" b="1">
                <a:solidFill>
                  <a:srgbClr val="5A5A5A"/>
                </a:solidFill>
              </a:defRPr>
            </a:pPr>
            <a:r>
              <a:t>BÁO CÁO BẢO VỆ ĐỒ ÁN MÔN HỌC: KHAI PHÁ DỮ LIỆU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45775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1E1E"/>
                </a:solidFill>
                <a:latin typeface="Segoe UI"/>
              </a:defRPr>
            </a:pPr>
            <a:r>
              <a:t>PHÂN LOẠI TÁM NHÓM TỔN THƯƠNG DA</a:t>
            </a:r>
            <a:br/>
            <a:r>
              <a:t>TRÊN BỘ DỮ LIỆU ISIC 2019</a:t>
            </a:r>
          </a:p>
          <a:p>
            <a:pPr>
              <a:defRPr sz="1400" i="1">
                <a:solidFill>
                  <a:srgbClr val="222222"/>
                </a:solidFill>
                <a:latin typeface="Segoe UI"/>
              </a:defRPr>
            </a:pPr>
            <a:r>
              <a:t>Nghiên cứu tiền xử lý ảnh và chiến lược huấn luyện trong quy trình đánh giá có đối chứng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89120"/>
            <a:ext cx="10545775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526280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</a:defRPr>
            </a:pP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:  </a:t>
            </a:r>
            <a:r>
              <a:rPr dirty="0" err="1"/>
              <a:t>Nguyễn</a:t>
            </a:r>
            <a:r>
              <a:rPr dirty="0"/>
              <a:t> </a:t>
            </a:r>
            <a:r>
              <a:rPr dirty="0" err="1"/>
              <a:t>Tuấn</a:t>
            </a:r>
            <a:r>
              <a:rPr dirty="0"/>
              <a:t> </a:t>
            </a:r>
            <a:r>
              <a:rPr dirty="0" err="1"/>
              <a:t>Đức</a:t>
            </a:r>
            <a:r>
              <a:rPr dirty="0"/>
              <a:t>    |   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2351067091    |    </a:t>
            </a:r>
            <a:r>
              <a:rPr dirty="0" err="1"/>
              <a:t>Lớp</a:t>
            </a:r>
            <a:r>
              <a:rPr dirty="0"/>
              <a:t>: S26-65CNTT </a:t>
            </a:r>
          </a:p>
          <a:p>
            <a:pPr>
              <a:defRPr sz="1300" b="1">
                <a:solidFill>
                  <a:srgbClr val="8B1E1E"/>
                </a:solidFill>
              </a:defRPr>
            </a:pPr>
            <a:r>
              <a:rPr dirty="0"/>
              <a:t> </a:t>
            </a:r>
            <a:r>
              <a:rPr dirty="0" err="1"/>
              <a:t>Giảng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dẫn</a:t>
            </a:r>
            <a:r>
              <a:rPr dirty="0"/>
              <a:t>: </a:t>
            </a:r>
            <a:r>
              <a:rPr dirty="0" err="1"/>
              <a:t>ThS</a:t>
            </a:r>
            <a:r>
              <a:rPr dirty="0"/>
              <a:t>. </a:t>
            </a:r>
            <a:r>
              <a:rPr dirty="0" err="1"/>
              <a:t>Vũ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Hạnh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1: GIỚI THIỆU 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Phân Loại Tổn Thương Da &amp; Động Lực Y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Segoe UI"/>
              </a:defRPr>
            </a:pP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điệp</a:t>
            </a:r>
            <a:r>
              <a:rPr dirty="0"/>
              <a:t>: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giác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sàng</a:t>
            </a:r>
            <a:r>
              <a:rPr dirty="0"/>
              <a:t>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sớm</a:t>
            </a:r>
            <a:r>
              <a:rPr dirty="0"/>
              <a:t> </a:t>
            </a:r>
            <a:r>
              <a:rPr dirty="0" err="1"/>
              <a:t>tổn</a:t>
            </a:r>
            <a:r>
              <a:rPr dirty="0"/>
              <a:t> </a:t>
            </a:r>
            <a:r>
              <a:rPr dirty="0" err="1"/>
              <a:t>thương</a:t>
            </a:r>
            <a:r>
              <a:rPr dirty="0"/>
              <a:t> da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soi da </a:t>
            </a:r>
            <a:r>
              <a:rPr dirty="0" err="1"/>
              <a:t>dermoscopy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Y </a:t>
            </a:r>
            <a:r>
              <a:rPr dirty="0" err="1"/>
              <a:t>Tế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Đầu vào: </a:t>
            </a:r>
            <a:r>
              <a:rPr b="0">
                <a:solidFill>
                  <a:srgbClr val="5A5A5A"/>
                </a:solidFill>
              </a:rPr>
              <a:t>Ảnh màu soi da (dermoscopy) với độ phóng đại quang học, giúp thấy cấu trúc dưới lớp sừng của da.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Đầu ra: </a:t>
            </a:r>
            <a:r>
              <a:rPr b="0">
                <a:solidFill>
                  <a:srgbClr val="5A5A5A"/>
                </a:solidFill>
              </a:rPr>
              <a:t>Dự đoán 1 trong 8 nhóm bệnh lý (Melanoma ác tính, Ung thư tế bào đáy, Dày sừng, Nốt ruồi...).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Vai trò thực tế: </a:t>
            </a:r>
            <a:r>
              <a:rPr b="0">
                <a:solidFill>
                  <a:srgbClr val="5A5A5A"/>
                </a:solidFill>
              </a:rPr>
              <a:t>Hỗ trợ sàng lọc ban đầu, cảnh báo nguy cơ sớm; không phải tất cả 8 nhóm đều là ung thư.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Ranh giới chẩn đoán: </a:t>
            </a:r>
            <a:r>
              <a:rPr b="0">
                <a:solidFill>
                  <a:srgbClr val="5A5A5A"/>
                </a:solidFill>
              </a:rPr>
              <a:t>AI hỗ trợ sàng lọc chứ KHÔNG thay thế sinh thiết mô bệnh học hay kết luận của bác sĩ chuyên khoa da liễu.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Thách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Giác</a:t>
            </a:r>
            <a:r>
              <a:rPr dirty="0"/>
              <a:t>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Biến thiên nội lớp rất lớn: </a:t>
            </a:r>
            <a:r>
              <a:rPr b="0">
                <a:solidFill>
                  <a:srgbClr val="5A5A5A"/>
                </a:solidFill>
              </a:rPr>
              <a:t>Cùng một loại bệnh (ví dụ nốt ruồi NV) nhưng có thể phẳng, gồ ghề, màu đen nhạt hoặc sẫm tùy cơ địa.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Tương đồng liên lớp rất cao: </a:t>
            </a:r>
            <a:r>
              <a:rPr b="0">
                <a:solidFill>
                  <a:srgbClr val="5A5A5A"/>
                </a:solidFill>
              </a:rPr>
              <a:t>U hắc tố ác tính (MEL) ở giai đoạn sớm có hình thái cực kỳ giống nốt ruồi lành tính (NV) hoặc dày sừng (BKL).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Nhiễu thị giác phức tạp: </a:t>
            </a:r>
            <a:r>
              <a:rPr b="0">
                <a:solidFill>
                  <a:srgbClr val="5A5A5A"/>
                </a:solidFill>
              </a:rPr>
              <a:t>Ảnh chụp lâm sàng bị che phủ bởi lông rậm, vết mực đánh dấu, thước đo, bọt khí và viền đen tròn của ống kính.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Mất cân bằng mẫu: </a:t>
            </a:r>
            <a:r>
              <a:rPr b="0">
                <a:solidFill>
                  <a:srgbClr val="5A5A5A"/>
                </a:solidFill>
              </a:rPr>
              <a:t>Có bệnh gặp rất nhiều (NV &gt; 50%), có bệnh cực kỳ hiếm gặp (VASC, DF &lt; 1%), gây lệch chẩn đoán.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1: GIỚI THIỆU 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Mục Tiêu &amp; Ba Câu Hỏi Nghiên Cứu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Segoe UI"/>
              </a:defRPr>
            </a:pP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khoa </a:t>
            </a:r>
            <a:r>
              <a:rPr dirty="0" err="1"/>
              <a:t>học</a:t>
            </a:r>
            <a:r>
              <a:rPr dirty="0"/>
              <a:t>, </a:t>
            </a:r>
            <a:r>
              <a:rPr dirty="0" err="1"/>
              <a:t>kiên</a:t>
            </a:r>
            <a:r>
              <a:rPr dirty="0"/>
              <a:t> </a:t>
            </a:r>
            <a:r>
              <a:rPr dirty="0" err="1"/>
              <a:t>quyết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đua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ảo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6499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9992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1: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0906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Giả thuyết: </a:t>
            </a:r>
            <a:r>
              <a:rPr b="0">
                <a:solidFill>
                  <a:srgbClr val="5A5A5A"/>
                </a:solidFill>
              </a:rPr>
              <a:t>Ảnh soi da không có hướng cố định trên-dưới; tính đối xứng quay D4 có giúp mô hình phân loại tốt hơn?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Phương án: </a:t>
            </a:r>
            <a:r>
              <a:rPr b="0">
                <a:solidFill>
                  <a:srgbClr val="5A5A5A"/>
                </a:solidFill>
              </a:rPr>
              <a:t>So sánh đối chứng công bằng: B00 (không xoay lật) vs T02B (nhóm D4 - 8 phép quay/lật) trên cùng ResNet50.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Kỳ vọng: </a:t>
            </a:r>
            <a:r>
              <a:rPr b="0">
                <a:solidFill>
                  <a:srgbClr val="5A5A5A"/>
                </a:solidFill>
              </a:rPr>
              <a:t>Nâng cao khả năng tổng quát hóa, giảm phụ thuộc vào hướng chụp của máy soi 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37360"/>
            <a:ext cx="336499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874520"/>
            <a:ext cx="29992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2: </a:t>
            </a:r>
            <a:r>
              <a:rPr dirty="0" err="1"/>
              <a:t>Tiền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44568" y="2331720"/>
            <a:ext cx="30906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Giả thuyết: </a:t>
            </a:r>
            <a:r>
              <a:rPr b="0">
                <a:solidFill>
                  <a:srgbClr val="5A5A5A"/>
                </a:solidFill>
              </a:rPr>
              <a:t>Các kỹ thuật can thiệp pixel (tẩy lông, cân bằng sáng, cắt viền, lọc mịn) có thực sự tăng chất lượng?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Phương án: </a:t>
            </a:r>
            <a:r>
              <a:rPr b="0">
                <a:solidFill>
                  <a:srgbClr val="5A5A5A"/>
                </a:solidFill>
              </a:rPr>
              <a:t>Khảo sát độc lập 10 phương án tiền xử lý (P01 đến P10) trên cùng nền mô hình T02B đã khóa.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Kỳ vọng: </a:t>
            </a:r>
            <a:r>
              <a:rPr b="0">
                <a:solidFill>
                  <a:srgbClr val="5A5A5A"/>
                </a:solidFill>
              </a:rPr>
              <a:t>Xác định xem 'ảnh trông sạch hơn' có đồng nghĩa với việc mạng nơ-ron học tốt hơn hay không.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737360"/>
            <a:ext cx="336499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6" y="1874520"/>
            <a:ext cx="29992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3: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Bền</a:t>
            </a:r>
            <a:r>
              <a:rPr dirty="0"/>
              <a:t> </a:t>
            </a:r>
            <a:r>
              <a:rPr dirty="0" err="1"/>
              <a:t>Vững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0456" y="2331720"/>
            <a:ext cx="30906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Giả thuyết: </a:t>
            </a:r>
            <a:r>
              <a:rPr b="0">
                <a:solidFill>
                  <a:srgbClr val="5A5A5A"/>
                </a:solidFill>
              </a:rPr>
              <a:t>Mức cải thiện quan sát được ở một lần chạy (seed 42) có lặp lại bền vững khi đổi sang các seed khác?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Phương án: </a:t>
            </a:r>
            <a:r>
              <a:rPr b="0">
                <a:solidFill>
                  <a:srgbClr val="5A5A5A"/>
                </a:solidFill>
              </a:rPr>
              <a:t>Huấn luyện lại độc lập trên Seed 43, Seed 44 và đo khoảng tin cậy Bootstrap 95% theo group.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Kỳ vọng: </a:t>
            </a:r>
            <a:r>
              <a:rPr b="0">
                <a:solidFill>
                  <a:srgbClr val="5A5A5A"/>
                </a:solidFill>
              </a:rPr>
              <a:t>Ngăn chặn kết luận vội vàng từ sự may mắn ngẫu nhiên của một seed khởi tạo.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2: DỮ LIỆU VÀ PHÂN TÍCH KHÁM PHÁ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Kiểm Toán Dữ Liệu &amp; Làm Sạch Trước Khi Khóa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Segoe UI"/>
              </a:defRPr>
            </a:pP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sạch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vẹn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huấn</a:t>
            </a:r>
            <a:r>
              <a:rPr dirty="0"/>
              <a:t> </a:t>
            </a:r>
            <a:r>
              <a:rPr dirty="0" err="1"/>
              <a:t>luyện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ngăn</a:t>
            </a:r>
            <a:r>
              <a:rPr dirty="0"/>
              <a:t> </a:t>
            </a:r>
            <a:r>
              <a:rPr dirty="0" err="1"/>
              <a:t>chặn</a:t>
            </a:r>
            <a:r>
              <a:rPr dirty="0"/>
              <a:t> </a:t>
            </a:r>
            <a:r>
              <a:rPr dirty="0" err="1"/>
              <a:t>rò</a:t>
            </a:r>
            <a:r>
              <a:rPr dirty="0"/>
              <a:t> </a:t>
            </a:r>
            <a:r>
              <a:rPr dirty="0" err="1"/>
              <a:t>rỉ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(leakage)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00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Tổng ảnh ban đầu: </a:t>
            </a:r>
            <a:r>
              <a:rPr b="0">
                <a:solidFill>
                  <a:srgbClr val="5A5A5A"/>
                </a:solidFill>
              </a:rPr>
              <a:t>25.331 ảnh được cung cấp từ ISIC 2019 (tổng hợp HAM10000, BCN20000, MSK).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48 Ảnh trùng dư: </a:t>
            </a:r>
            <a:r>
              <a:rPr b="0">
                <a:solidFill>
                  <a:srgbClr val="5A5A5A"/>
                </a:solidFill>
              </a:rPr>
              <a:t>Trùng lặp chính xác nội dung byte (exact duplicate) -&gt; Phải gom chung vào cùng 1 nhóm.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4 Ảnh xung đột nhãn (Bị loại): </a:t>
            </a:r>
            <a:r>
              <a:rPr b="0">
                <a:solidFill>
                  <a:srgbClr val="5A5A5A"/>
                </a:solidFill>
              </a:rPr>
              <a:t>Cùng một nội dung ảnh nhưng được gán 2 bệnh khác nhau! Loại bỏ hoàn toàn để không làm sai tín hiệu học.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25.327 Ảnh chốt: </a:t>
            </a:r>
            <a:r>
              <a:rPr b="0">
                <a:solidFill>
                  <a:srgbClr val="5A5A5A"/>
                </a:solidFill>
              </a:rPr>
              <a:t>Manifest chuẩn được khóa cứng, đối chiếu bằng mã băm SHA-256 từng file.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Kiểm tra rò rỉ (Crossing = 0): </a:t>
            </a:r>
            <a:r>
              <a:rPr b="0">
                <a:solidFill>
                  <a:srgbClr val="5A5A5A"/>
                </a:solidFill>
              </a:rPr>
              <a:t>Đảm bảo không có định danh tổn thương hay mã băm nào xuất hiện đồng thời ở 2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Tám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Nhãn</a:t>
            </a:r>
            <a:r>
              <a:rPr dirty="0"/>
              <a:t> </a:t>
            </a:r>
            <a:r>
              <a:rPr dirty="0" err="1"/>
              <a:t>Bệnh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MEL: </a:t>
            </a:r>
            <a:r>
              <a:rPr b="1">
                <a:solidFill>
                  <a:srgbClr val="222222"/>
                </a:solidFill>
              </a:rPr>
              <a:t>Melanoma — </a:t>
            </a:r>
            <a:r>
              <a:rPr b="0">
                <a:solidFill>
                  <a:srgbClr val="5A5A5A"/>
                </a:solidFill>
              </a:rPr>
              <a:t>U hắc tố ác tính (nguy hiểm nhất)</a:t>
            </a:r>
          </a:p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NV: </a:t>
            </a:r>
            <a:r>
              <a:rPr b="1">
                <a:solidFill>
                  <a:srgbClr val="222222"/>
                </a:solidFill>
              </a:rPr>
              <a:t>Melanocytic nevus — </a:t>
            </a:r>
            <a:r>
              <a:rPr b="0">
                <a:solidFill>
                  <a:srgbClr val="5A5A5A"/>
                </a:solidFill>
              </a:rPr>
              <a:t>Nốt ruồi tế bào hắc tố lành tính</a:t>
            </a:r>
          </a:p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BCC: </a:t>
            </a:r>
            <a:r>
              <a:rPr b="1">
                <a:solidFill>
                  <a:srgbClr val="222222"/>
                </a:solidFill>
              </a:rPr>
              <a:t>Basal cell carcinoma — </a:t>
            </a:r>
            <a:r>
              <a:rPr b="0">
                <a:solidFill>
                  <a:srgbClr val="5A5A5A"/>
                </a:solidFill>
              </a:rPr>
              <a:t>Ung thư biểu mô tế bào đáy</a:t>
            </a:r>
          </a:p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AK: </a:t>
            </a:r>
            <a:r>
              <a:rPr b="1">
                <a:solidFill>
                  <a:srgbClr val="222222"/>
                </a:solidFill>
              </a:rPr>
              <a:t>Actinic keratosis — </a:t>
            </a:r>
            <a:r>
              <a:rPr b="0">
                <a:solidFill>
                  <a:srgbClr val="5A5A5A"/>
                </a:solidFill>
              </a:rPr>
              <a:t>Dày sừng quang hóa (tiền ung thư)</a:t>
            </a:r>
          </a:p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BKL: </a:t>
            </a:r>
            <a:r>
              <a:rPr b="1">
                <a:solidFill>
                  <a:srgbClr val="222222"/>
                </a:solidFill>
              </a:rPr>
              <a:t>Benign keratosis — </a:t>
            </a:r>
            <a:r>
              <a:rPr b="0">
                <a:solidFill>
                  <a:srgbClr val="5A5A5A"/>
                </a:solidFill>
              </a:rPr>
              <a:t>Nhóm dày sừng lành tính</a:t>
            </a:r>
          </a:p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DF: </a:t>
            </a:r>
            <a:r>
              <a:rPr b="1">
                <a:solidFill>
                  <a:srgbClr val="222222"/>
                </a:solidFill>
              </a:rPr>
              <a:t>Dermatofibroma — </a:t>
            </a:r>
            <a:r>
              <a:rPr b="0">
                <a:solidFill>
                  <a:srgbClr val="5A5A5A"/>
                </a:solidFill>
              </a:rPr>
              <a:t>U xơ da lành tính</a:t>
            </a:r>
          </a:p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VASC: </a:t>
            </a:r>
            <a:r>
              <a:rPr b="1">
                <a:solidFill>
                  <a:srgbClr val="222222"/>
                </a:solidFill>
              </a:rPr>
              <a:t>Vascular lesion — </a:t>
            </a:r>
            <a:r>
              <a:rPr b="0">
                <a:solidFill>
                  <a:srgbClr val="5A5A5A"/>
                </a:solidFill>
              </a:rPr>
              <a:t>Nhóm tổn thương mạch máu</a:t>
            </a:r>
          </a:p>
          <a:p>
            <a:pPr>
              <a:spcAft>
                <a:spcPts val="400"/>
              </a:spcAft>
              <a:defRPr sz="1100" b="1">
                <a:solidFill>
                  <a:srgbClr val="8B1E1E"/>
                </a:solidFill>
              </a:defRPr>
            </a:pPr>
            <a:r>
              <a:t>• SCC: </a:t>
            </a:r>
            <a:r>
              <a:rPr b="1">
                <a:solidFill>
                  <a:srgbClr val="222222"/>
                </a:solidFill>
              </a:rPr>
              <a:t>Squamous cell carcinoma — </a:t>
            </a:r>
            <a:r>
              <a:rPr b="0">
                <a:solidFill>
                  <a:srgbClr val="5A5A5A"/>
                </a:solidFill>
              </a:rPr>
              <a:t>Ung thư biểu mô tế bào vảy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2: DỮ LIỆU VÀ PHÂN TÍCH KHÁM PHÁ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Mất Cân Bằng Cực Đoan &amp; Phân Chia Tập (Group Split)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Segoe UI"/>
              </a:defRPr>
            </a:pP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59.7 </a:t>
            </a:r>
            <a:r>
              <a:rPr dirty="0" err="1"/>
              <a:t>lần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; </a:t>
            </a:r>
            <a:r>
              <a:rPr dirty="0" err="1"/>
              <a:t>phân</a:t>
            </a:r>
            <a:r>
              <a:rPr dirty="0"/>
              <a:t> chia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tổn</a:t>
            </a:r>
            <a:r>
              <a:rPr dirty="0"/>
              <a:t> </a:t>
            </a:r>
            <a:r>
              <a:rPr dirty="0" err="1"/>
              <a:t>thương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chống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vẹt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Bố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Train (</a:t>
            </a:r>
            <a:r>
              <a:rPr dirty="0" err="1"/>
              <a:t>Hình</a:t>
            </a:r>
            <a:r>
              <a:rPr dirty="0"/>
              <a:t> 3.1)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4892040" cy="20179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663440"/>
            <a:ext cx="489204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1E1E"/>
                </a:solidFill>
              </a:defRPr>
            </a:pP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nghiêm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: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rPr dirty="0"/>
              <a:t>• NV </a:t>
            </a:r>
            <a:r>
              <a:rPr dirty="0" err="1"/>
              <a:t>chiếm</a:t>
            </a:r>
            <a:r>
              <a:rPr dirty="0"/>
              <a:t> 50.89% (9.019 </a:t>
            </a:r>
            <a:r>
              <a:rPr dirty="0" err="1"/>
              <a:t>ảnh</a:t>
            </a:r>
            <a:r>
              <a:rPr dirty="0"/>
              <a:t>),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VASC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151 </a:t>
            </a:r>
            <a:r>
              <a:rPr dirty="0" err="1"/>
              <a:t>ảnh</a:t>
            </a:r>
            <a:r>
              <a:rPr dirty="0"/>
              <a:t> (0.85%).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rPr dirty="0"/>
              <a:t>•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lên</a:t>
            </a:r>
            <a:r>
              <a:rPr dirty="0"/>
              <a:t> </a:t>
            </a:r>
            <a:r>
              <a:rPr dirty="0" err="1"/>
              <a:t>tới</a:t>
            </a:r>
            <a:r>
              <a:rPr dirty="0"/>
              <a:t> 59.73 </a:t>
            </a:r>
            <a:r>
              <a:rPr dirty="0" err="1"/>
              <a:t>lần</a:t>
            </a:r>
            <a:r>
              <a:rPr dirty="0"/>
              <a:t>! </a:t>
            </a:r>
            <a:r>
              <a:rPr dirty="0" err="1"/>
              <a:t>Nếu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bừa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NV, Accuracy </a:t>
            </a:r>
            <a:r>
              <a:rPr dirty="0" err="1"/>
              <a:t>vẫn</a:t>
            </a:r>
            <a:r>
              <a:rPr dirty="0"/>
              <a:t> </a:t>
            </a:r>
            <a:r>
              <a:rPr dirty="0" err="1"/>
              <a:t>đạt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50%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hoàn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vô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y </a:t>
            </a:r>
            <a:r>
              <a:rPr dirty="0" err="1"/>
              <a:t>tế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Chia Group Split </a:t>
            </a:r>
            <a:r>
              <a:rPr dirty="0" err="1"/>
              <a:t>Chống</a:t>
            </a:r>
            <a:r>
              <a:rPr dirty="0"/>
              <a:t> </a:t>
            </a:r>
            <a:r>
              <a:rPr dirty="0" err="1"/>
              <a:t>Rò</a:t>
            </a:r>
            <a:r>
              <a:rPr dirty="0"/>
              <a:t> </a:t>
            </a:r>
            <a:r>
              <a:rPr dirty="0" err="1"/>
              <a:t>Rỉ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Quy tắc Group Split: </a:t>
            </a:r>
            <a:r>
              <a:rPr b="0">
                <a:solidFill>
                  <a:srgbClr val="5A5A5A"/>
                </a:solidFill>
              </a:rPr>
              <a:t>Gom tất cả ảnh có cùng lesion_id (cùng 1 vết tổn thương chụp nhiều góc/nhiều lần) vào chung một tập.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Quy mô 3 tập: </a:t>
            </a:r>
            <a:r>
              <a:rPr b="0">
                <a:solidFill>
                  <a:srgbClr val="5A5A5A"/>
                </a:solidFill>
              </a:rPr>
              <a:t>• Train: 17.723 ảnh (70%)
• Validation: 2.539 ảnh (10%)
• Test nội bộ: 5.065 ảnh (20%)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Ví dụ đời sống minh họa: </a:t>
            </a:r>
            <a:r>
              <a:rPr b="0">
                <a:solidFill>
                  <a:srgbClr val="5A5A5A"/>
                </a:solidFill>
              </a:rPr>
              <a:t>Giống như thi học kỳ: không thể cho học sinh làm bài tập có câu hỏi và đáp án giống hệt đề thi chính thức được!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Tiêu chuẩn đánh giá: </a:t>
            </a:r>
            <a:r>
              <a:rPr b="0">
                <a:solidFill>
                  <a:srgbClr val="5A5A5A"/>
                </a:solidFill>
              </a:rPr>
              <a:t>Sử dụng Macro-F1 (trung bình F1 của 8 lớp, mỗi lớp trọng số ngang nhau) làm thước đo chính, không dùng Accuracy đơn thuần.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3: TIỀN XỬ LÝ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Pipeline Tiền Xử Lý Chuẩn Của Mô Hình T02B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giản</a:t>
            </a:r>
            <a:r>
              <a:rPr dirty="0"/>
              <a:t>,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bệnh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gốc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soi 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4 </a:t>
            </a:r>
            <a:r>
              <a:rPr dirty="0" err="1"/>
              <a:t>Bước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Tự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1. Đọc ảnh RGB: </a:t>
            </a:r>
            <a:r>
              <a:rPr b="0">
                <a:solidFill>
                  <a:srgbClr val="5A5A5A"/>
                </a:solidFill>
              </a:rPr>
              <a:t>Giải mã file ảnh JPEG gốc sang 3 kênh màu RGB chuẩn, loại bỏ các kênh alpha dư thừa.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2. Resize Bilinear 224×224: </a:t>
            </a:r>
            <a:r>
              <a:rPr b="0">
                <a:solidFill>
                  <a:srgbClr val="5A5A5A"/>
                </a:solidFill>
              </a:rPr>
              <a:t>Đưa ảnh về kích thước đồng nhất phù hợp với đầu vào ResNet50.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3. Chuyển Tensor [0, 1]: </a:t>
            </a:r>
            <a:r>
              <a:rPr b="0">
                <a:solidFill>
                  <a:srgbClr val="5A5A5A"/>
                </a:solidFill>
              </a:rPr>
              <a:t>Chuẩn hóa giá trị pixel từ thang nguyên [0, 255] về ma trận số thực [0.0, 1.0].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4. Normalize ImageNet: </a:t>
            </a:r>
            <a:r>
              <a:rPr b="0">
                <a:solidFill>
                  <a:srgbClr val="5A5A5A"/>
                </a:solidFill>
              </a:rPr>
              <a:t>Trừ mean (0.485, 0.456, 0.406) và chia std (0.229, 0.224, 0.225) theo chuẩn pretrained weights.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Nguyên tắc thiết kế: </a:t>
            </a:r>
            <a:r>
              <a:rPr b="0">
                <a:solidFill>
                  <a:srgbClr val="5A5A5A"/>
                </a:solidFill>
              </a:rPr>
              <a:t>Bảo toàn nguyên vẹn cấu trúc tế bào; kiên quyết không áp dụng bộ lọc tùy tiện khi chưa có đối chứng.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Minh </a:t>
            </a:r>
            <a:r>
              <a:rPr dirty="0" err="1"/>
              <a:t>Họa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&amp; Sau Resize (</a:t>
            </a:r>
            <a:r>
              <a:rPr dirty="0" err="1"/>
              <a:t>Hình</a:t>
            </a:r>
            <a:r>
              <a:rPr dirty="0"/>
              <a:t> 4.1)</a:t>
            </a:r>
          </a:p>
        </p:txBody>
      </p:sp>
      <p:pic>
        <p:nvPicPr>
          <p:cNvPr id="11" name="Picture 10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77440"/>
            <a:ext cx="4846320" cy="23192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800600"/>
            <a:ext cx="48463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1E1E"/>
                </a:solidFill>
              </a:defRPr>
            </a:pPr>
            <a:r>
              <a:rPr dirty="0"/>
              <a:t> Quan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:</a:t>
            </a:r>
          </a:p>
          <a:p>
            <a:pPr>
              <a:defRPr sz="1150">
                <a:solidFill>
                  <a:srgbClr val="222222"/>
                </a:solidFill>
              </a:defRPr>
            </a:pPr>
            <a:r>
              <a:rPr dirty="0"/>
              <a:t>• Resize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méo</a:t>
            </a:r>
            <a:r>
              <a:rPr dirty="0"/>
              <a:t>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nếu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gốc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vuông</a:t>
            </a:r>
            <a:r>
              <a:rPr dirty="0"/>
              <a:t>, </a:t>
            </a:r>
            <a:r>
              <a:rPr dirty="0" err="1"/>
              <a:t>nhưng</a:t>
            </a:r>
            <a:r>
              <a:rPr dirty="0"/>
              <a:t> </a:t>
            </a:r>
            <a:r>
              <a:rPr dirty="0" err="1"/>
              <a:t>bù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giữ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tổn</a:t>
            </a:r>
            <a:r>
              <a:rPr dirty="0"/>
              <a:t> </a:t>
            </a:r>
            <a:r>
              <a:rPr dirty="0" err="1"/>
              <a:t>thương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khung</a:t>
            </a:r>
            <a:r>
              <a:rPr dirty="0"/>
              <a:t> 224x224.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3: TIỀN XỬ LÝ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Khảo Sát 10 Phương Án Tiền Xử Lý (P01 – P10)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Segoe UI"/>
              </a:defRPr>
            </a:pPr>
            <a:r>
              <a:rPr dirty="0" err="1"/>
              <a:t>Tiền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lýnhìn</a:t>
            </a:r>
            <a:r>
              <a:rPr dirty="0"/>
              <a:t> '</a:t>
            </a:r>
            <a:r>
              <a:rPr dirty="0" err="1"/>
              <a:t>đẹp</a:t>
            </a:r>
            <a:r>
              <a:rPr dirty="0"/>
              <a:t> </a:t>
            </a:r>
            <a:r>
              <a:rPr dirty="0" err="1"/>
              <a:t>mắt</a:t>
            </a:r>
            <a:r>
              <a:rPr dirty="0"/>
              <a:t>'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nghĩa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hơn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62986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10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So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Mốc</a:t>
            </a:r>
            <a:r>
              <a:rPr dirty="0"/>
              <a:t> T02B </a:t>
            </a:r>
          </a:p>
        </p:txBody>
      </p:sp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4892040" cy="22014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754880"/>
            <a:ext cx="48920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1E1E"/>
                </a:solidFill>
              </a:defRPr>
            </a:pP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án</a:t>
            </a:r>
            <a:r>
              <a:rPr dirty="0"/>
              <a:t> </a:t>
            </a:r>
            <a:r>
              <a:rPr dirty="0" err="1"/>
              <a:t>nào</a:t>
            </a:r>
            <a:r>
              <a:rPr dirty="0"/>
              <a:t> </a:t>
            </a:r>
            <a:r>
              <a:rPr dirty="0" err="1"/>
              <a:t>vượt</a:t>
            </a:r>
            <a:r>
              <a:rPr dirty="0"/>
              <a:t> </a:t>
            </a:r>
            <a:r>
              <a:rPr dirty="0" err="1"/>
              <a:t>mốc</a:t>
            </a:r>
            <a:r>
              <a:rPr dirty="0"/>
              <a:t> T02B (60.30%)!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rPr dirty="0" err="1"/>
              <a:t>Tất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10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thuật</a:t>
            </a:r>
            <a:r>
              <a:rPr dirty="0"/>
              <a:t> can </a:t>
            </a:r>
            <a:r>
              <a:rPr dirty="0" err="1"/>
              <a:t>thiệp</a:t>
            </a:r>
            <a:r>
              <a:rPr dirty="0"/>
              <a:t> pixel </a:t>
            </a:r>
            <a:r>
              <a:rPr dirty="0" err="1"/>
              <a:t>đều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Macro-F1 </a:t>
            </a:r>
            <a:r>
              <a:rPr dirty="0" err="1"/>
              <a:t>thấp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xấp</a:t>
            </a:r>
            <a:r>
              <a:rPr dirty="0"/>
              <a:t> </a:t>
            </a:r>
            <a:r>
              <a:rPr dirty="0" err="1"/>
              <a:t>xỉ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gốc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&amp; </a:t>
            </a:r>
            <a:r>
              <a:rPr dirty="0" err="1"/>
              <a:t>Rủi</a:t>
            </a:r>
            <a:r>
              <a:rPr dirty="0"/>
              <a:t> Ro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P01 (Giữ tỷ lệ &amp; Padding): </a:t>
            </a:r>
            <a:r>
              <a:rPr b="0">
                <a:solidFill>
                  <a:srgbClr val="5A5A5A"/>
                </a:solidFill>
              </a:rPr>
              <a:t>Giảm mạnh nhất (-5.00 pp) do chèn viền xám làm tổn thương bị co nhỏ, mất độ phân giải hữu ích.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P03 (Tẩy lông bằng Inpainting): </a:t>
            </a:r>
            <a:r>
              <a:rPr b="0">
                <a:solidFill>
                  <a:srgbClr val="5A5A5A"/>
                </a:solidFill>
              </a:rPr>
              <a:t>Giảm -2.91 pp vì thuật toán tẩy lông làm nhòe luôn các mạng sắc tố vi mô của tổn thương dạng lưới.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P04 (Shades of Gray): </a:t>
            </a:r>
            <a:r>
              <a:rPr b="0">
                <a:solidFill>
                  <a:srgbClr val="5A5A5A"/>
                </a:solidFill>
              </a:rPr>
              <a:t>Giảm -1.76 pp do làm biến đổi sắc thái màu tự nhiên mà mô hình cần để nhận diện mạch máu.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P07 (Lọc Bilateral): </a:t>
            </a:r>
            <a:r>
              <a:rPr b="0">
                <a:solidFill>
                  <a:srgbClr val="5A5A5A"/>
                </a:solidFill>
              </a:rPr>
              <a:t>Giảm -3.75 pp do làm mịn quá mức đường ranh giới rải rác của khối u ác tính.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Bài học khoa học đắt giá: </a:t>
            </a:r>
            <a:r>
              <a:rPr b="0">
                <a:solidFill>
                  <a:srgbClr val="5A5A5A"/>
                </a:solidFill>
              </a:rPr>
              <a:t>Can thiệp thị giác trông có vẻ 'sạch' đối với mắt người nhưng lại phá vỡ đặc trưng toán học mà ResNet học được!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4: PIPELINE VÀ PHƯƠNG ÁN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Cường Hóa Đối Xứng Nhóm D4 (T02B)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Tám</a:t>
            </a:r>
            <a:r>
              <a:rPr dirty="0"/>
              <a:t>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Xứng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Ảnh</a:t>
            </a:r>
            <a:endParaRPr dirty="0"/>
          </a:p>
        </p:txBody>
      </p:sp>
      <p:pic>
        <p:nvPicPr>
          <p:cNvPr id="8" name="Picture 7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4892040" cy="24753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&amp;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D4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Bản chất nhóm D4: </a:t>
            </a:r>
            <a:r>
              <a:rPr b="0">
                <a:solidFill>
                  <a:srgbClr val="5A5A5A"/>
                </a:solidFill>
              </a:rPr>
              <a:t>Gồm 8 phép biến đổi hình học của hình vuông: 4 góc quay (0°, 90°, 180°, 270°) kết hợp lật ngang/dọc.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Bảo toàn 100% pixel: </a:t>
            </a:r>
            <a:r>
              <a:rPr b="0">
                <a:solidFill>
                  <a:srgbClr val="5A5A5A"/>
                </a:solidFill>
              </a:rPr>
              <a:t>Trên lưới ảnh vuông đã resize, phép quay 90° và lật chỉ hoán vị chỉ số pixel, hoàn toàn không cần nội suy làm mờ ảnh.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Ví dụ đời sống dễ hiểu: </a:t>
            </a:r>
            <a:r>
              <a:rPr b="0">
                <a:solidFill>
                  <a:srgbClr val="5A5A5A"/>
                </a:solidFill>
              </a:rPr>
              <a:t>Một nốt ruồi trên da dù nhìn từ hướng nào thì bản chất bệnh lý vẫn không đổi; hướng cầm máy soi da không đổi chẩn đoán y khoa!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Chỉ áp dụng ở Train: </a:t>
            </a:r>
            <a:r>
              <a:rPr b="0">
                <a:solidFill>
                  <a:srgbClr val="5A5A5A"/>
                </a:solidFill>
              </a:rPr>
              <a:t>Validation và Test giữ nguyên góc chụp ban đầu để đánh giá khách quan năng lực tổng quát hóa.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Hiệu quả thực nghiệm: </a:t>
            </a:r>
            <a:r>
              <a:rPr b="0">
                <a:solidFill>
                  <a:srgbClr val="5A5A5A"/>
                </a:solidFill>
              </a:rPr>
              <a:t>Macro-F1 tăng từ 55.21% (B00) lên 60.30% (T02B) ở Seed 42, mức tăng cực lớn +5.09 điểm %!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4: PIPELINE VÀ PHƯƠNG ÁN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Chiến Lược Huấn Luyện &amp; Kiến Trúc Đối Chiếu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Hàm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Mát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(L01 - Weighted 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Cơ chế: </a:t>
            </a:r>
            <a:r>
              <a:rPr b="0">
                <a:solidFill>
                  <a:srgbClr val="5A5A5A"/>
                </a:solidFill>
              </a:rPr>
              <a:t>Trọng số tỷ lệ nghịch căn bậc 2 số mẫu lớp (nhẹ hơn tỷ lệ nghịch trực tiếp).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Kết quả: </a:t>
            </a:r>
            <a:r>
              <a:rPr b="0">
                <a:solidFill>
                  <a:srgbClr val="5A5A5A"/>
                </a:solidFill>
              </a:rPr>
              <a:t>Macro-F1 đạt 60.33% (+0.02 pp), Balanced Acc tăng (59.95%) nhưng Accuracy giảm xuống 74.95% do sinh thêm dương sai ở lớp hiếm.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Lấy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(S01 - Balanced Sampler)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Cơ chế: </a:t>
            </a:r>
            <a:r>
              <a:rPr b="0">
                <a:solidFill>
                  <a:srgbClr val="5A5A5A"/>
                </a:solidFill>
              </a:rPr>
              <a:t>Lấy mẫu có hoàn lại, tăng tần suất xuất hiện của các lớp hiếm trong mỗi batch.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Kết quả: </a:t>
            </a:r>
            <a:r>
              <a:rPr b="0">
                <a:solidFill>
                  <a:srgbClr val="5A5A5A"/>
                </a:solidFill>
              </a:rPr>
              <a:t>Macro-F1 giảm xuống 58.48% (-1.82 pp). Lặp lại quá nhiều ảnh của lớp ít mẫu gây hiện tượng quá khớp (overfitting) nặng.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Learning Rate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(F01)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Cơ chế: </a:t>
            </a:r>
            <a:r>
              <a:rPr b="0">
                <a:solidFill>
                  <a:srgbClr val="5A5A5A"/>
                </a:solidFill>
              </a:rPr>
              <a:t>Học chậm ở Backbone (1e-5) để bảo vệ đặc trưng ImageNet, học nhanh ở FC Head (1e-4).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Kết quả: </a:t>
            </a:r>
            <a:r>
              <a:rPr b="0">
                <a:solidFill>
                  <a:srgbClr val="5A5A5A"/>
                </a:solidFill>
              </a:rPr>
              <a:t>Macro-F1 đạt 58.96% (-1.34 pp), tốc độ hội tụ chậm hơn tốc độ cần thiết trong ngân sách 16 epoch.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Chiếu</a:t>
            </a:r>
            <a:r>
              <a:rPr dirty="0"/>
              <a:t>: EfficientNet-B0 (M01)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Cơ chế: </a:t>
            </a:r>
            <a:r>
              <a:rPr b="0">
                <a:solidFill>
                  <a:srgbClr val="5A5A5A"/>
                </a:solidFill>
              </a:rPr>
              <a:t>Thay ResNet50 bằng EfficientNet-B0 trên cùng nền D4 và Cross-Entropy.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Kết quả: </a:t>
            </a:r>
            <a:r>
              <a:rPr b="0">
                <a:solidFill>
                  <a:srgbClr val="5A5A5A"/>
                </a:solidFill>
              </a:rPr>
              <a:t>Macro-F1 đạt 58.44% (-1.86 pp) so với ResNet50 (60.30%). ResNet50 vẫn là lựa chọn vững chắc nhất trong bài toán này.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5: THIẾT KẾ THỰC NGHIỆM VÀ TÁI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Quy Trình Huấn Luyện &amp; Tiêu Chí Dừng Sớm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Protocol </a:t>
            </a:r>
            <a:r>
              <a:rPr dirty="0" err="1"/>
              <a:t>Huấn</a:t>
            </a:r>
            <a:r>
              <a:rPr dirty="0"/>
              <a:t> </a:t>
            </a:r>
            <a:r>
              <a:rPr dirty="0" err="1"/>
              <a:t>Luyện</a:t>
            </a:r>
            <a:r>
              <a:rPr dirty="0"/>
              <a:t> T02B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Khóa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Backbone: </a:t>
            </a:r>
            <a:r>
              <a:rPr b="0">
                <a:solidFill>
                  <a:srgbClr val="5A5A5A"/>
                </a:solidFill>
              </a:rPr>
              <a:t>ResNet50 pretrained ImageNet V1, thay lớp phân loại cuối FC 2048 -&gt; 8 logits.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Hàm mất mát: </a:t>
            </a:r>
            <a:r>
              <a:rPr b="0">
                <a:solidFill>
                  <a:srgbClr val="5A5A5A"/>
                </a:solidFill>
              </a:rPr>
              <a:t>Cross-Entropy tiêu chuẩn không trọng số.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Tối ưu hóa (Optimizer): </a:t>
            </a:r>
            <a:r>
              <a:rPr b="0">
                <a:solidFill>
                  <a:srgbClr val="5A5A5A"/>
                </a:solidFill>
              </a:rPr>
              <a:t>AdamW với learning rate = 1e-4, weight decay = 1e-4.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Bộ điều chỉnh LR: </a:t>
            </a:r>
            <a:r>
              <a:rPr b="0">
                <a:solidFill>
                  <a:srgbClr val="5A5A5A"/>
                </a:solidFill>
              </a:rPr>
              <a:t>CosineAnnealingLR (T_max = 16 epoch, cập nhật cuối mỗi epoch).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Môi trường phần cứng: </a:t>
            </a:r>
            <a:r>
              <a:rPr b="0">
                <a:solidFill>
                  <a:srgbClr val="5A5A5A"/>
                </a:solidFill>
              </a:rPr>
              <a:t>NVIDIA Tesla T4 GPU (FP32), Batch size = 32, Workers =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Chí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Checkpoint &amp; </a:t>
            </a:r>
            <a:r>
              <a:rPr dirty="0" err="1"/>
              <a:t>Dừng</a:t>
            </a:r>
            <a:r>
              <a:rPr dirty="0"/>
              <a:t> </a:t>
            </a:r>
            <a:r>
              <a:rPr dirty="0" err="1"/>
              <a:t>Sớm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Quy tắc dừng sớm: </a:t>
            </a:r>
            <a:r>
              <a:rPr b="0">
                <a:solidFill>
                  <a:srgbClr val="5A5A5A"/>
                </a:solidFill>
              </a:rPr>
              <a:t>Ngân sách tối đa 16 epoch, dừng nếu 4 epoch liên tiếp không cải thiện Macro-F1 (patience = 4).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Thời điểm chốt Checkpoint: </a:t>
            </a:r>
            <a:r>
              <a:rPr b="0">
                <a:solidFill>
                  <a:srgbClr val="5A5A5A"/>
                </a:solidFill>
              </a:rPr>
              <a:t>Checkpoint tốt nhất được lưu tại Epoch 14/16 (Macro-F1 đạt 60.3002%).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Vì sao KHÔNG chọn theo Loss?: </a:t>
            </a:r>
            <a:r>
              <a:rPr b="0">
                <a:solidFill>
                  <a:srgbClr val="5A5A5A"/>
                </a:solidFill>
              </a:rPr>
              <a:t>Validation Loss đạt đáy tại Epoch 4 (Loss = 0.73). Tuy nhiên, tại epoch 4 mô hình chỉ giỏi đoán lớp đông NV; đến epoch 14 Macro-F1 mới đạt đỉnh!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Bài học phương pháp: </a:t>
            </a:r>
            <a:r>
              <a:rPr b="0">
                <a:solidFill>
                  <a:srgbClr val="5A5A5A"/>
                </a:solidFill>
              </a:rPr>
              <a:t>Trong bài toán mất cân bằng, chỉ số Macro-F1 phản ánh đúng độ công bằng giữa các lớp hơn là hàm Loss tổng hợp.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5: THIẾT KẾ THỰC NGHIỆM VÀ TÁI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Kiểm Định Tính Bền Vững Đa Seed &amp; Bootstrap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32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So </a:t>
            </a:r>
            <a:r>
              <a:rPr dirty="0" err="1"/>
              <a:t>Sánh</a:t>
            </a:r>
            <a:r>
              <a:rPr dirty="0"/>
              <a:t> </a:t>
            </a:r>
            <a:r>
              <a:rPr dirty="0" err="1"/>
              <a:t>Ghép</a:t>
            </a:r>
            <a:r>
              <a:rPr dirty="0"/>
              <a:t> </a:t>
            </a:r>
            <a:r>
              <a:rPr dirty="0" err="1"/>
              <a:t>Cặp</a:t>
            </a:r>
            <a:r>
              <a:rPr dirty="0"/>
              <a:t> B00 vs T02B Qua 3 Seed (</a:t>
            </a:r>
            <a:r>
              <a:rPr dirty="0" err="1"/>
              <a:t>Bảng</a:t>
            </a:r>
            <a:r>
              <a:rPr dirty="0"/>
              <a:t> 6.5)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286000"/>
          <a:ext cx="10332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Lượt Chạy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B00 (Không Aug)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T02B (Có D4)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Chênh Lệch (Δ pp)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Khoảng Tin Cậy CI 95%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Seed 42 (Thăm dò)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55.2115%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60.3002%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B1E1E"/>
                          </a:solidFill>
                        </a:defRPr>
                      </a:pPr>
                      <a:r>
                        <a:t>+5.0887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[+0.1739; +9.3884]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Seed 43 (Xác nhận)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57.3231%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57.7945%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B1E1E"/>
                          </a:solidFill>
                        </a:defRPr>
                      </a:pPr>
                      <a:r>
                        <a:t>+0.4714 pp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[-3.7990; +5.1088]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22222"/>
                          </a:solidFill>
                        </a:defRPr>
                      </a:pPr>
                      <a:r>
                        <a:t>Seed 44 (Xác nhận)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56.0809%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59.9743%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8B1E1E"/>
                          </a:solidFill>
                        </a:defRPr>
                      </a:pPr>
                      <a:r>
                        <a:t>+3.8934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[-0.8558; +8.6463]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51960"/>
            <a:ext cx="10698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332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Khoa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&amp; </a:t>
            </a:r>
            <a:r>
              <a:rPr dirty="0" err="1"/>
              <a:t>Khiêm</a:t>
            </a:r>
            <a:r>
              <a:rPr dirty="0"/>
              <a:t> </a:t>
            </a:r>
            <a:r>
              <a:rPr dirty="0" err="1"/>
              <a:t>Tốn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D4 luôn có lợi thế: </a:t>
            </a:r>
            <a:r>
              <a:rPr b="0">
                <a:solidFill>
                  <a:srgbClr val="5A5A5A"/>
                </a:solidFill>
              </a:rPr>
              <a:t>Ở cả 3 seed quan sát, T02B đều đạt Macro-F1 cao hơn B00; trung bình 2 seed xác nhận tăng +2.1824 pp.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Biên độ dao động theo seed: </a:t>
            </a:r>
            <a:r>
              <a:rPr b="0">
                <a:solidFill>
                  <a:srgbClr val="5A5A5A"/>
                </a:solidFill>
              </a:rPr>
              <a:t>Mức tăng ở seed 43 khá nhỏ (+0.47 pp), trong khi seed 44 tăng rất mạnh (+3.89 pp), cho thấy sự khởi tạo ngẫu nhiên có tác động nhất định.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Khoảng tin cậy chứa 0: </a:t>
            </a:r>
            <a:r>
              <a:rPr b="0">
                <a:solidFill>
                  <a:srgbClr val="5A5A5A"/>
                </a:solidFill>
              </a:rPr>
              <a:t>CI95 của seed 43 và 44 đều chứa 0 -&gt; Báo cáo khoa học ghi nhận lợi ích thực tế nhưng không cường điệu hóa thành kết luận bất biến!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6: KẾT QUẢ, THẢO LUẬN VÀ PHÂN TÍCH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Đánh Giá Trên Tập Kiểm Thử Nội Bộ (5.065 Ảnh)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Đường</a:t>
            </a:r>
            <a:r>
              <a:rPr dirty="0"/>
              <a:t> Cong </a:t>
            </a:r>
            <a:r>
              <a:rPr dirty="0" err="1"/>
              <a:t>Học</a:t>
            </a:r>
            <a:r>
              <a:rPr dirty="0"/>
              <a:t> T02B Qua </a:t>
            </a:r>
            <a:r>
              <a:rPr dirty="0" err="1"/>
              <a:t>Các</a:t>
            </a:r>
            <a:r>
              <a:rPr dirty="0"/>
              <a:t> Epoch (</a:t>
            </a:r>
            <a:r>
              <a:rPr dirty="0" err="1"/>
              <a:t>Hình</a:t>
            </a:r>
            <a:r>
              <a:rPr dirty="0"/>
              <a:t> 6.3)</a:t>
            </a:r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4892040" cy="1438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66344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• Train Loss giảm đều từ 0.87 về 0.05 (mô hình khớp tốt dữ liệu train).</a:t>
            </a:r>
          </a:p>
          <a:p>
            <a:pPr>
              <a:defRPr sz="1100">
                <a:solidFill>
                  <a:srgbClr val="5A5A5A"/>
                </a:solidFill>
              </a:defRPr>
            </a:pPr>
            <a:r>
              <a:t>• Validation Macro-F1 đạt đỉnh 60.30% tại Epoch 14 (vạch nét đứt) và được chọn làm checkpoint chính thức.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Test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Bộ</a:t>
            </a:r>
            <a:endParaRPr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377440"/>
          <a:ext cx="4846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Chỉ Số Đánh Giá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%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Test Nội Bộ %</a:t>
                      </a:r>
                    </a:p>
                  </a:txBody>
                  <a:tcPr>
                    <a:solidFill>
                      <a:srgbClr val="8B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22222"/>
                          </a:solidFill>
                        </a:defRPr>
                      </a:pPr>
                      <a:r>
                        <a:t>Accuracy (Chính xác)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77.00%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76.43%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22222"/>
                          </a:solidFill>
                        </a:defRPr>
                      </a:pPr>
                      <a:r>
                        <a:t>Macro-F1 (Tiêu chí chính)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2222"/>
                          </a:solidFill>
                        </a:defRPr>
                      </a:pPr>
                      <a:r>
                        <a:t>60.30%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22222"/>
                          </a:solidFill>
                        </a:defRPr>
                      </a:pPr>
                      <a:r>
                        <a:t>60.54%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22222"/>
                          </a:solidFill>
                        </a:defRPr>
                      </a:pPr>
                      <a:r>
                        <a:t>Balanced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58.61%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58.85%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22222"/>
                          </a:solidFill>
                        </a:defRPr>
                      </a:pPr>
                      <a:r>
                        <a:t>Macro-Precision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64.33%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63.18%</a:t>
                      </a:r>
                    </a:p>
                  </a:txBody>
                  <a:tcPr>
                    <a:solidFill>
                      <a:srgbClr val="F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22222"/>
                          </a:solidFill>
                        </a:defRPr>
                      </a:pPr>
                      <a:r>
                        <a:t>Weighted-F1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76.49%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22222"/>
                          </a:solidFill>
                        </a:defRPr>
                      </a:pPr>
                      <a:r>
                        <a:t>75.78%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4754880"/>
            <a:ext cx="484632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B1E1E"/>
                </a:solidFill>
              </a:defRPr>
            </a:pPr>
            <a:r>
              <a:rPr dirty="0"/>
              <a:t> Minh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quát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vững</a:t>
            </a:r>
            <a:r>
              <a:rPr dirty="0"/>
              <a:t> </a:t>
            </a:r>
            <a:r>
              <a:rPr dirty="0" err="1"/>
              <a:t>chắc</a:t>
            </a:r>
            <a:r>
              <a:rPr dirty="0"/>
              <a:t>: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dirty="0"/>
              <a:t>• </a:t>
            </a:r>
            <a:r>
              <a:rPr dirty="0" err="1"/>
              <a:t>Có</a:t>
            </a:r>
            <a:r>
              <a:rPr dirty="0"/>
              <a:t> 3.871/5.065 </a:t>
            </a:r>
            <a:r>
              <a:rPr dirty="0" err="1"/>
              <a:t>ảnh</a:t>
            </a:r>
            <a:r>
              <a:rPr dirty="0"/>
              <a:t> test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Validation (60.30%) </a:t>
            </a:r>
            <a:r>
              <a:rPr dirty="0" err="1"/>
              <a:t>và</a:t>
            </a:r>
            <a:r>
              <a:rPr dirty="0"/>
              <a:t> Test (60.54%) </a:t>
            </a:r>
            <a:r>
              <a:rPr dirty="0" err="1"/>
              <a:t>dưới</a:t>
            </a:r>
            <a:r>
              <a:rPr dirty="0"/>
              <a:t> 0.25 pp, </a:t>
            </a:r>
            <a:r>
              <a:rPr dirty="0" err="1"/>
              <a:t>khẳng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rò</a:t>
            </a:r>
            <a:r>
              <a:rPr dirty="0"/>
              <a:t> </a:t>
            </a:r>
            <a:r>
              <a:rPr dirty="0" err="1"/>
              <a:t>rỉ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vẹt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6: KẾT QUẢ, THẢO LUẬN VÀ PHÂN TÍCH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Ma Trận Nhầm Lẫn &amp; Đánh Giá Từng Lớp Bệnh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Ma </a:t>
            </a:r>
            <a:r>
              <a:rPr dirty="0" err="1"/>
              <a:t>Trận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Lẫn</a:t>
            </a:r>
            <a:r>
              <a:rPr dirty="0"/>
              <a:t> </a:t>
            </a:r>
            <a:r>
              <a:rPr dirty="0" err="1"/>
              <a:t>Tập</a:t>
            </a:r>
            <a:r>
              <a:rPr dirty="0"/>
              <a:t> Test 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77" y="2377439"/>
            <a:ext cx="4984645" cy="22353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Chẩn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Bệnh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Lớp đa số (NV): </a:t>
            </a:r>
            <a:r>
              <a:rPr b="0">
                <a:solidFill>
                  <a:srgbClr val="5A5A5A"/>
                </a:solidFill>
              </a:rPr>
              <a:t>Recall đạt 90.56%, F1 đạt 87.38% (2.361/2.607 ảnh đúng). Mô hình nhận diện nốt ruồi rất chuẩn.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U hắc tố ác tính (MEL): </a:t>
            </a:r>
            <a:r>
              <a:rPr b="0">
                <a:solidFill>
                  <a:srgbClr val="5A5A5A"/>
                </a:solidFill>
              </a:rPr>
              <a:t>Recall đạt 58.24% (562/965 ảnh). Có 281 ca MEL bị nhầm thành nốt ruồi lành tính (NV) -&gt; Rủi ro lâm sàng lớn nhất!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Ung thư đáy &amp; vảy (BCC, SCC): </a:t>
            </a:r>
            <a:r>
              <a:rPr b="0">
                <a:solidFill>
                  <a:srgbClr val="5A5A5A"/>
                </a:solidFill>
              </a:rPr>
              <a:t>BCC nhận diện tốt (Recall 80.03%, F1 75.16%). Ngược lại, SCC chỉ đạt Recall 37.93% do thiếu mẫu.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Dày sừng quang hóa (AK): </a:t>
            </a:r>
            <a:r>
              <a:rPr b="0">
                <a:solidFill>
                  <a:srgbClr val="5A5A5A"/>
                </a:solidFill>
              </a:rPr>
              <a:t>Recall chỉ đạt 31.40% (54/172 ảnh); 40 ca bị nhầm sang ung thư đáy (BCC) và 31 ca nhầm sang dày sừng (BKL).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Kết luận lâm sàng: </a:t>
            </a:r>
            <a:r>
              <a:rPr b="0">
                <a:solidFill>
                  <a:srgbClr val="5A5A5A"/>
                </a:solidFill>
              </a:rPr>
              <a:t>AI cần có cơ chế cảnh báo ranh giới ở các ca nghi ngờ ác tính để bác sĩ can thiệp trực tiếp.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6: KẾT QUẢ, THẢO LUẬN VÀ PHÂN TÍCH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Phân Tích Thực Tế 52 Ca Chẩn Đoán Sai (E02)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A5A5A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điệp</a:t>
            </a:r>
            <a:r>
              <a:rPr dirty="0"/>
              <a:t>: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yếu</a:t>
            </a:r>
            <a:r>
              <a:rPr dirty="0"/>
              <a:t> </a:t>
            </a:r>
            <a:r>
              <a:rPr dirty="0" err="1"/>
              <a:t>tố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giác</a:t>
            </a:r>
            <a:r>
              <a:rPr dirty="0"/>
              <a:t> </a:t>
            </a:r>
            <a:r>
              <a:rPr dirty="0" err="1"/>
              <a:t>gây</a:t>
            </a:r>
            <a:r>
              <a:rPr dirty="0"/>
              <a:t> </a:t>
            </a:r>
            <a:r>
              <a:rPr dirty="0" err="1"/>
              <a:t>nhiễu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tương</a:t>
            </a:r>
            <a:r>
              <a:rPr dirty="0"/>
              <a:t> </a:t>
            </a:r>
            <a:r>
              <a:rPr dirty="0" err="1"/>
              <a:t>lai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Lẫn</a:t>
            </a:r>
            <a:r>
              <a:rPr dirty="0"/>
              <a:t> </a:t>
            </a:r>
            <a:r>
              <a:rPr dirty="0" err="1"/>
              <a:t>Điển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(</a:t>
            </a:r>
            <a:r>
              <a:rPr dirty="0" err="1"/>
              <a:t>Hình</a:t>
            </a:r>
            <a:r>
              <a:rPr dirty="0"/>
              <a:t> 6.5)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4892040" cy="26724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Kê</a:t>
            </a:r>
            <a:r>
              <a:rPr dirty="0"/>
              <a:t> 4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Lẫn</a:t>
            </a:r>
            <a:r>
              <a:rPr dirty="0"/>
              <a:t> </a:t>
            </a:r>
            <a:r>
              <a:rPr dirty="0" err="1"/>
              <a:t>Chính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4 Hướng nhầm phổ biến nhất: </a:t>
            </a:r>
            <a:r>
              <a:rPr b="0">
                <a:solidFill>
                  <a:srgbClr val="5A5A5A"/>
                </a:solidFill>
              </a:rPr>
              <a:t>• MEL -&gt; NV: 108 ảnh (nhầm ác tính sang lành tính)
• NV -&gt; MEL: 61 ảnh (cảnh báo quá mức)
• BKL -&gt; NV: 46 ảnh
• MEL -&gt; BKL: 32 ảnh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Lông che phủ (25/52 ảnh): </a:t>
            </a:r>
            <a:r>
              <a:rPr b="0">
                <a:solidFill>
                  <a:srgbClr val="5A5A5A"/>
                </a:solidFill>
              </a:rPr>
              <a:t>Mật độ lông dày đặc che lấp các đốm sắc tố ở tâm tổn thương.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Viền đen &amp; ống kính (21/52 ảnh): </a:t>
            </a:r>
            <a:r>
              <a:rPr b="0">
                <a:solidFill>
                  <a:srgbClr val="5A5A5A"/>
                </a:solidFill>
              </a:rPr>
              <a:t>Khung viền tròn của kính soi da tạo độ tương phản giả đánh lừa mạng nơ-ron.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Vết mực / Thước đo (15/52 ảnh): </a:t>
            </a:r>
            <a:r>
              <a:rPr b="0">
                <a:solidFill>
                  <a:srgbClr val="5A5A5A"/>
                </a:solidFill>
              </a:rPr>
              <a:t>Thước đo milimet do bác sĩ đặt cạnh tổn thương vô tình trở thành đặc trưng giả.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Bài học phương pháp: </a:t>
            </a:r>
            <a:r>
              <a:rPr b="0">
                <a:solidFill>
                  <a:srgbClr val="5A5A5A"/>
                </a:solidFill>
              </a:rPr>
              <a:t>Dù thấy các yếu tố này, khảo sát P01-P10 đã chứng minh không thể vội vàng cắt gọt hay xóa tự động nếu chưa có mô hình phát hiện chuyên biệt.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6: KẾT QUẢ, THẢO LUẬN VÀ PHÂN TÍCH LỖI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Demo Suy Luận Thực Tế &amp; Cảnh Báo Lâm Sàng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Demo </a:t>
            </a:r>
            <a:r>
              <a:rPr dirty="0" err="1"/>
              <a:t>Đúng</a:t>
            </a:r>
            <a:r>
              <a:rPr dirty="0"/>
              <a:t>: ISIC_0000000</a:t>
            </a:r>
          </a:p>
        </p:txBody>
      </p:sp>
      <p:pic>
        <p:nvPicPr>
          <p:cNvPr id="8" name="Picture 7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4892040" cy="1956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846320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B5E55"/>
                </a:solidFill>
              </a:defRPr>
            </a:pPr>
            <a:r>
              <a:t>• Nhãn thật: NV  |  Dự đoán: NV  |  Softmax: 99.997%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Tổn thương nốt ruồi điển hình, ranh giới rõ ràng, mô hình nhận diện chính xác tuyệt đối.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Demo Sai &amp;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: ISIC_0000195</a:t>
            </a:r>
          </a:p>
        </p:txBody>
      </p:sp>
      <p:pic>
        <p:nvPicPr>
          <p:cNvPr id="12" name="Picture 11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31720"/>
            <a:ext cx="4846320" cy="19385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8463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8B1E1E"/>
                </a:solidFill>
              </a:defRPr>
            </a:pPr>
            <a:r>
              <a:t>• Nhãn thật: NV  |  Dự đoán: BKL  |  Softmax: 95.061%!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Cực kỳ nguy hiểm: Dù dự đoán sai, Softmax vẫn tự tin trên 95%! Minh chứng rằng Softmax chưa được hiệu chuẩn (calibrated) thành xác suất y khoa.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7: KẾT LUẬN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Kết Luận &amp; Đóng Góp Cốt Lõi Của Đề Tài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&amp; </a:t>
            </a:r>
            <a:r>
              <a:rPr dirty="0" err="1"/>
              <a:t>Làm</a:t>
            </a:r>
            <a:r>
              <a:rPr dirty="0"/>
              <a:t> </a:t>
            </a:r>
            <a:r>
              <a:rPr dirty="0" err="1"/>
              <a:t>Sạch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Thực hiện: </a:t>
            </a:r>
            <a:r>
              <a:rPr b="0">
                <a:solidFill>
                  <a:srgbClr val="5A5A5A"/>
                </a:solidFill>
              </a:rPr>
              <a:t>Phát hiện 48 ảnh trùng, loại bỏ 4 ảnh xung đột nhãn; chia tập Group Split 70/10/20.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Giá trị: </a:t>
            </a:r>
            <a:r>
              <a:rPr b="0">
                <a:solidFill>
                  <a:srgbClr val="5A5A5A"/>
                </a:solidFill>
              </a:rPr>
              <a:t>Khóa manifest 25.327 ảnh, bảo đảm không rò rỉ dữ liệu (crossing = 0), tạo nền tảng đánh giá trung thực.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Cốt</a:t>
            </a:r>
            <a:r>
              <a:rPr dirty="0"/>
              <a:t> </a:t>
            </a:r>
            <a:r>
              <a:rPr dirty="0" err="1"/>
              <a:t>Lõi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Xứng</a:t>
            </a:r>
            <a:r>
              <a:rPr dirty="0"/>
              <a:t> D4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Thực hiện: </a:t>
            </a:r>
            <a:r>
              <a:rPr b="0">
                <a:solidFill>
                  <a:srgbClr val="5A5A5A"/>
                </a:solidFill>
              </a:rPr>
              <a:t>8 phép quay và lật ngẫu nhiên trên tập train mà không nội suy làm mờ ảnh.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Giá trị: </a:t>
            </a:r>
            <a:r>
              <a:rPr b="0">
                <a:solidFill>
                  <a:srgbClr val="5A5A5A"/>
                </a:solidFill>
              </a:rPr>
              <a:t>Tăng +5.09 pp Macro-F1 ở seed 42 và +2.18 pp trung bình qua các seed xác nhận, chứng minh tính bất biến quay.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Biện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Tiền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Thực hiện: </a:t>
            </a:r>
            <a:r>
              <a:rPr b="0">
                <a:solidFill>
                  <a:srgbClr val="5A5A5A"/>
                </a:solidFill>
              </a:rPr>
              <a:t>Thử nghiệm có kiểm soát 10 phương án tiền xử lý (P01–P10) độc lập trên ResNet50.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Giá trị: </a:t>
            </a:r>
            <a:r>
              <a:rPr b="0">
                <a:solidFill>
                  <a:srgbClr val="5A5A5A"/>
                </a:solidFill>
              </a:rPr>
              <a:t>Chứng minh bằng thực nghiệm: không nên vội vã can thiệp pixel (tẩy lông, lọc sáng, padding) khi chưa có đối chứng.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16636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6624" y="420624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Sản</a:t>
            </a:r>
            <a:r>
              <a:rPr dirty="0"/>
              <a:t> </a:t>
            </a:r>
            <a:r>
              <a:rPr dirty="0" err="1"/>
              <a:t>Phẩm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Tái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Thực hiện: </a:t>
            </a:r>
            <a:r>
              <a:rPr b="0">
                <a:solidFill>
                  <a:srgbClr val="5A5A5A"/>
                </a:solidFill>
              </a:rPr>
              <a:t>Checkpoint T02B đạt Test Acc 76.43%, Macro-F1 60.54% trên tập test nội bộ 5.065 ảnh.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Giá trị: </a:t>
            </a:r>
            <a:r>
              <a:rPr b="0">
                <a:solidFill>
                  <a:srgbClr val="5A5A5A"/>
                </a:solidFill>
              </a:rPr>
              <a:t>Toàn bộ mã nguồn, cấu hình, manifest và kết quả được lưu trữ mở và kết nối qua bảng experiment_index.csv.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8B1E1E"/>
                </a:solidFill>
              </a:defRPr>
            </a:pPr>
            <a:r>
              <a:t>PHẦN 7: KẾT LUẬN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1E1E"/>
                </a:solidFill>
                <a:latin typeface="Segoe UI"/>
              </a:defRPr>
            </a:pPr>
            <a:r>
              <a:t>Hạn Chế Nghiên Cứu &amp; Hướng Phát Triển Tương Lai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00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Nghiên</a:t>
            </a:r>
            <a:r>
              <a:rPr dirty="0"/>
              <a:t> </a:t>
            </a:r>
            <a:r>
              <a:rPr dirty="0" err="1"/>
              <a:t>Cứu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Tại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Dữ liệu thiếu patient_id: </a:t>
            </a:r>
            <a:r>
              <a:rPr b="0">
                <a:solidFill>
                  <a:srgbClr val="5A5A5A"/>
                </a:solidFill>
              </a:rPr>
              <a:t>2.084 ảnh thiếu lesion_id và chưa có patient_id để cô lập hoàn toàn mức người bệnh.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Ngân sách môn học: </a:t>
            </a:r>
            <a:r>
              <a:rPr b="0">
                <a:solidFill>
                  <a:srgbClr val="5A5A5A"/>
                </a:solidFill>
              </a:rPr>
              <a:t>Giới hạn ở 16 epoch và chủ yếu khảo sát trên 1-2 seed do hạn chế về thời gian GPU.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Chưa kiểm thử ngoài miền: </a:t>
            </a:r>
            <a:r>
              <a:rPr b="0">
                <a:solidFill>
                  <a:srgbClr val="5A5A5A"/>
                </a:solidFill>
              </a:rPr>
              <a:t>Tập test vẫn cùng nguồn phân phối ISIC 2019; chưa đánh giá trên ảnh chụp từ điện thoại hay bệnh viện Việt Nam.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Chưa có cơ chế từ chối: </a:t>
            </a:r>
            <a:r>
              <a:rPr b="0">
                <a:solidFill>
                  <a:srgbClr val="5A5A5A"/>
                </a:solidFill>
              </a:rPr>
              <a:t>Mô hình luôn ép đầu ra vào 1 trong 8 lớp, chưa nhận diện được ảnh không phải da liễu.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4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Nghiên</a:t>
            </a:r>
            <a:r>
              <a:rPr dirty="0"/>
              <a:t> </a:t>
            </a:r>
            <a:r>
              <a:rPr dirty="0" err="1"/>
              <a:t>Cứu</a:t>
            </a:r>
            <a:r>
              <a:rPr dirty="0"/>
              <a:t> Sau </a:t>
            </a:r>
            <a:r>
              <a:rPr dirty="0" err="1"/>
              <a:t>Môn</a:t>
            </a:r>
            <a:r>
              <a:rPr dirty="0"/>
              <a:t> </a:t>
            </a:r>
            <a:r>
              <a:rPr dirty="0" err="1"/>
              <a:t>Học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Đa phương thức (Multimodal): </a:t>
            </a:r>
            <a:r>
              <a:rPr b="0">
                <a:solidFill>
                  <a:srgbClr val="5A5A5A"/>
                </a:solidFill>
              </a:rPr>
              <a:t>Kết hợp ảnh soi da với thông tin metadata bệnh nhân (tuổi, giới tính, vị trí giải phẫu) để tăng độ nhạy lâm sàng.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Hiệu chuẩn xác suất (Calibration): </a:t>
            </a:r>
            <a:r>
              <a:rPr b="0">
                <a:solidFill>
                  <a:srgbClr val="5A5A5A"/>
                </a:solidFill>
              </a:rPr>
              <a:t>Áp dụng kỹ thuật Temperature Scaling để đưa điểm Softmax về đúng xác suất chẩn đoán tin cậy.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Kiến trúc Vision Transformer: </a:t>
            </a:r>
            <a:r>
              <a:rPr b="0">
                <a:solidFill>
                  <a:srgbClr val="5A5A5A"/>
                </a:solidFill>
              </a:rPr>
              <a:t>Khảo sát Swin Transformer kết hợp tiền huấn luyện tự giám sát (DINO / MAE) để khai phá tốt hơn cấu trúc tổn thương.</a:t>
            </a:r>
          </a:p>
          <a:p>
            <a:pPr>
              <a:spcAft>
                <a:spcPts val="1000"/>
              </a:spcAft>
              <a:defRPr sz="1250" b="1">
                <a:solidFill>
                  <a:srgbClr val="222222"/>
                </a:solidFill>
              </a:defRPr>
            </a:pPr>
            <a:r>
              <a:t>• Mô hình từ chối chẩn đoán: </a:t>
            </a:r>
            <a:r>
              <a:rPr b="0">
                <a:solidFill>
                  <a:srgbClr val="5A5A5A"/>
                </a:solidFill>
              </a:rPr>
              <a:t>Thiết lập ngưỡng tin cậy để tự động từ chối dự đoán khi gặp ảnh ngoài miền dữ liệu (Out-of-Distribution).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361557"/>
            <a:ext cx="85340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1E1E"/>
                </a:solidFill>
                <a:latin typeface="Segoe UI"/>
              </a:defRPr>
            </a:pPr>
            <a:r>
              <a:rPr dirty="0"/>
              <a:t>XIN CHÂN THÀNH CẢM ƠN!</a:t>
            </a:r>
            <a:endParaRPr lang="vi-VN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40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2222"/>
                </a:solidFill>
              </a:defRPr>
            </a:pP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: </a:t>
            </a:r>
            <a:r>
              <a:rPr dirty="0" err="1"/>
              <a:t>Nguyễn</a:t>
            </a:r>
            <a:r>
              <a:rPr dirty="0"/>
              <a:t> </a:t>
            </a:r>
            <a:r>
              <a:rPr dirty="0" err="1"/>
              <a:t>Tuấn</a:t>
            </a:r>
            <a:r>
              <a:rPr dirty="0"/>
              <a:t> </a:t>
            </a:r>
            <a:r>
              <a:rPr dirty="0" err="1"/>
              <a:t>Đức</a:t>
            </a:r>
            <a:r>
              <a:rPr dirty="0"/>
              <a:t>  —  MSSV: 2351067091 </a:t>
            </a:r>
          </a:p>
          <a:p>
            <a:pPr algn="ctr">
              <a:defRPr sz="1300" b="1">
                <a:solidFill>
                  <a:srgbClr val="1B5E55"/>
                </a:solidFill>
              </a:defRPr>
            </a:pPr>
            <a:r>
              <a:rPr dirty="0"/>
              <a:t> GitHub Repository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: github.com/NguyenTuanDuc1501/ISIC2019-Skin-Lesion-Classification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5A"/>
                </a:solidFill>
                <a:latin typeface="Segoe UI"/>
              </a:defRPr>
            </a:pPr>
            <a:r>
              <a:t>Đồ Án Khai Phá Dữ Liệu | Đề Tài: Phân Loại Tổn Thương Da ISIC 2019 (Nhóm 8 - Nguyễn Tuấn Đức) | Slide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4552</Words>
  <Application>Microsoft Office PowerPoint</Application>
  <PresentationFormat>Widescreen</PresentationFormat>
  <Paragraphs>251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Nguyen TuanDuc</cp:lastModifiedBy>
  <cp:revision>5</cp:revision>
  <dcterms:created xsi:type="dcterms:W3CDTF">2013-01-27T09:14:16Z</dcterms:created>
  <dcterms:modified xsi:type="dcterms:W3CDTF">2026-10-28T12:49:50Z</dcterms:modified>
  <cp:category/>
</cp:coreProperties>
</file>